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7fedf07-2a17-85ee-a284-184e68db2911}">
          <p14:sldIdLst>
            <p14:sldId id="256"/>
            <p14:sldId id="257"/>
          </p14:sldIdLst>
        </p14:section>
        <p14:section name="How it works" id="{3625f252-a066-9ff2-5b01-b6df30c01e3b}">
          <p14:sldIdLst>
            <p14:sldId id="258"/>
            <p14:sldId id="259"/>
          </p14:sldIdLst>
        </p14:section>
        <p14:section name="Scheduling" id="{999c2dbb-52f8-e663-ff30-0b53cf0fa02e}">
          <p14:sldIdLst>
            <p14:sldId id="260"/>
            <p14:sldId id="261"/>
          </p14:sldIdLst>
        </p14:section>
        <p14:section name="Results" id="{3ff6b3e4-846a-dbcb-e064-835d8212ffa3}">
          <p14:sldIdLst>
            <p14:sldId id="262"/>
            <p14:sldId id="263"/>
          </p14:sldIdLst>
        </p14:section>
        <p14:section name="Self-healing" id="{733c5cb4-dce5-12fd-891a-dd7188c842f8}">
          <p14:sldIdLst>
            <p14:sldId id="264"/>
            <p14:sldId id="265"/>
            <p14:sldId id="266"/>
          </p14:sldIdLst>
        </p14:section>
        <p14:section name="Verification" id="{a879c090-89f0-1b5d-138d-4144bd0f48af}">
          <p14:sldIdLst>
            <p14:sldId id="267"/>
            <p14:sldId id="268"/>
          </p14:sldIdLst>
        </p14:section>
        <p14:section name="Conclusion" id="{1d35575f-6916-94c1-c592-344ff1e42df4}">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waiting time</c:v>
                </c:pt>
              </c:strCache>
            </c:strRef>
          </c:tx>
          <c:spPr>
            <a:solidFill>
              <a:srgbClr val="3987E5"/>
            </a:solidFill>
            <a:effectLst/>
          </c:spPr>
          <c:invertIfNegative val="0"/>
          <c:dLbls>
            <c:numFmt formatCode="0" sourceLinked="0"/>
            <c:txPr>
              <a:bodyPr/>
              <a:lstStyle/>
              <a:p>
                <a:pPr>
                  <a:defRPr b="0" i="0" strike="noStrike" sz="1100" u="none">
                    <a:solidFill>
                      <a:srgbClr val="A3B1A9"/>
                    </a:solidFill>
                    <a:latin typeface="+mn-lt"/>
                  </a:defRPr>
                </a:pPr>
              </a:p>
            </c:txPr>
            <c:showLegendKey val="0"/>
            <c:showVal val="1"/>
            <c:showCatName val="0"/>
            <c:showSerName val="0"/>
            <c:showPercent val="0"/>
            <c:showBubbleSize val="0"/>
            <c:showLeaderLines val="0"/>
          </c:dLbls>
          <c:cat>
            <c:multiLvlStrRef>
              <c:f>Sheet1!$A$2:$A$7</c:f>
              <c:multiLvlStrCache>
                <c:ptCount val="6"/>
                <c:lvl>
                  <c:pt idx="0">
                    <c:v>FCFS</c:v>
                  </c:pt>
                  <c:pt idx="1">
                    <c:v>SJF</c:v>
                  </c:pt>
                  <c:pt idx="2">
                    <c:v>Priority</c:v>
                  </c:pt>
                  <c:pt idx="3">
                    <c:v>Round Robin</c:v>
                  </c:pt>
                  <c:pt idx="4">
                    <c:v>EEVDF</c:v>
                  </c:pt>
                  <c:pt idx="5">
                    <c:v>MLFQ</c:v>
                  </c:pt>
                </c:lvl>
              </c:multiLvlStrCache>
            </c:multiLvlStrRef>
          </c:cat>
          <c:val>
            <c:numRef>
              <c:f>Sheet1!$B$2:$B$7</c:f>
              <c:numCache>
                <c:formatCode>General</c:formatCode>
                <c:ptCount val="6"/>
                <c:pt idx="0">
                  <c:v>61.56</c:v>
                </c:pt>
                <c:pt idx="1">
                  <c:v>34.03</c:v>
                </c:pt>
                <c:pt idx="2">
                  <c:v>61.12</c:v>
                </c:pt>
                <c:pt idx="3">
                  <c:v>75.09</c:v>
                </c:pt>
                <c:pt idx="4">
                  <c:v>72.56</c:v>
                </c:pt>
                <c:pt idx="5">
                  <c:v>80.38</c:v>
                </c:pt>
              </c:numCache>
            </c:numRef>
          </c:val>
        </c:ser>
        <c:ser>
          <c:idx val="1"/>
          <c:order val="1"/>
          <c:tx>
            <c:strRef>
              <c:f>Sheet1!$C$1</c:f>
              <c:strCache>
                <c:ptCount val="1"/>
                <c:pt idx="0">
                  <c:v>Maximum waiting time</c:v>
                </c:pt>
              </c:strCache>
            </c:strRef>
          </c:tx>
          <c:spPr>
            <a:solidFill>
              <a:srgbClr val="C98500"/>
            </a:solidFill>
            <a:effectLst/>
          </c:spPr>
          <c:invertIfNegative val="0"/>
          <c:dLbls>
            <c:numFmt formatCode="0" sourceLinked="0"/>
            <c:txPr>
              <a:bodyPr/>
              <a:lstStyle/>
              <a:p>
                <a:pPr>
                  <a:defRPr b="0" i="0" strike="noStrike" sz="1100" u="none">
                    <a:solidFill>
                      <a:srgbClr val="A3B1A9"/>
                    </a:solidFill>
                    <a:latin typeface="+mn-lt"/>
                  </a:defRPr>
                </a:pPr>
              </a:p>
            </c:txPr>
            <c:showLegendKey val="0"/>
            <c:showVal val="1"/>
            <c:showCatName val="0"/>
            <c:showSerName val="0"/>
            <c:showPercent val="0"/>
            <c:showBubbleSize val="0"/>
            <c:showLeaderLines val="0"/>
          </c:dLbls>
          <c:cat>
            <c:multiLvlStrRef>
              <c:f>Sheet1!$A$2:$A$7</c:f>
              <c:multiLvlStrCache>
                <c:ptCount val="6"/>
                <c:lvl>
                  <c:pt idx="0">
                    <c:v>FCFS</c:v>
                  </c:pt>
                  <c:pt idx="1">
                    <c:v>SJF</c:v>
                  </c:pt>
                  <c:pt idx="2">
                    <c:v>Priority</c:v>
                  </c:pt>
                  <c:pt idx="3">
                    <c:v>Round Robin</c:v>
                  </c:pt>
                  <c:pt idx="4">
                    <c:v>EEVDF</c:v>
                  </c:pt>
                  <c:pt idx="5">
                    <c:v>MLFQ</c:v>
                  </c:pt>
                </c:lvl>
              </c:multiLvlStrCache>
            </c:multiLvlStrRef>
          </c:cat>
          <c:val>
            <c:numRef>
              <c:f>Sheet1!$C$2:$C$7</c:f>
              <c:numCache>
                <c:formatCode>General</c:formatCode>
                <c:ptCount val="6"/>
                <c:pt idx="0">
                  <c:v>133.5</c:v>
                </c:pt>
                <c:pt idx="1">
                  <c:v>163.1</c:v>
                </c:pt>
                <c:pt idx="2">
                  <c:v>214.83</c:v>
                </c:pt>
                <c:pt idx="3">
                  <c:v>161.05</c:v>
                </c:pt>
                <c:pt idx="4">
                  <c:v>204.51</c:v>
                </c:pt>
                <c:pt idx="5">
                  <c:v>175.1</c:v>
                </c:pt>
              </c:numCache>
            </c:numRef>
          </c:val>
        </c:ser>
        <c:dLbls>
          <c:numFmt formatCode="0" sourceLinked="0"/>
          <c:txPr>
            <a:bodyPr/>
            <a:lstStyle/>
            <a:p>
              <a:pPr>
                <a:defRPr b="0" i="0" strike="noStrike" sz="1100" u="none">
                  <a:solidFill>
                    <a:srgbClr val="A3B1A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F0F5F2"/>
                </a:solidFill>
                <a:latin typeface="+mn-lt"/>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9525" cap="flat">
              <a:solidFill>
                <a:srgbClr val="2A3630"/>
              </a:solidFill>
              <a:prstDash val="solid"/>
              <a:round/>
            </a:ln>
          </c:spPr>
        </c:majorGridlines>
        <c:title>
          <c:tx>
            <c:rich>
              <a:bodyPr/>
              <a:lstStyle/>
              <a:p>
                <a:pPr>
                  <a:defRPr sz="1200" b="0" i="0" u="none" strike="noStrike">
                    <a:solidFill>
                      <a:srgbClr val="A3B1A9"/>
                    </a:solidFill>
                    <a:latin typeface="+mn-lt"/>
                  </a:defRPr>
                </a:pPr>
                <a:r>
                  <a:rPr sz="1200" b="0" i="0" u="none" strike="noStrike">
                    <a:solidFill>
                      <a:srgbClr val="A3B1A9"/>
                    </a:solidFill>
                    <a:latin typeface="+mn-lt"/>
                  </a:rPr>
                  <a:t>Minutes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A3B1A9"/>
                </a:solidFill>
                <a:latin typeface="+mn-lt"/>
              </a:defRPr>
            </a:pPr>
            <a:endParaRPr lang="en-US"/>
          </a:p>
        </c:txPr>
        <c:crossAx val="2094734554"/>
        <c:crosses val="autoZero"/>
        <c:crossBetween val="between"/>
        <c:majorUnit val="50"/>
      </c:valAx>
      <c:spPr>
        <a:noFill/>
        <a:ln>
          <a:noFill/>
        </a:ln>
        <a:effectLst/>
      </c:spPr>
    </c:plotArea>
    <c:legend>
      <c:legendPos val="t"/>
      <c:overlay val="0"/>
      <c:txPr>
        <a:bodyPr/>
        <a:lstStyle/>
        <a:p>
          <a:pPr>
            <a:defRPr sz="1300">
              <a:solidFill>
                <a:srgbClr val="F0F5F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Procura applies the scheduling, fairness, resource-management and self-healing mechanisms of real operating systems to an ordinary to-do list. In the next twenty minutes: the problem, how the system works, what the measurements show, and what we found when we verified it against the running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First, priority is a label the user types, not something computed from urgency, waiting time and cost. Second, nobody measures whether attention is distributed fairly. Third, when a task stalls because a shared resource such as time or budget runs out, the tool shows a red flag rather than an explanation or a fix. Each of these has a precise answer in operating-systems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gets a PID and every attribute an operating system needs to schedule it: a priority, a burst time — the estimated minutes of work — a deadline, and memory and CPU requirements. It moves through the six-state lifecycle on the right. The server rejects any transition that isn't drawn here with HTTP 409, and the interface only offers the valid actions for each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React web app and an htop-style terminal dashboard talk to one FastAPI backend with sixteen REST endpoints. The backend coordinates the process manager, the scheduler, the resource manager and the error-and-recovery engine, which calls the retrieval-augmented assistant. Everything is persisted in one SQLite file. It is local-first: no account, and no network unless you configure a language-model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textbook policies and two that run real systems today. EEVDF has been Linux's default scheduler since kernel 6.6 in 2023, replacing CFS. MLFQ is the adaptive scheduler from Operating Systems: Three Easy Pieces. Priority uses a five-term score: user priority, deadline urgency, waiting-time aging so nothing starves, resource cost, and a Slurm-style fair-share penalty that decays with a 60-minute half-life.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scheduler screen running EEVDF on seven tasks. One lane per task; each tick is a four-minute slice. The two high-priority tasks at the top are dispatched far more often than the low-priority errand at the bottom — yet the errand is never starved, because its lag grows until it becomes eligible again. Same 187 slices as Round Robin, but weighted.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policies on the same 30-job Poisson workload, fully reproducible with seed 42. Every policy keeps the CPU busy, so makespan is identical at 228.67 minutes; they differ only in who waits. SJF has by far the lowest average wait, 34 minutes against 62 for FCFS. But look at the amber bars: SJF's worst-case wait is higher than FCFS's, because long jobs keep getting overtaken. That's the textbook starvation trade-off,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seven tasks, live demo. Without preemption, the average task waits over seven hours to start under FCFS and almost three under SJF. Round Robin and MLFQ start every task within about twelve minutes on average. The price is a higher average waiting time, because long tasks are interleaved to the end. EEVDF sits in between at seventeen minutes, deliberately favouring high-priority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loop Kubernetes controllers and AIOps platforms such as Datadog Watchdog run. Detection uses three statistical methods from the NIST handbook instead of a fixed 1.5-times threshold, plus direct checks for memory exhaustion and deadlock cycles. Diagnosis is retrieval-augmented and grounded in the logged facts. And the key safety rule: the language model only explains. A fixed, auditable script decides and acts — the same pattern as PagerDuty or AWS runbooks.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created memory pressure: the low-priority grocery errand hogs 1200 megabytes, leaving 248 free. One detection pass found four failures and handled each differently. The database project suspends the errand — it's strictly lower priority, and freeing it actually makes room. Two small tasks just retry, because that freed memory is now available. The video render is left pending: nothing lower-priority could free 1600 megabytes. Without these rules, an earlier version had tasks evicting each other in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Asked why the video render failed, the first version blamed memory fragmentation — plausible, and false: the log shows 1600 requested, 248 free. The model had never been shown the log. Once the recorded incident facts went into the prompt as ground truth, the same model gave the correct answer shown here. Same story with EEVDF: the knowledge base predated it, so the model invented an acronym; extending the knowledge base fixed it. Retrieval quality bounds answer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passed throughout — yet capturing screenshots of every screen and reading them closely exposed twelve defects. The most serious: SJF and Priority idled the CPU waiting for late arrivals, and the unit test had been written to expect that behaviour, so it protected the bug. That bug inverted our published result — SJF looked worse than FCFS when it is actually the best on average wait. All twelve are fixed and each now has a test. The paper documents every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scope. It's a simulation on an abstract minute scale, not a kernel. The workloads are small — a 30-job synthetic set, a 15-job trace, seven live tasks — so the results show the expected behaviour rather than a statistical comparison. The AI was evaluated qualitatively, and it can still overstate. And there's no authentication by design. Next steps follow directly: fairness over waiting time, real archive traces, a labelled question set for the assistant, and multi-user fair-share.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 scheduling results match theory exactly, which is itself validation. Recovery became trustworthy once it followed the same preemption rules Kubernetes uses. And the biggest lesson was methodological: passing unit tests weren't enough — we had to run the system and read its output. Happy to take questions or run any part of the demo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11094415" cy="109728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548640" y="3429000"/>
            <a:ext cx="9601200" cy="11887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rtlCol="0"/>
          <a:lstStyle>
            <a:lvl1pPr indent="0" marL="0">
              <a:buNone/>
              <a:defRPr lang="en-US" sz="1300" dirty="0">
                <a:solidFill>
                  <a:schemeClr val="accent1"/>
                </a:solidFill>
                <a:latin typeface="Consolas" pitchFamily="34" charset="0"/>
                <a:ea typeface="Consolas" pitchFamily="34" charset="-122"/>
                <a:cs typeface="Consolas" pitchFamily="34" charset="-120"/>
              </a:defRPr>
            </a:lvl1pPr>
          </a:lstStyle>
          <a:p>
            <a:pPr indent="0" marL="0">
              <a:buNone/>
            </a:pP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bg2"/>
                </a:solidFill>
                <a:latin typeface="Consolas" pitchFamily="34" charset="0"/>
                <a:ea typeface="Consolas" pitchFamily="34" charset="-122"/>
                <a:cs typeface="Consolas" pitchFamily="34" charset="-120"/>
              </a:rPr>
              <a:t>PROCURA</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1600200"/>
            <a:ext cx="5486400" cy="365760"/>
          </a:xfrm>
          <a:prstGeom prst="rect">
            <a:avLst/>
          </a:prstGeom>
          <a:noFill/>
          <a:ln/>
        </p:spPr>
        <p:txBody>
          <a:bodyPr wrap="square" lIns="0" tIns="0" rIns="0" bIns="0" rtlCol="0" anchor="t"/>
          <a:lstStyle/>
          <a:p>
            <a:pPr indent="0" marL="0">
              <a:buNone/>
            </a:pPr>
            <a:r>
              <a:rPr lang="en-US" sz="1800" dirty="0">
                <a:solidFill>
                  <a:schemeClr val="accent1"/>
                </a:solidFill>
                <a:latin typeface="Consolas" pitchFamily="34" charset="0"/>
                <a:ea typeface="Consolas" pitchFamily="34" charset="-122"/>
                <a:cs typeface="Consolas" pitchFamily="34" charset="-120"/>
              </a:rPr>
              <a:t>$ procura --review</a:t>
            </a:r>
            <a:endParaRPr lang="en-US" sz="1800" dirty="0"/>
          </a:p>
        </p:txBody>
      </p:sp>
      <p:sp>
        <p:nvSpPr>
          <p:cNvPr id="3" name="Text 0"/>
          <p:cNvSpPr/>
          <p:nvPr>
            <p:ph idx="100" type="title" hasCustomPrompt="1"/>
          </p:nvPr>
        </p:nvSpPr>
        <p:spPr>
          <a:xfrm>
            <a:off x="548640" y="2148840"/>
            <a:ext cx="11094415" cy="109728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PROCURA</a:t>
            </a:r>
            <a:endParaRPr lang="en-US" sz="6000" dirty="0"/>
          </a:p>
        </p:txBody>
      </p:sp>
      <p:sp>
        <p:nvSpPr>
          <p:cNvPr id="4" name="Text 0"/>
          <p:cNvSpPr/>
          <p:nvPr>
            <p:ph idx="101" type="body" hasCustomPrompt="1"/>
          </p:nvPr>
        </p:nvSpPr>
        <p:spPr>
          <a:xfrm>
            <a:off x="548640" y="3429000"/>
            <a:ext cx="9601200" cy="1188720"/>
          </a:xfrm>
          <a:prstGeom prst="rect">
            <a:avLst/>
          </a:prstGeom>
          <a:noFill/>
          <a:ln/>
        </p:spPr>
        <p:txBody>
          <a:bodyPr wrap="square" lIns="0" tIns="0" rIns="0" bIns="0" rtlCol="0" anchor="t"/>
          <a:lstStyle/>
          <a:p>
            <a:pPr algn="l" indent="0" marL="0">
              <a:buNone/>
            </a:pPr>
            <a:r>
              <a:rPr lang="en-US" sz="2200" dirty="0">
                <a:solidFill>
                  <a:schemeClr val="bg2"/>
                </a:solidFill>
              </a:rPr>
              <a:t>Scheduling personal tasks with operating-system policies, grounded AI diagnosis, and self-healing recovery</a:t>
            </a:r>
            <a:endParaRPr lang="en-US" sz="2200" dirty="0"/>
          </a:p>
        </p:txBody>
      </p:sp>
      <p:sp>
        <p:nvSpPr>
          <p:cNvPr id="5" name="text-2"/>
          <p:cNvSpPr txBox="1"/>
          <p:nvPr/>
        </p:nvSpPr>
        <p:spPr>
          <a:xfrm>
            <a:off x="548640" y="5852160"/>
            <a:ext cx="10058400" cy="365760"/>
          </a:xfrm>
          <a:prstGeom prst="rect">
            <a:avLst/>
          </a:prstGeom>
          <a:noFill/>
          <a:ln/>
        </p:spPr>
        <p:txBody>
          <a:bodyPr wrap="square" lIns="0" tIns="0" rIns="0" bIns="0" rtlCol="0" anchor="t"/>
          <a:lstStyle/>
          <a:p>
            <a:pPr indent="0" marL="0">
              <a:buNone/>
            </a:pPr>
            <a:r>
              <a:rPr lang="en-US" sz="1500" dirty="0">
                <a:solidFill>
                  <a:schemeClr val="bg2"/>
                </a:solidFill>
              </a:rPr>
              <a:t>[Your Name]   ·   Operating Systems   ·   github.com/harshitchhabi/procura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cat problem.txt</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To-do apps ignore forty years of scheduling research</a:t>
            </a:r>
            <a:endParaRPr lang="en-US" sz="3400" dirty="0"/>
          </a:p>
        </p:txBody>
      </p:sp>
      <p:sp>
        <p:nvSpPr>
          <p:cNvPr id="5" name="panel-3"/>
          <p:cNvSpPr/>
          <p:nvPr/>
        </p:nvSpPr>
        <p:spPr>
          <a:xfrm>
            <a:off x="548640" y="1874520"/>
            <a:ext cx="3520440" cy="2926080"/>
          </a:xfrm>
          <a:prstGeom prst="roundRect">
            <a:avLst>
              <a:gd name="adj" fmla="val 2500"/>
            </a:avLst>
          </a:prstGeom>
          <a:solidFill>
            <a:schemeClr val="tx2"/>
          </a:solidFill>
          <a:ln w="9525">
            <a:solidFill>
              <a:schemeClr val="accent6"/>
            </a:solidFill>
            <a:prstDash val="solid"/>
          </a:ln>
        </p:spPr>
      </p:sp>
      <p:sp>
        <p:nvSpPr>
          <p:cNvPr id="6" name="dot-4"/>
          <p:cNvSpPr/>
          <p:nvPr/>
        </p:nvSpPr>
        <p:spPr>
          <a:xfrm>
            <a:off x="822960" y="2167128"/>
            <a:ext cx="201168" cy="201168"/>
          </a:xfrm>
          <a:prstGeom prst="ellipse">
            <a:avLst/>
          </a:prstGeom>
          <a:solidFill>
            <a:schemeClr val="accent3"/>
          </a:solidFill>
          <a:ln w="12700">
            <a:solidFill>
              <a:schemeClr val="accent3"/>
            </a:solidFill>
            <a:prstDash val="solid"/>
          </a:ln>
        </p:spPr>
      </p:sp>
      <p:sp>
        <p:nvSpPr>
          <p:cNvPr id="7" name="text-5"/>
          <p:cNvSpPr txBox="1"/>
          <p:nvPr/>
        </p:nvSpPr>
        <p:spPr>
          <a:xfrm>
            <a:off x="1143000" y="2093976"/>
            <a:ext cx="2651760" cy="36576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Priority is a label</a:t>
            </a:r>
            <a:endParaRPr lang="en-US" sz="1900" dirty="0"/>
          </a:p>
        </p:txBody>
      </p:sp>
      <p:sp>
        <p:nvSpPr>
          <p:cNvPr id="8" name="text-6"/>
          <p:cNvSpPr txBox="1"/>
          <p:nvPr/>
        </p:nvSpPr>
        <p:spPr>
          <a:xfrm>
            <a:off x="822960" y="2606040"/>
            <a:ext cx="2971800" cy="169164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A task is High, Medium or Low because the user said so. Nothing combines deadline urgency, time already waited and cost into an actual order.</a:t>
            </a:r>
            <a:endParaRPr lang="en-US" sz="1500" dirty="0"/>
          </a:p>
        </p:txBody>
      </p:sp>
      <p:sp>
        <p:nvSpPr>
          <p:cNvPr id="9" name="text-7"/>
          <p:cNvSpPr txBox="1"/>
          <p:nvPr/>
        </p:nvSpPr>
        <p:spPr>
          <a:xfrm>
            <a:off x="822960" y="4343400"/>
            <a:ext cx="2971800" cy="274320"/>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OS answer: scheduling policies</a:t>
            </a:r>
            <a:endParaRPr lang="en-US" sz="1200" dirty="0"/>
          </a:p>
        </p:txBody>
      </p:sp>
      <p:sp>
        <p:nvSpPr>
          <p:cNvPr id="10" name="panel-8"/>
          <p:cNvSpPr/>
          <p:nvPr/>
        </p:nvSpPr>
        <p:spPr>
          <a:xfrm>
            <a:off x="4407408" y="1874520"/>
            <a:ext cx="3520440" cy="2926080"/>
          </a:xfrm>
          <a:prstGeom prst="roundRect">
            <a:avLst>
              <a:gd name="adj" fmla="val 2500"/>
            </a:avLst>
          </a:prstGeom>
          <a:solidFill>
            <a:schemeClr val="tx2"/>
          </a:solidFill>
          <a:ln w="9525">
            <a:solidFill>
              <a:schemeClr val="accent6"/>
            </a:solidFill>
            <a:prstDash val="solid"/>
          </a:ln>
        </p:spPr>
      </p:sp>
      <p:sp>
        <p:nvSpPr>
          <p:cNvPr id="11" name="dot-9"/>
          <p:cNvSpPr/>
          <p:nvPr/>
        </p:nvSpPr>
        <p:spPr>
          <a:xfrm>
            <a:off x="4681728" y="2167128"/>
            <a:ext cx="201168" cy="201168"/>
          </a:xfrm>
          <a:prstGeom prst="ellipse">
            <a:avLst/>
          </a:prstGeom>
          <a:solidFill>
            <a:schemeClr val="accent2"/>
          </a:solidFill>
          <a:ln w="12700">
            <a:solidFill>
              <a:schemeClr val="accent2"/>
            </a:solidFill>
            <a:prstDash val="solid"/>
          </a:ln>
        </p:spPr>
      </p:sp>
      <p:sp>
        <p:nvSpPr>
          <p:cNvPr id="12" name="text-10"/>
          <p:cNvSpPr txBox="1"/>
          <p:nvPr/>
        </p:nvSpPr>
        <p:spPr>
          <a:xfrm>
            <a:off x="5001768" y="2093976"/>
            <a:ext cx="2651760" cy="36576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Fairness isn't measured</a:t>
            </a:r>
            <a:endParaRPr lang="en-US" sz="1900" dirty="0"/>
          </a:p>
        </p:txBody>
      </p:sp>
      <p:sp>
        <p:nvSpPr>
          <p:cNvPr id="13" name="text-11"/>
          <p:cNvSpPr txBox="1"/>
          <p:nvPr/>
        </p:nvSpPr>
        <p:spPr>
          <a:xfrm>
            <a:off x="4681728" y="2606040"/>
            <a:ext cx="2971800" cy="169164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Whether attention is spread evenly across competing tasks is assumed, never reported.</a:t>
            </a:r>
            <a:endParaRPr lang="en-US" sz="1500" dirty="0"/>
          </a:p>
        </p:txBody>
      </p:sp>
      <p:sp>
        <p:nvSpPr>
          <p:cNvPr id="14" name="text-12"/>
          <p:cNvSpPr txBox="1"/>
          <p:nvPr/>
        </p:nvSpPr>
        <p:spPr>
          <a:xfrm>
            <a:off x="4681728" y="4343400"/>
            <a:ext cx="2971800" cy="274320"/>
          </a:xfrm>
          <a:prstGeom prst="rect">
            <a:avLst/>
          </a:prstGeom>
          <a:noFill/>
          <a:ln/>
        </p:spPr>
        <p:txBody>
          <a:bodyPr wrap="square" lIns="0" tIns="0" rIns="0" bIns="0" rtlCol="0" anchor="t"/>
          <a:lstStyle/>
          <a:p>
            <a:pPr indent="0" marL="0">
              <a:buNone/>
            </a:pPr>
            <a:r>
              <a:rPr lang="en-US" sz="1200" dirty="0">
                <a:solidFill>
                  <a:schemeClr val="accent2"/>
                </a:solidFill>
                <a:latin typeface="Consolas" pitchFamily="34" charset="0"/>
                <a:ea typeface="Consolas" pitchFamily="34" charset="-122"/>
                <a:cs typeface="Consolas" pitchFamily="34" charset="-120"/>
              </a:rPr>
              <a:t>OS answer: Jain's Fairness Index</a:t>
            </a:r>
            <a:endParaRPr lang="en-US" sz="1200" dirty="0"/>
          </a:p>
        </p:txBody>
      </p:sp>
      <p:sp>
        <p:nvSpPr>
          <p:cNvPr id="15" name="panel-13"/>
          <p:cNvSpPr/>
          <p:nvPr/>
        </p:nvSpPr>
        <p:spPr>
          <a:xfrm>
            <a:off x="8266176" y="1874520"/>
            <a:ext cx="3520440" cy="2926080"/>
          </a:xfrm>
          <a:prstGeom prst="roundRect">
            <a:avLst>
              <a:gd name="adj" fmla="val 2500"/>
            </a:avLst>
          </a:prstGeom>
          <a:solidFill>
            <a:schemeClr val="tx2"/>
          </a:solidFill>
          <a:ln w="9525">
            <a:solidFill>
              <a:schemeClr val="accent6"/>
            </a:solidFill>
            <a:prstDash val="solid"/>
          </a:ln>
        </p:spPr>
      </p:sp>
      <p:sp>
        <p:nvSpPr>
          <p:cNvPr id="16" name="dot-14"/>
          <p:cNvSpPr/>
          <p:nvPr/>
        </p:nvSpPr>
        <p:spPr>
          <a:xfrm>
            <a:off x="8540496" y="2167128"/>
            <a:ext cx="201168" cy="201168"/>
          </a:xfrm>
          <a:prstGeom prst="ellipse">
            <a:avLst/>
          </a:prstGeom>
          <a:solidFill>
            <a:schemeClr val="accent4"/>
          </a:solidFill>
          <a:ln w="12700">
            <a:solidFill>
              <a:schemeClr val="accent4"/>
            </a:solidFill>
            <a:prstDash val="solid"/>
          </a:ln>
        </p:spPr>
      </p:sp>
      <p:sp>
        <p:nvSpPr>
          <p:cNvPr id="17" name="text-15"/>
          <p:cNvSpPr txBox="1"/>
          <p:nvPr/>
        </p:nvSpPr>
        <p:spPr>
          <a:xfrm>
            <a:off x="8860536" y="2093976"/>
            <a:ext cx="2651760" cy="36576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Failures aren't handled</a:t>
            </a:r>
            <a:endParaRPr lang="en-US" sz="1900" dirty="0"/>
          </a:p>
        </p:txBody>
      </p:sp>
      <p:sp>
        <p:nvSpPr>
          <p:cNvPr id="18" name="text-16"/>
          <p:cNvSpPr txBox="1"/>
          <p:nvPr/>
        </p:nvSpPr>
        <p:spPr>
          <a:xfrm>
            <a:off x="8540496" y="2606040"/>
            <a:ext cx="2971800" cy="169164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A blocked or starved task shows a red flag. Nothing explains why it failed, and nothing repairs it.</a:t>
            </a:r>
            <a:endParaRPr lang="en-US" sz="1500" dirty="0"/>
          </a:p>
        </p:txBody>
      </p:sp>
      <p:sp>
        <p:nvSpPr>
          <p:cNvPr id="19" name="text-17"/>
          <p:cNvSpPr txBox="1"/>
          <p:nvPr/>
        </p:nvSpPr>
        <p:spPr>
          <a:xfrm>
            <a:off x="8540496" y="4343400"/>
            <a:ext cx="2971800" cy="274320"/>
          </a:xfrm>
          <a:prstGeom prst="rect">
            <a:avLst/>
          </a:prstGeom>
          <a:noFill/>
          <a:ln/>
        </p:spPr>
        <p:txBody>
          <a:bodyPr wrap="square" lIns="0" tIns="0" rIns="0" bIns="0" rtlCol="0" anchor="t"/>
          <a:lstStyle/>
          <a:p>
            <a:pPr indent="0" marL="0">
              <a:buNone/>
            </a:pPr>
            <a:r>
              <a:rPr lang="en-US" sz="1200" dirty="0">
                <a:solidFill>
                  <a:schemeClr val="accent4"/>
                </a:solidFill>
                <a:latin typeface="Consolas" pitchFamily="34" charset="0"/>
                <a:ea typeface="Consolas" pitchFamily="34" charset="-122"/>
                <a:cs typeface="Consolas" pitchFamily="34" charset="-120"/>
              </a:rPr>
              <a:t>OS answer: self-healing loop</a:t>
            </a:r>
            <a:endParaRPr lang="en-US" sz="1200" dirty="0"/>
          </a:p>
        </p:txBody>
      </p:sp>
      <p:sp>
        <p:nvSpPr>
          <p:cNvPr id="20" name="text-18"/>
          <p:cNvSpPr txBox="1"/>
          <p:nvPr/>
        </p:nvSpPr>
        <p:spPr>
          <a:xfrm>
            <a:off x="548640" y="5257800"/>
            <a:ext cx="11094415" cy="457200"/>
          </a:xfrm>
          <a:prstGeom prst="rect">
            <a:avLst/>
          </a:prstGeom>
          <a:noFill/>
          <a:ln/>
        </p:spPr>
        <p:txBody>
          <a:bodyPr wrap="square" lIns="0" tIns="0" rIns="0" bIns="0" rtlCol="0" anchor="t"/>
          <a:lstStyle/>
          <a:p>
            <a:pPr indent="0" marL="0">
              <a:buNone/>
            </a:pPr>
            <a:r>
              <a:rPr lang="en-US" sz="1700" i="1" dirty="0">
                <a:solidFill>
                  <a:schemeClr val="bg2"/>
                </a:solidFill>
              </a:rPr>
              <a:t>Procura's question: can these mechanisms be applied faithfully — same formulas, same state machines — to personal tasks?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--model</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Every task is a process</a:t>
            </a:r>
            <a:endParaRPr lang="en-US" sz="3400" dirty="0"/>
          </a:p>
        </p:txBody>
      </p:sp>
      <p:sp>
        <p:nvSpPr>
          <p:cNvPr id="5" name="panel-19"/>
          <p:cNvSpPr/>
          <p:nvPr/>
        </p:nvSpPr>
        <p:spPr>
          <a:xfrm>
            <a:off x="548640" y="1874520"/>
            <a:ext cx="4480560" cy="603504"/>
          </a:xfrm>
          <a:prstGeom prst="roundRect">
            <a:avLst>
              <a:gd name="adj" fmla="val 12121"/>
            </a:avLst>
          </a:prstGeom>
          <a:solidFill>
            <a:schemeClr val="tx2"/>
          </a:solidFill>
          <a:ln w="9525">
            <a:solidFill>
              <a:schemeClr val="accent6"/>
            </a:solidFill>
            <a:prstDash val="solid"/>
          </a:ln>
        </p:spPr>
      </p:sp>
      <p:sp>
        <p:nvSpPr>
          <p:cNvPr id="6" name="text-20"/>
          <p:cNvSpPr txBox="1"/>
          <p:nvPr/>
        </p:nvSpPr>
        <p:spPr>
          <a:xfrm>
            <a:off x="777240" y="2029968"/>
            <a:ext cx="2011680" cy="320040"/>
          </a:xfrm>
          <a:prstGeom prst="rect">
            <a:avLst/>
          </a:prstGeom>
          <a:noFill/>
          <a:ln/>
        </p:spPr>
        <p:txBody>
          <a:bodyPr wrap="square" lIns="0" tIns="0" rIns="0" bIns="0" rtlCol="0" anchor="t"/>
          <a:lstStyle/>
          <a:p>
            <a:pPr indent="0" marL="0">
              <a:buNone/>
            </a:pPr>
            <a:r>
              <a:rPr lang="en-US" sz="1500" dirty="0">
                <a:solidFill>
                  <a:schemeClr val="bg2"/>
                </a:solidFill>
              </a:rPr>
              <a:t>Task</a:t>
            </a:r>
            <a:endParaRPr lang="en-US" sz="1500" dirty="0"/>
          </a:p>
        </p:txBody>
      </p:sp>
      <p:sp>
        <p:nvSpPr>
          <p:cNvPr id="7" name="text-21"/>
          <p:cNvSpPr txBox="1"/>
          <p:nvPr/>
        </p:nvSpPr>
        <p:spPr>
          <a:xfrm>
            <a:off x="2788920" y="1993392"/>
            <a:ext cx="320040" cy="365760"/>
          </a:xfrm>
          <a:prstGeom prst="rect">
            <a:avLst/>
          </a:prstGeom>
          <a:noFill/>
          <a:ln/>
        </p:spPr>
        <p:txBody>
          <a:bodyPr wrap="square" lIns="0" tIns="0" rIns="0" bIns="0" rtlCol="0" anchor="t"/>
          <a:lstStyle/>
          <a:p>
            <a:pPr indent="0" marL="0">
              <a:buNone/>
            </a:pPr>
            <a:r>
              <a:rPr lang="en-US" sz="1800" dirty="0">
                <a:solidFill>
                  <a:schemeClr val="accent1"/>
                </a:solidFill>
              </a:rPr>
              <a:t>→</a:t>
            </a:r>
            <a:endParaRPr lang="en-US" sz="1800" dirty="0"/>
          </a:p>
        </p:txBody>
      </p:sp>
      <p:sp>
        <p:nvSpPr>
          <p:cNvPr id="8" name="text-22"/>
          <p:cNvSpPr txBox="1"/>
          <p:nvPr/>
        </p:nvSpPr>
        <p:spPr>
          <a:xfrm>
            <a:off x="3154680" y="2029968"/>
            <a:ext cx="1828800" cy="320040"/>
          </a:xfrm>
          <a:prstGeom prst="rect">
            <a:avLst/>
          </a:prstGeom>
          <a:noFill/>
          <a:ln/>
        </p:spPr>
        <p:txBody>
          <a:bodyPr wrap="square" lIns="0" tIns="0" rIns="0" bIns="0" rtlCol="0" anchor="t"/>
          <a:lstStyle/>
          <a:p>
            <a:pPr indent="0" marL="0">
              <a:buNone/>
            </a:pPr>
            <a:r>
              <a:rPr lang="en-US" sz="1500" b="1" dirty="0">
                <a:solidFill>
                  <a:schemeClr val="bg1"/>
                </a:solidFill>
              </a:rPr>
              <a:t>Process with a PID</a:t>
            </a:r>
            <a:endParaRPr lang="en-US" sz="1500" dirty="0"/>
          </a:p>
        </p:txBody>
      </p:sp>
      <p:sp>
        <p:nvSpPr>
          <p:cNvPr id="9" name="panel-23"/>
          <p:cNvSpPr/>
          <p:nvPr/>
        </p:nvSpPr>
        <p:spPr>
          <a:xfrm>
            <a:off x="548640" y="2624328"/>
            <a:ext cx="4480560" cy="603504"/>
          </a:xfrm>
          <a:prstGeom prst="roundRect">
            <a:avLst>
              <a:gd name="adj" fmla="val 12121"/>
            </a:avLst>
          </a:prstGeom>
          <a:solidFill>
            <a:schemeClr val="tx2"/>
          </a:solidFill>
          <a:ln w="9525">
            <a:solidFill>
              <a:schemeClr val="accent6"/>
            </a:solidFill>
            <a:prstDash val="solid"/>
          </a:ln>
        </p:spPr>
      </p:sp>
      <p:sp>
        <p:nvSpPr>
          <p:cNvPr id="10" name="text-24"/>
          <p:cNvSpPr txBox="1"/>
          <p:nvPr/>
        </p:nvSpPr>
        <p:spPr>
          <a:xfrm>
            <a:off x="777240" y="2779776"/>
            <a:ext cx="2011680" cy="320040"/>
          </a:xfrm>
          <a:prstGeom prst="rect">
            <a:avLst/>
          </a:prstGeom>
          <a:noFill/>
          <a:ln/>
        </p:spPr>
        <p:txBody>
          <a:bodyPr wrap="square" lIns="0" tIns="0" rIns="0" bIns="0" rtlCol="0" anchor="t"/>
          <a:lstStyle/>
          <a:p>
            <a:pPr indent="0" marL="0">
              <a:buNone/>
            </a:pPr>
            <a:r>
              <a:rPr lang="en-US" sz="1500" dirty="0">
                <a:solidFill>
                  <a:schemeClr val="bg2"/>
                </a:solidFill>
              </a:rPr>
              <a:t>Estimated effort</a:t>
            </a:r>
            <a:endParaRPr lang="en-US" sz="1500" dirty="0"/>
          </a:p>
        </p:txBody>
      </p:sp>
      <p:sp>
        <p:nvSpPr>
          <p:cNvPr id="11" name="text-25"/>
          <p:cNvSpPr txBox="1"/>
          <p:nvPr/>
        </p:nvSpPr>
        <p:spPr>
          <a:xfrm>
            <a:off x="2788920" y="2743200"/>
            <a:ext cx="320040" cy="365760"/>
          </a:xfrm>
          <a:prstGeom prst="rect">
            <a:avLst/>
          </a:prstGeom>
          <a:noFill/>
          <a:ln/>
        </p:spPr>
        <p:txBody>
          <a:bodyPr wrap="square" lIns="0" tIns="0" rIns="0" bIns="0" rtlCol="0" anchor="t"/>
          <a:lstStyle/>
          <a:p>
            <a:pPr indent="0" marL="0">
              <a:buNone/>
            </a:pPr>
            <a:r>
              <a:rPr lang="en-US" sz="1800" dirty="0">
                <a:solidFill>
                  <a:schemeClr val="accent1"/>
                </a:solidFill>
              </a:rPr>
              <a:t>→</a:t>
            </a:r>
            <a:endParaRPr lang="en-US" sz="1800" dirty="0"/>
          </a:p>
        </p:txBody>
      </p:sp>
      <p:sp>
        <p:nvSpPr>
          <p:cNvPr id="12" name="text-26"/>
          <p:cNvSpPr txBox="1"/>
          <p:nvPr/>
        </p:nvSpPr>
        <p:spPr>
          <a:xfrm>
            <a:off x="3154680" y="2779776"/>
            <a:ext cx="1828800" cy="320040"/>
          </a:xfrm>
          <a:prstGeom prst="rect">
            <a:avLst/>
          </a:prstGeom>
          <a:noFill/>
          <a:ln/>
        </p:spPr>
        <p:txBody>
          <a:bodyPr wrap="square" lIns="0" tIns="0" rIns="0" bIns="0" rtlCol="0" anchor="t"/>
          <a:lstStyle/>
          <a:p>
            <a:pPr indent="0" marL="0">
              <a:buNone/>
            </a:pPr>
            <a:r>
              <a:rPr lang="en-US" sz="1500" b="1" dirty="0">
                <a:solidFill>
                  <a:schemeClr val="bg1"/>
                </a:solidFill>
              </a:rPr>
              <a:t>Burst time (minutes)</a:t>
            </a:r>
            <a:endParaRPr lang="en-US" sz="1500" dirty="0"/>
          </a:p>
        </p:txBody>
      </p:sp>
      <p:sp>
        <p:nvSpPr>
          <p:cNvPr id="13" name="panel-27"/>
          <p:cNvSpPr/>
          <p:nvPr/>
        </p:nvSpPr>
        <p:spPr>
          <a:xfrm>
            <a:off x="548640" y="3374136"/>
            <a:ext cx="4480560" cy="603504"/>
          </a:xfrm>
          <a:prstGeom prst="roundRect">
            <a:avLst>
              <a:gd name="adj" fmla="val 12121"/>
            </a:avLst>
          </a:prstGeom>
          <a:solidFill>
            <a:schemeClr val="tx2"/>
          </a:solidFill>
          <a:ln w="9525">
            <a:solidFill>
              <a:schemeClr val="accent6"/>
            </a:solidFill>
            <a:prstDash val="solid"/>
          </a:ln>
        </p:spPr>
      </p:sp>
      <p:sp>
        <p:nvSpPr>
          <p:cNvPr id="14" name="text-28"/>
          <p:cNvSpPr txBox="1"/>
          <p:nvPr/>
        </p:nvSpPr>
        <p:spPr>
          <a:xfrm>
            <a:off x="777240" y="3529584"/>
            <a:ext cx="2011680" cy="320040"/>
          </a:xfrm>
          <a:prstGeom prst="rect">
            <a:avLst/>
          </a:prstGeom>
          <a:noFill/>
          <a:ln/>
        </p:spPr>
        <p:txBody>
          <a:bodyPr wrap="square" lIns="0" tIns="0" rIns="0" bIns="0" rtlCol="0" anchor="t"/>
          <a:lstStyle/>
          <a:p>
            <a:pPr indent="0" marL="0">
              <a:buNone/>
            </a:pPr>
            <a:r>
              <a:rPr lang="en-US" sz="1500" dirty="0">
                <a:solidFill>
                  <a:schemeClr val="bg2"/>
                </a:solidFill>
              </a:rPr>
              <a:t>Importance + deadline</a:t>
            </a:r>
            <a:endParaRPr lang="en-US" sz="1500" dirty="0"/>
          </a:p>
        </p:txBody>
      </p:sp>
      <p:sp>
        <p:nvSpPr>
          <p:cNvPr id="15" name="text-29"/>
          <p:cNvSpPr txBox="1"/>
          <p:nvPr/>
        </p:nvSpPr>
        <p:spPr>
          <a:xfrm>
            <a:off x="2788920" y="3493008"/>
            <a:ext cx="320040" cy="365760"/>
          </a:xfrm>
          <a:prstGeom prst="rect">
            <a:avLst/>
          </a:prstGeom>
          <a:noFill/>
          <a:ln/>
        </p:spPr>
        <p:txBody>
          <a:bodyPr wrap="square" lIns="0" tIns="0" rIns="0" bIns="0" rtlCol="0" anchor="t"/>
          <a:lstStyle/>
          <a:p>
            <a:pPr indent="0" marL="0">
              <a:buNone/>
            </a:pPr>
            <a:r>
              <a:rPr lang="en-US" sz="1800" dirty="0">
                <a:solidFill>
                  <a:schemeClr val="accent1"/>
                </a:solidFill>
              </a:rPr>
              <a:t>→</a:t>
            </a:r>
            <a:endParaRPr lang="en-US" sz="1800" dirty="0"/>
          </a:p>
        </p:txBody>
      </p:sp>
      <p:sp>
        <p:nvSpPr>
          <p:cNvPr id="16" name="text-30"/>
          <p:cNvSpPr txBox="1"/>
          <p:nvPr/>
        </p:nvSpPr>
        <p:spPr>
          <a:xfrm>
            <a:off x="3154680" y="3529584"/>
            <a:ext cx="1828800" cy="320040"/>
          </a:xfrm>
          <a:prstGeom prst="rect">
            <a:avLst/>
          </a:prstGeom>
          <a:noFill/>
          <a:ln/>
        </p:spPr>
        <p:txBody>
          <a:bodyPr wrap="square" lIns="0" tIns="0" rIns="0" bIns="0" rtlCol="0" anchor="t"/>
          <a:lstStyle/>
          <a:p>
            <a:pPr indent="0" marL="0">
              <a:buNone/>
            </a:pPr>
            <a:r>
              <a:rPr lang="en-US" sz="1500" b="1" dirty="0">
                <a:solidFill>
                  <a:schemeClr val="bg1"/>
                </a:solidFill>
              </a:rPr>
              <a:t>Effective priority</a:t>
            </a:r>
            <a:endParaRPr lang="en-US" sz="1500" dirty="0"/>
          </a:p>
        </p:txBody>
      </p:sp>
      <p:sp>
        <p:nvSpPr>
          <p:cNvPr id="17" name="panel-31"/>
          <p:cNvSpPr/>
          <p:nvPr/>
        </p:nvSpPr>
        <p:spPr>
          <a:xfrm>
            <a:off x="548640" y="4123944"/>
            <a:ext cx="4480560" cy="603504"/>
          </a:xfrm>
          <a:prstGeom prst="roundRect">
            <a:avLst>
              <a:gd name="adj" fmla="val 12121"/>
            </a:avLst>
          </a:prstGeom>
          <a:solidFill>
            <a:schemeClr val="tx2"/>
          </a:solidFill>
          <a:ln w="9525">
            <a:solidFill>
              <a:schemeClr val="accent6"/>
            </a:solidFill>
            <a:prstDash val="solid"/>
          </a:ln>
        </p:spPr>
      </p:sp>
      <p:sp>
        <p:nvSpPr>
          <p:cNvPr id="18" name="text-32"/>
          <p:cNvSpPr txBox="1"/>
          <p:nvPr/>
        </p:nvSpPr>
        <p:spPr>
          <a:xfrm>
            <a:off x="777240" y="4279392"/>
            <a:ext cx="2011680" cy="320040"/>
          </a:xfrm>
          <a:prstGeom prst="rect">
            <a:avLst/>
          </a:prstGeom>
          <a:noFill/>
          <a:ln/>
        </p:spPr>
        <p:txBody>
          <a:bodyPr wrap="square" lIns="0" tIns="0" rIns="0" bIns="0" rtlCol="0" anchor="t"/>
          <a:lstStyle/>
          <a:p>
            <a:pPr indent="0" marL="0">
              <a:buNone/>
            </a:pPr>
            <a:r>
              <a:rPr lang="en-US" sz="1500" dirty="0">
                <a:solidFill>
                  <a:schemeClr val="bg2"/>
                </a:solidFill>
              </a:rPr>
              <a:t>Memory / CPU needed</a:t>
            </a:r>
            <a:endParaRPr lang="en-US" sz="1500" dirty="0"/>
          </a:p>
        </p:txBody>
      </p:sp>
      <p:sp>
        <p:nvSpPr>
          <p:cNvPr id="19" name="text-33"/>
          <p:cNvSpPr txBox="1"/>
          <p:nvPr/>
        </p:nvSpPr>
        <p:spPr>
          <a:xfrm>
            <a:off x="2788920" y="4242816"/>
            <a:ext cx="320040" cy="365760"/>
          </a:xfrm>
          <a:prstGeom prst="rect">
            <a:avLst/>
          </a:prstGeom>
          <a:noFill/>
          <a:ln/>
        </p:spPr>
        <p:txBody>
          <a:bodyPr wrap="square" lIns="0" tIns="0" rIns="0" bIns="0" rtlCol="0" anchor="t"/>
          <a:lstStyle/>
          <a:p>
            <a:pPr indent="0" marL="0">
              <a:buNone/>
            </a:pPr>
            <a:r>
              <a:rPr lang="en-US" sz="1800" dirty="0">
                <a:solidFill>
                  <a:schemeClr val="accent1"/>
                </a:solidFill>
              </a:rPr>
              <a:t>→</a:t>
            </a:r>
            <a:endParaRPr lang="en-US" sz="1800" dirty="0"/>
          </a:p>
        </p:txBody>
      </p:sp>
      <p:sp>
        <p:nvSpPr>
          <p:cNvPr id="20" name="text-34"/>
          <p:cNvSpPr txBox="1"/>
          <p:nvPr/>
        </p:nvSpPr>
        <p:spPr>
          <a:xfrm>
            <a:off x="3154680" y="4279392"/>
            <a:ext cx="1828800" cy="320040"/>
          </a:xfrm>
          <a:prstGeom prst="rect">
            <a:avLst/>
          </a:prstGeom>
          <a:noFill/>
          <a:ln/>
        </p:spPr>
        <p:txBody>
          <a:bodyPr wrap="square" lIns="0" tIns="0" rIns="0" bIns="0" rtlCol="0" anchor="t"/>
          <a:lstStyle/>
          <a:p>
            <a:pPr indent="0" marL="0">
              <a:buNone/>
            </a:pPr>
            <a:r>
              <a:rPr lang="en-US" sz="1500" b="1" dirty="0">
                <a:solidFill>
                  <a:schemeClr val="bg1"/>
                </a:solidFill>
              </a:rPr>
              <a:t>Resource requests</a:t>
            </a:r>
            <a:endParaRPr lang="en-US" sz="1500" dirty="0"/>
          </a:p>
        </p:txBody>
      </p:sp>
      <p:sp>
        <p:nvSpPr>
          <p:cNvPr id="21" name="panel-35"/>
          <p:cNvSpPr/>
          <p:nvPr/>
        </p:nvSpPr>
        <p:spPr>
          <a:xfrm>
            <a:off x="548640" y="4873752"/>
            <a:ext cx="4480560" cy="603504"/>
          </a:xfrm>
          <a:prstGeom prst="roundRect">
            <a:avLst>
              <a:gd name="adj" fmla="val 12121"/>
            </a:avLst>
          </a:prstGeom>
          <a:solidFill>
            <a:schemeClr val="tx2"/>
          </a:solidFill>
          <a:ln w="9525">
            <a:solidFill>
              <a:schemeClr val="accent6"/>
            </a:solidFill>
            <a:prstDash val="solid"/>
          </a:ln>
        </p:spPr>
      </p:sp>
      <p:sp>
        <p:nvSpPr>
          <p:cNvPr id="22" name="text-36"/>
          <p:cNvSpPr txBox="1"/>
          <p:nvPr/>
        </p:nvSpPr>
        <p:spPr>
          <a:xfrm>
            <a:off x="777240" y="5029200"/>
            <a:ext cx="2011680" cy="320040"/>
          </a:xfrm>
          <a:prstGeom prst="rect">
            <a:avLst/>
          </a:prstGeom>
          <a:noFill/>
          <a:ln/>
        </p:spPr>
        <p:txBody>
          <a:bodyPr wrap="square" lIns="0" tIns="0" rIns="0" bIns="0" rtlCol="0" anchor="t"/>
          <a:lstStyle/>
          <a:p>
            <a:pPr indent="0" marL="0">
              <a:buNone/>
            </a:pPr>
            <a:r>
              <a:rPr lang="en-US" sz="1500" dirty="0">
                <a:solidFill>
                  <a:schemeClr val="bg2"/>
                </a:solidFill>
              </a:rPr>
              <a:t>Stuck on someone else</a:t>
            </a:r>
            <a:endParaRPr lang="en-US" sz="1500" dirty="0"/>
          </a:p>
        </p:txBody>
      </p:sp>
      <p:sp>
        <p:nvSpPr>
          <p:cNvPr id="23" name="text-37"/>
          <p:cNvSpPr txBox="1"/>
          <p:nvPr/>
        </p:nvSpPr>
        <p:spPr>
          <a:xfrm>
            <a:off x="2788920" y="4992624"/>
            <a:ext cx="320040" cy="365760"/>
          </a:xfrm>
          <a:prstGeom prst="rect">
            <a:avLst/>
          </a:prstGeom>
          <a:noFill/>
          <a:ln/>
        </p:spPr>
        <p:txBody>
          <a:bodyPr wrap="square" lIns="0" tIns="0" rIns="0" bIns="0" rtlCol="0" anchor="t"/>
          <a:lstStyle/>
          <a:p>
            <a:pPr indent="0" marL="0">
              <a:buNone/>
            </a:pPr>
            <a:r>
              <a:rPr lang="en-US" sz="1800" dirty="0">
                <a:solidFill>
                  <a:schemeClr val="accent1"/>
                </a:solidFill>
              </a:rPr>
              <a:t>→</a:t>
            </a:r>
            <a:endParaRPr lang="en-US" sz="1800" dirty="0"/>
          </a:p>
        </p:txBody>
      </p:sp>
      <p:sp>
        <p:nvSpPr>
          <p:cNvPr id="24" name="text-38"/>
          <p:cNvSpPr txBox="1"/>
          <p:nvPr/>
        </p:nvSpPr>
        <p:spPr>
          <a:xfrm>
            <a:off x="3154680" y="5029200"/>
            <a:ext cx="1828800" cy="320040"/>
          </a:xfrm>
          <a:prstGeom prst="rect">
            <a:avLst/>
          </a:prstGeom>
          <a:noFill/>
          <a:ln/>
        </p:spPr>
        <p:txBody>
          <a:bodyPr wrap="square" lIns="0" tIns="0" rIns="0" bIns="0" rtlCol="0" anchor="t"/>
          <a:lstStyle/>
          <a:p>
            <a:pPr indent="0" marL="0">
              <a:buNone/>
            </a:pPr>
            <a:r>
              <a:rPr lang="en-US" sz="1500" b="1" dirty="0">
                <a:solidFill>
                  <a:schemeClr val="bg1"/>
                </a:solidFill>
              </a:rPr>
              <a:t>Wait-for edge</a:t>
            </a:r>
            <a:endParaRPr lang="en-US" sz="1500" dirty="0"/>
          </a:p>
        </p:txBody>
      </p:sp>
      <p:sp>
        <p:nvSpPr>
          <p:cNvPr id="25" name="frame-39"/>
          <p:cNvSpPr/>
          <p:nvPr/>
        </p:nvSpPr>
        <p:spPr>
          <a:xfrm>
            <a:off x="5486400" y="1874520"/>
            <a:ext cx="6263640" cy="3403839"/>
          </a:xfrm>
          <a:prstGeom prst="roundRect">
            <a:avLst>
              <a:gd name="adj" fmla="val 2149"/>
            </a:avLst>
          </a:prstGeom>
          <a:solidFill>
            <a:srgbClr val="FFFFFF"/>
          </a:solidFill>
          <a:ln w="12700">
            <a:solidFill>
              <a:srgbClr val="FFFFFF"/>
            </a:solidFill>
            <a:prstDash val="solid"/>
          </a:ln>
        </p:spPr>
      </p:sp>
      <p:pic>
        <p:nvPicPr>
          <p:cNvPr id="26" name="img-40" descr="fig_state_machine.png">    </p:cNvPr>
          <p:cNvPicPr>
            <a:picLocks noChangeAspect="1"/>
          </p:cNvPicPr>
          <p:nvPr/>
        </p:nvPicPr>
        <p:blipFill>
          <a:blip r:embed="rId1"/>
          <a:stretch>
            <a:fillRect/>
          </a:stretch>
        </p:blipFill>
        <p:spPr>
          <a:xfrm>
            <a:off x="5623560" y="2011680"/>
            <a:ext cx="5989320" cy="312951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--architecture</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One backend, four subsystems, two interfaces</a:t>
            </a:r>
            <a:endParaRPr lang="en-US" sz="3400" dirty="0"/>
          </a:p>
        </p:txBody>
      </p:sp>
      <p:sp>
        <p:nvSpPr>
          <p:cNvPr id="5" name="frame-41"/>
          <p:cNvSpPr/>
          <p:nvPr/>
        </p:nvSpPr>
        <p:spPr>
          <a:xfrm>
            <a:off x="609469" y="1508760"/>
            <a:ext cx="6553462" cy="4800600"/>
          </a:xfrm>
          <a:prstGeom prst="roundRect">
            <a:avLst>
              <a:gd name="adj" fmla="val 1524"/>
            </a:avLst>
          </a:prstGeom>
          <a:solidFill>
            <a:srgbClr val="FFFFFF"/>
          </a:solidFill>
          <a:ln w="12700">
            <a:solidFill>
              <a:srgbClr val="FFFFFF"/>
            </a:solidFill>
            <a:prstDash val="solid"/>
          </a:ln>
        </p:spPr>
      </p:sp>
      <p:pic>
        <p:nvPicPr>
          <p:cNvPr id="6" name="img-42" descr="fig_architecture.png">    </p:cNvPr>
          <p:cNvPicPr>
            <a:picLocks noChangeAspect="1"/>
          </p:cNvPicPr>
          <p:nvPr/>
        </p:nvPicPr>
        <p:blipFill>
          <a:blip r:embed="rId1"/>
          <a:stretch>
            <a:fillRect/>
          </a:stretch>
        </p:blipFill>
        <p:spPr>
          <a:xfrm>
            <a:off x="746629" y="1645920"/>
            <a:ext cx="6279142" cy="4526280"/>
          </a:xfrm>
          <a:prstGeom prst="rect">
            <a:avLst/>
          </a:prstGeom>
        </p:spPr>
      </p:pic>
      <p:sp>
        <p:nvSpPr>
          <p:cNvPr id="7" name="panel-43"/>
          <p:cNvSpPr/>
          <p:nvPr/>
        </p:nvSpPr>
        <p:spPr>
          <a:xfrm>
            <a:off x="7818120" y="1691640"/>
            <a:ext cx="3822192" cy="932688"/>
          </a:xfrm>
          <a:prstGeom prst="roundRect">
            <a:avLst>
              <a:gd name="adj" fmla="val 7843"/>
            </a:avLst>
          </a:prstGeom>
          <a:solidFill>
            <a:schemeClr val="tx2"/>
          </a:solidFill>
          <a:ln w="9525">
            <a:solidFill>
              <a:schemeClr val="accent6"/>
            </a:solidFill>
            <a:prstDash val="solid"/>
          </a:ln>
        </p:spPr>
      </p:sp>
      <p:sp>
        <p:nvSpPr>
          <p:cNvPr id="8" name="text-44"/>
          <p:cNvSpPr txBox="1"/>
          <p:nvPr/>
        </p:nvSpPr>
        <p:spPr>
          <a:xfrm>
            <a:off x="8046720" y="1828800"/>
            <a:ext cx="3474720" cy="320040"/>
          </a:xfrm>
          <a:prstGeom prst="rect">
            <a:avLst/>
          </a:prstGeom>
          <a:noFill/>
          <a:ln/>
        </p:spPr>
        <p:txBody>
          <a:bodyPr wrap="square" lIns="0" tIns="0" rIns="0" bIns="0" rtlCol="0" anchor="t"/>
          <a:lstStyle/>
          <a:p>
            <a:pPr indent="0" marL="0">
              <a:buNone/>
            </a:pPr>
            <a:r>
              <a:rPr lang="en-US" sz="1700" b="1" dirty="0">
                <a:solidFill>
                  <a:schemeClr val="accent1"/>
                </a:solidFill>
              </a:rPr>
              <a:t>Local-first</a:t>
            </a:r>
            <a:endParaRPr lang="en-US" sz="1700" dirty="0"/>
          </a:p>
        </p:txBody>
      </p:sp>
      <p:sp>
        <p:nvSpPr>
          <p:cNvPr id="9" name="text-45"/>
          <p:cNvSpPr txBox="1"/>
          <p:nvPr/>
        </p:nvSpPr>
        <p:spPr>
          <a:xfrm>
            <a:off x="8046720" y="2167128"/>
            <a:ext cx="3474720" cy="365760"/>
          </a:xfrm>
          <a:prstGeom prst="rect">
            <a:avLst/>
          </a:prstGeom>
          <a:noFill/>
          <a:ln/>
        </p:spPr>
        <p:txBody>
          <a:bodyPr wrap="square" lIns="0" tIns="0" rIns="0" bIns="0" rtlCol="0" anchor="t"/>
          <a:lstStyle/>
          <a:p>
            <a:pPr indent="0" marL="0">
              <a:buNone/>
            </a:pPr>
            <a:r>
              <a:rPr lang="en-US" sz="1400" dirty="0">
                <a:solidFill>
                  <a:schemeClr val="bg2"/>
                </a:solidFill>
              </a:rPr>
              <a:t>No account; works fully offline</a:t>
            </a:r>
            <a:endParaRPr lang="en-US" sz="1400" dirty="0"/>
          </a:p>
        </p:txBody>
      </p:sp>
      <p:sp>
        <p:nvSpPr>
          <p:cNvPr id="10" name="panel-46"/>
          <p:cNvSpPr/>
          <p:nvPr/>
        </p:nvSpPr>
        <p:spPr>
          <a:xfrm>
            <a:off x="7818120" y="2807208"/>
            <a:ext cx="3822192" cy="932688"/>
          </a:xfrm>
          <a:prstGeom prst="roundRect">
            <a:avLst>
              <a:gd name="adj" fmla="val 7843"/>
            </a:avLst>
          </a:prstGeom>
          <a:solidFill>
            <a:schemeClr val="tx2"/>
          </a:solidFill>
          <a:ln w="9525">
            <a:solidFill>
              <a:schemeClr val="accent6"/>
            </a:solidFill>
            <a:prstDash val="solid"/>
          </a:ln>
        </p:spPr>
      </p:sp>
      <p:sp>
        <p:nvSpPr>
          <p:cNvPr id="11" name="text-47"/>
          <p:cNvSpPr txBox="1"/>
          <p:nvPr/>
        </p:nvSpPr>
        <p:spPr>
          <a:xfrm>
            <a:off x="8046720" y="2944368"/>
            <a:ext cx="3474720" cy="320040"/>
          </a:xfrm>
          <a:prstGeom prst="rect">
            <a:avLst/>
          </a:prstGeom>
          <a:noFill/>
          <a:ln/>
        </p:spPr>
        <p:txBody>
          <a:bodyPr wrap="square" lIns="0" tIns="0" rIns="0" bIns="0" rtlCol="0" anchor="t"/>
          <a:lstStyle/>
          <a:p>
            <a:pPr indent="0" marL="0">
              <a:buNone/>
            </a:pPr>
            <a:r>
              <a:rPr lang="en-US" sz="1700" b="1" dirty="0">
                <a:solidFill>
                  <a:schemeClr val="accent1"/>
                </a:solidFill>
              </a:rPr>
              <a:t>Explainable</a:t>
            </a:r>
            <a:endParaRPr lang="en-US" sz="1700" dirty="0"/>
          </a:p>
        </p:txBody>
      </p:sp>
      <p:sp>
        <p:nvSpPr>
          <p:cNvPr id="12" name="text-48"/>
          <p:cNvSpPr txBox="1"/>
          <p:nvPr/>
        </p:nvSpPr>
        <p:spPr>
          <a:xfrm>
            <a:off x="8046720" y="3282696"/>
            <a:ext cx="3474720" cy="365760"/>
          </a:xfrm>
          <a:prstGeom prst="rect">
            <a:avLst/>
          </a:prstGeom>
          <a:noFill/>
          <a:ln/>
        </p:spPr>
        <p:txBody>
          <a:bodyPr wrap="square" lIns="0" tIns="0" rIns="0" bIns="0" rtlCol="0" anchor="t"/>
          <a:lstStyle/>
          <a:p>
            <a:pPr indent="0" marL="0">
              <a:buNone/>
            </a:pPr>
            <a:r>
              <a:rPr lang="en-US" sz="1400" dirty="0">
                <a:solidFill>
                  <a:schemeClr val="bg2"/>
                </a:solidFill>
              </a:rPr>
              <a:t>AI answers grounded in the system's own logs</a:t>
            </a:r>
            <a:endParaRPr lang="en-US" sz="1400" dirty="0"/>
          </a:p>
        </p:txBody>
      </p:sp>
      <p:sp>
        <p:nvSpPr>
          <p:cNvPr id="13" name="panel-49"/>
          <p:cNvSpPr/>
          <p:nvPr/>
        </p:nvSpPr>
        <p:spPr>
          <a:xfrm>
            <a:off x="7818120" y="3922776"/>
            <a:ext cx="3822192" cy="932688"/>
          </a:xfrm>
          <a:prstGeom prst="roundRect">
            <a:avLst>
              <a:gd name="adj" fmla="val 7843"/>
            </a:avLst>
          </a:prstGeom>
          <a:solidFill>
            <a:schemeClr val="tx2"/>
          </a:solidFill>
          <a:ln w="9525">
            <a:solidFill>
              <a:schemeClr val="accent6"/>
            </a:solidFill>
            <a:prstDash val="solid"/>
          </a:ln>
        </p:spPr>
      </p:sp>
      <p:sp>
        <p:nvSpPr>
          <p:cNvPr id="14" name="text-50"/>
          <p:cNvSpPr txBox="1"/>
          <p:nvPr/>
        </p:nvSpPr>
        <p:spPr>
          <a:xfrm>
            <a:off x="8046720" y="4059936"/>
            <a:ext cx="3474720" cy="320040"/>
          </a:xfrm>
          <a:prstGeom prst="rect">
            <a:avLst/>
          </a:prstGeom>
          <a:noFill/>
          <a:ln/>
        </p:spPr>
        <p:txBody>
          <a:bodyPr wrap="square" lIns="0" tIns="0" rIns="0" bIns="0" rtlCol="0" anchor="t"/>
          <a:lstStyle/>
          <a:p>
            <a:pPr indent="0" marL="0">
              <a:buNone/>
            </a:pPr>
            <a:r>
              <a:rPr lang="en-US" sz="1700" b="1" dirty="0">
                <a:solidFill>
                  <a:schemeClr val="accent1"/>
                </a:solidFill>
              </a:rPr>
              <a:t>Safe automation</a:t>
            </a:r>
            <a:endParaRPr lang="en-US" sz="1700" dirty="0"/>
          </a:p>
        </p:txBody>
      </p:sp>
      <p:sp>
        <p:nvSpPr>
          <p:cNvPr id="15" name="text-51"/>
          <p:cNvSpPr txBox="1"/>
          <p:nvPr/>
        </p:nvSpPr>
        <p:spPr>
          <a:xfrm>
            <a:off x="8046720" y="4398264"/>
            <a:ext cx="3474720" cy="365760"/>
          </a:xfrm>
          <a:prstGeom prst="rect">
            <a:avLst/>
          </a:prstGeom>
          <a:noFill/>
          <a:ln/>
        </p:spPr>
        <p:txBody>
          <a:bodyPr wrap="square" lIns="0" tIns="0" rIns="0" bIns="0" rtlCol="0" anchor="t"/>
          <a:lstStyle/>
          <a:p>
            <a:pPr indent="0" marL="0">
              <a:buNone/>
            </a:pPr>
            <a:r>
              <a:rPr lang="en-US" sz="1400" dirty="0">
                <a:solidFill>
                  <a:schemeClr val="bg2"/>
                </a:solidFill>
              </a:rPr>
              <a:t>AI explains; fixed scripts act</a:t>
            </a:r>
            <a:endParaRPr lang="en-US" sz="1400" dirty="0"/>
          </a:p>
        </p:txBody>
      </p:sp>
      <p:sp>
        <p:nvSpPr>
          <p:cNvPr id="16" name="panel-52"/>
          <p:cNvSpPr/>
          <p:nvPr/>
        </p:nvSpPr>
        <p:spPr>
          <a:xfrm>
            <a:off x="7818120" y="5038344"/>
            <a:ext cx="3822192" cy="932688"/>
          </a:xfrm>
          <a:prstGeom prst="roundRect">
            <a:avLst>
              <a:gd name="adj" fmla="val 7843"/>
            </a:avLst>
          </a:prstGeom>
          <a:solidFill>
            <a:schemeClr val="tx2"/>
          </a:solidFill>
          <a:ln w="9525">
            <a:solidFill>
              <a:schemeClr val="accent6"/>
            </a:solidFill>
            <a:prstDash val="solid"/>
          </a:ln>
        </p:spPr>
      </p:sp>
      <p:sp>
        <p:nvSpPr>
          <p:cNvPr id="17" name="text-53"/>
          <p:cNvSpPr txBox="1"/>
          <p:nvPr/>
        </p:nvSpPr>
        <p:spPr>
          <a:xfrm>
            <a:off x="8046720" y="5175504"/>
            <a:ext cx="3474720" cy="320040"/>
          </a:xfrm>
          <a:prstGeom prst="rect">
            <a:avLst/>
          </a:prstGeom>
          <a:noFill/>
          <a:ln/>
        </p:spPr>
        <p:txBody>
          <a:bodyPr wrap="square" lIns="0" tIns="0" rIns="0" bIns="0" rtlCol="0" anchor="t"/>
          <a:lstStyle/>
          <a:p>
            <a:pPr indent="0" marL="0">
              <a:buNone/>
            </a:pPr>
            <a:r>
              <a:rPr lang="en-US" sz="1700" b="1" dirty="0">
                <a:solidFill>
                  <a:schemeClr val="accent1"/>
                </a:solidFill>
              </a:rPr>
              <a:t>Verified</a:t>
            </a:r>
            <a:endParaRPr lang="en-US" sz="1700" dirty="0"/>
          </a:p>
        </p:txBody>
      </p:sp>
      <p:sp>
        <p:nvSpPr>
          <p:cNvPr id="18" name="text-54"/>
          <p:cNvSpPr txBox="1"/>
          <p:nvPr/>
        </p:nvSpPr>
        <p:spPr>
          <a:xfrm>
            <a:off x="8046720" y="5513832"/>
            <a:ext cx="3474720" cy="365760"/>
          </a:xfrm>
          <a:prstGeom prst="rect">
            <a:avLst/>
          </a:prstGeom>
          <a:noFill/>
          <a:ln/>
        </p:spPr>
        <p:txBody>
          <a:bodyPr wrap="square" lIns="0" tIns="0" rIns="0" bIns="0" rtlCol="0" anchor="t"/>
          <a:lstStyle/>
          <a:p>
            <a:pPr indent="0" marL="0">
              <a:buNone/>
            </a:pPr>
            <a:r>
              <a:rPr lang="en-US" sz="1400" dirty="0">
                <a:solidFill>
                  <a:schemeClr val="bg2"/>
                </a:solidFill>
              </a:rPr>
              <a:t>83 automated tests, all passing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schedule --list</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Six scheduling policies, from textbook to production</a:t>
            </a:r>
            <a:endParaRPr lang="en-US" sz="3400" dirty="0"/>
          </a:p>
        </p:txBody>
      </p:sp>
      <p:sp>
        <p:nvSpPr>
          <p:cNvPr id="5" name="panel-55"/>
          <p:cNvSpPr/>
          <p:nvPr/>
        </p:nvSpPr>
        <p:spPr>
          <a:xfrm>
            <a:off x="548640" y="1783080"/>
            <a:ext cx="3520440" cy="1965960"/>
          </a:xfrm>
          <a:prstGeom prst="roundRect">
            <a:avLst>
              <a:gd name="adj" fmla="val 3721"/>
            </a:avLst>
          </a:prstGeom>
          <a:solidFill>
            <a:schemeClr val="tx2"/>
          </a:solidFill>
          <a:ln w="9525">
            <a:solidFill>
              <a:schemeClr val="accent6"/>
            </a:solidFill>
            <a:prstDash val="solid"/>
          </a:ln>
        </p:spPr>
      </p:sp>
      <p:sp>
        <p:nvSpPr>
          <p:cNvPr id="6" name="text-56"/>
          <p:cNvSpPr txBox="1"/>
          <p:nvPr/>
        </p:nvSpPr>
        <p:spPr>
          <a:xfrm>
            <a:off x="822960" y="1984248"/>
            <a:ext cx="182880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FCFS</a:t>
            </a:r>
            <a:endParaRPr lang="en-US" sz="2200" dirty="0"/>
          </a:p>
        </p:txBody>
      </p:sp>
      <p:sp>
        <p:nvSpPr>
          <p:cNvPr id="7" name="text-57"/>
          <p:cNvSpPr txBox="1"/>
          <p:nvPr/>
        </p:nvSpPr>
        <p:spPr>
          <a:xfrm>
            <a:off x="2240280" y="2057400"/>
            <a:ext cx="1600200" cy="274320"/>
          </a:xfrm>
          <a:prstGeom prst="rect">
            <a:avLst/>
          </a:prstGeom>
          <a:noFill/>
          <a:ln/>
        </p:spPr>
        <p:txBody>
          <a:bodyPr wrap="square" lIns="0" tIns="0" rIns="0" bIns="0" rtlCol="0" anchor="t"/>
          <a:lstStyle/>
          <a:p>
            <a:pPr algn="r" indent="0" marL="0">
              <a:buNone/>
            </a:pPr>
            <a:r>
              <a:rPr lang="en-US" sz="1100" dirty="0">
                <a:solidFill>
                  <a:schemeClr val="bg2"/>
                </a:solidFill>
                <a:latin typeface="Consolas" pitchFamily="34" charset="0"/>
                <a:ea typeface="Consolas" pitchFamily="34" charset="-122"/>
                <a:cs typeface="Consolas" pitchFamily="34" charset="-120"/>
              </a:rPr>
              <a:t>textbook</a:t>
            </a:r>
            <a:endParaRPr lang="en-US" sz="1100" dirty="0"/>
          </a:p>
        </p:txBody>
      </p:sp>
      <p:sp>
        <p:nvSpPr>
          <p:cNvPr id="8" name="text-58"/>
          <p:cNvSpPr txBox="1"/>
          <p:nvPr/>
        </p:nvSpPr>
        <p:spPr>
          <a:xfrm>
            <a:off x="822960" y="2560320"/>
            <a:ext cx="2971800" cy="1005840"/>
          </a:xfrm>
          <a:prstGeom prst="rect">
            <a:avLst/>
          </a:prstGeom>
          <a:noFill/>
          <a:ln/>
        </p:spPr>
        <p:txBody>
          <a:bodyPr wrap="square" lIns="0" tIns="0" rIns="0" bIns="0" rtlCol="0" anchor="t"/>
          <a:lstStyle/>
          <a:p>
            <a:pPr indent="0" marL="0">
              <a:buNone/>
            </a:pPr>
            <a:r>
              <a:rPr lang="en-US" sz="1500" dirty="0">
                <a:solidFill>
                  <a:schemeClr val="bg2"/>
                </a:solidFill>
              </a:rPr>
              <a:t>Runs tasks in arrival order. Simple; long tasks delay everyone behind them.</a:t>
            </a:r>
            <a:endParaRPr lang="en-US" sz="1500" dirty="0"/>
          </a:p>
        </p:txBody>
      </p:sp>
      <p:sp>
        <p:nvSpPr>
          <p:cNvPr id="9" name="panel-59"/>
          <p:cNvSpPr/>
          <p:nvPr/>
        </p:nvSpPr>
        <p:spPr>
          <a:xfrm>
            <a:off x="4407408" y="1783080"/>
            <a:ext cx="3520440" cy="1965960"/>
          </a:xfrm>
          <a:prstGeom prst="roundRect">
            <a:avLst>
              <a:gd name="adj" fmla="val 3721"/>
            </a:avLst>
          </a:prstGeom>
          <a:solidFill>
            <a:schemeClr val="tx2"/>
          </a:solidFill>
          <a:ln w="9525">
            <a:solidFill>
              <a:schemeClr val="accent6"/>
            </a:solidFill>
            <a:prstDash val="solid"/>
          </a:ln>
        </p:spPr>
      </p:sp>
      <p:sp>
        <p:nvSpPr>
          <p:cNvPr id="10" name="text-60"/>
          <p:cNvSpPr txBox="1"/>
          <p:nvPr/>
        </p:nvSpPr>
        <p:spPr>
          <a:xfrm>
            <a:off x="4681728" y="1984248"/>
            <a:ext cx="182880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SJF</a:t>
            </a:r>
            <a:endParaRPr lang="en-US" sz="2200" dirty="0"/>
          </a:p>
        </p:txBody>
      </p:sp>
      <p:sp>
        <p:nvSpPr>
          <p:cNvPr id="11" name="text-61"/>
          <p:cNvSpPr txBox="1"/>
          <p:nvPr/>
        </p:nvSpPr>
        <p:spPr>
          <a:xfrm>
            <a:off x="6099048" y="2057400"/>
            <a:ext cx="1600200" cy="274320"/>
          </a:xfrm>
          <a:prstGeom prst="rect">
            <a:avLst/>
          </a:prstGeom>
          <a:noFill/>
          <a:ln/>
        </p:spPr>
        <p:txBody>
          <a:bodyPr wrap="square" lIns="0" tIns="0" rIns="0" bIns="0" rtlCol="0" anchor="t"/>
          <a:lstStyle/>
          <a:p>
            <a:pPr algn="r" indent="0" marL="0">
              <a:buNone/>
            </a:pPr>
            <a:r>
              <a:rPr lang="en-US" sz="1100" dirty="0">
                <a:solidFill>
                  <a:schemeClr val="bg2"/>
                </a:solidFill>
                <a:latin typeface="Consolas" pitchFamily="34" charset="0"/>
                <a:ea typeface="Consolas" pitchFamily="34" charset="-122"/>
                <a:cs typeface="Consolas" pitchFamily="34" charset="-120"/>
              </a:rPr>
              <a:t>textbook</a:t>
            </a:r>
            <a:endParaRPr lang="en-US" sz="1100" dirty="0"/>
          </a:p>
        </p:txBody>
      </p:sp>
      <p:sp>
        <p:nvSpPr>
          <p:cNvPr id="12" name="text-62"/>
          <p:cNvSpPr txBox="1"/>
          <p:nvPr/>
        </p:nvSpPr>
        <p:spPr>
          <a:xfrm>
            <a:off x="4681728" y="2560320"/>
            <a:ext cx="2971800" cy="1005840"/>
          </a:xfrm>
          <a:prstGeom prst="rect">
            <a:avLst/>
          </a:prstGeom>
          <a:noFill/>
          <a:ln/>
        </p:spPr>
        <p:txBody>
          <a:bodyPr wrap="square" lIns="0" tIns="0" rIns="0" bIns="0" rtlCol="0" anchor="t"/>
          <a:lstStyle/>
          <a:p>
            <a:pPr indent="0" marL="0">
              <a:buNone/>
            </a:pPr>
            <a:r>
              <a:rPr lang="en-US" sz="1500" dirty="0">
                <a:solidFill>
                  <a:schemeClr val="bg2"/>
                </a:solidFill>
              </a:rPr>
              <a:t>Shortest arrived task first. Lowest average wait; long tasks can starve.</a:t>
            </a:r>
            <a:endParaRPr lang="en-US" sz="1500" dirty="0"/>
          </a:p>
        </p:txBody>
      </p:sp>
      <p:sp>
        <p:nvSpPr>
          <p:cNvPr id="13" name="panel-63"/>
          <p:cNvSpPr/>
          <p:nvPr/>
        </p:nvSpPr>
        <p:spPr>
          <a:xfrm>
            <a:off x="8266176" y="1783080"/>
            <a:ext cx="3520440" cy="1965960"/>
          </a:xfrm>
          <a:prstGeom prst="roundRect">
            <a:avLst>
              <a:gd name="adj" fmla="val 3721"/>
            </a:avLst>
          </a:prstGeom>
          <a:solidFill>
            <a:schemeClr val="tx2"/>
          </a:solidFill>
          <a:ln w="9525">
            <a:solidFill>
              <a:schemeClr val="accent6"/>
            </a:solidFill>
            <a:prstDash val="solid"/>
          </a:ln>
        </p:spPr>
      </p:sp>
      <p:sp>
        <p:nvSpPr>
          <p:cNvPr id="14" name="text-64"/>
          <p:cNvSpPr txBox="1"/>
          <p:nvPr/>
        </p:nvSpPr>
        <p:spPr>
          <a:xfrm>
            <a:off x="8540496" y="1984248"/>
            <a:ext cx="182880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Priority</a:t>
            </a:r>
            <a:endParaRPr lang="en-US" sz="2200" dirty="0"/>
          </a:p>
        </p:txBody>
      </p:sp>
      <p:sp>
        <p:nvSpPr>
          <p:cNvPr id="15" name="text-65"/>
          <p:cNvSpPr txBox="1"/>
          <p:nvPr/>
        </p:nvSpPr>
        <p:spPr>
          <a:xfrm>
            <a:off x="9957816" y="2057400"/>
            <a:ext cx="1600200" cy="274320"/>
          </a:xfrm>
          <a:prstGeom prst="rect">
            <a:avLst/>
          </a:prstGeom>
          <a:noFill/>
          <a:ln/>
        </p:spPr>
        <p:txBody>
          <a:bodyPr wrap="square" lIns="0" tIns="0" rIns="0" bIns="0" rtlCol="0" anchor="t"/>
          <a:lstStyle/>
          <a:p>
            <a:pPr algn="r" indent="0" marL="0">
              <a:buNone/>
            </a:pPr>
            <a:r>
              <a:rPr lang="en-US" sz="1100" dirty="0">
                <a:solidFill>
                  <a:schemeClr val="accent3"/>
                </a:solidFill>
                <a:latin typeface="Consolas" pitchFamily="34" charset="0"/>
                <a:ea typeface="Consolas" pitchFamily="34" charset="-122"/>
                <a:cs typeface="Consolas" pitchFamily="34" charset="-120"/>
              </a:rPr>
              <a:t>Slurm-inspired</a:t>
            </a:r>
            <a:endParaRPr lang="en-US" sz="1100" dirty="0"/>
          </a:p>
        </p:txBody>
      </p:sp>
      <p:sp>
        <p:nvSpPr>
          <p:cNvPr id="16" name="text-66"/>
          <p:cNvSpPr txBox="1"/>
          <p:nvPr/>
        </p:nvSpPr>
        <p:spPr>
          <a:xfrm>
            <a:off x="8540496" y="2560320"/>
            <a:ext cx="2971800" cy="1005840"/>
          </a:xfrm>
          <a:prstGeom prst="rect">
            <a:avLst/>
          </a:prstGeom>
          <a:noFill/>
          <a:ln/>
        </p:spPr>
        <p:txBody>
          <a:bodyPr wrap="square" lIns="0" tIns="0" rIns="0" bIns="0" rtlCol="0" anchor="t"/>
          <a:lstStyle/>
          <a:p>
            <a:pPr indent="0" marL="0">
              <a:buNone/>
            </a:pPr>
            <a:r>
              <a:rPr lang="en-US" sz="1500" dirty="0">
                <a:solidFill>
                  <a:schemeClr val="bg2"/>
                </a:solidFill>
              </a:rPr>
              <a:t>Five-term effective priority with aging and Slurm-style fair-share decay.</a:t>
            </a:r>
            <a:endParaRPr lang="en-US" sz="1500" dirty="0"/>
          </a:p>
        </p:txBody>
      </p:sp>
      <p:sp>
        <p:nvSpPr>
          <p:cNvPr id="17" name="panel-67"/>
          <p:cNvSpPr/>
          <p:nvPr/>
        </p:nvSpPr>
        <p:spPr>
          <a:xfrm>
            <a:off x="548640" y="4023360"/>
            <a:ext cx="3520440" cy="1965960"/>
          </a:xfrm>
          <a:prstGeom prst="roundRect">
            <a:avLst>
              <a:gd name="adj" fmla="val 3721"/>
            </a:avLst>
          </a:prstGeom>
          <a:solidFill>
            <a:schemeClr val="tx2"/>
          </a:solidFill>
          <a:ln w="9525">
            <a:solidFill>
              <a:schemeClr val="accent6"/>
            </a:solidFill>
            <a:prstDash val="solid"/>
          </a:ln>
        </p:spPr>
      </p:sp>
      <p:sp>
        <p:nvSpPr>
          <p:cNvPr id="18" name="text-68"/>
          <p:cNvSpPr txBox="1"/>
          <p:nvPr/>
        </p:nvSpPr>
        <p:spPr>
          <a:xfrm>
            <a:off x="822960" y="4224528"/>
            <a:ext cx="182880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Round Robin</a:t>
            </a:r>
            <a:endParaRPr lang="en-US" sz="2200" dirty="0"/>
          </a:p>
        </p:txBody>
      </p:sp>
      <p:sp>
        <p:nvSpPr>
          <p:cNvPr id="19" name="text-69"/>
          <p:cNvSpPr txBox="1"/>
          <p:nvPr/>
        </p:nvSpPr>
        <p:spPr>
          <a:xfrm>
            <a:off x="2240280" y="4297680"/>
            <a:ext cx="1600200" cy="274320"/>
          </a:xfrm>
          <a:prstGeom prst="rect">
            <a:avLst/>
          </a:prstGeom>
          <a:noFill/>
          <a:ln/>
        </p:spPr>
        <p:txBody>
          <a:bodyPr wrap="square" lIns="0" tIns="0" rIns="0" bIns="0" rtlCol="0" anchor="t"/>
          <a:lstStyle/>
          <a:p>
            <a:pPr algn="r" indent="0" marL="0">
              <a:buNone/>
            </a:pPr>
            <a:r>
              <a:rPr lang="en-US" sz="1100" dirty="0">
                <a:solidFill>
                  <a:schemeClr val="bg2"/>
                </a:solidFill>
                <a:latin typeface="Consolas" pitchFamily="34" charset="0"/>
                <a:ea typeface="Consolas" pitchFamily="34" charset="-122"/>
                <a:cs typeface="Consolas" pitchFamily="34" charset="-120"/>
              </a:rPr>
              <a:t>textbook</a:t>
            </a:r>
            <a:endParaRPr lang="en-US" sz="1100" dirty="0"/>
          </a:p>
        </p:txBody>
      </p:sp>
      <p:sp>
        <p:nvSpPr>
          <p:cNvPr id="20" name="text-70"/>
          <p:cNvSpPr txBox="1"/>
          <p:nvPr/>
        </p:nvSpPr>
        <p:spPr>
          <a:xfrm>
            <a:off x="822960" y="4800600"/>
            <a:ext cx="2971800" cy="1005840"/>
          </a:xfrm>
          <a:prstGeom prst="rect">
            <a:avLst/>
          </a:prstGeom>
          <a:noFill/>
          <a:ln/>
        </p:spPr>
        <p:txBody>
          <a:bodyPr wrap="square" lIns="0" tIns="0" rIns="0" bIns="0" rtlCol="0" anchor="t"/>
          <a:lstStyle/>
          <a:p>
            <a:pPr indent="0" marL="0">
              <a:buNone/>
            </a:pPr>
            <a:r>
              <a:rPr lang="en-US" sz="1500" dirty="0">
                <a:solidFill>
                  <a:schemeClr val="bg2"/>
                </a:solidFill>
              </a:rPr>
              <a:t>Every task gets a 4-minute turn in rotation. Bounded wait between turns.</a:t>
            </a:r>
            <a:endParaRPr lang="en-US" sz="1500" dirty="0"/>
          </a:p>
        </p:txBody>
      </p:sp>
      <p:sp>
        <p:nvSpPr>
          <p:cNvPr id="21" name="panel-71"/>
          <p:cNvSpPr/>
          <p:nvPr/>
        </p:nvSpPr>
        <p:spPr>
          <a:xfrm>
            <a:off x="4407408" y="4023360"/>
            <a:ext cx="3520440" cy="1965960"/>
          </a:xfrm>
          <a:prstGeom prst="roundRect">
            <a:avLst>
              <a:gd name="adj" fmla="val 3721"/>
            </a:avLst>
          </a:prstGeom>
          <a:solidFill>
            <a:schemeClr val="tx2"/>
          </a:solidFill>
          <a:ln w="9525">
            <a:solidFill>
              <a:schemeClr val="accent6"/>
            </a:solidFill>
            <a:prstDash val="solid"/>
          </a:ln>
        </p:spPr>
      </p:sp>
      <p:sp>
        <p:nvSpPr>
          <p:cNvPr id="22" name="text-72"/>
          <p:cNvSpPr txBox="1"/>
          <p:nvPr/>
        </p:nvSpPr>
        <p:spPr>
          <a:xfrm>
            <a:off x="4681728" y="4224528"/>
            <a:ext cx="182880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EEVDF</a:t>
            </a:r>
            <a:endParaRPr lang="en-US" sz="2200" dirty="0"/>
          </a:p>
        </p:txBody>
      </p:sp>
      <p:sp>
        <p:nvSpPr>
          <p:cNvPr id="23" name="text-73"/>
          <p:cNvSpPr txBox="1"/>
          <p:nvPr/>
        </p:nvSpPr>
        <p:spPr>
          <a:xfrm>
            <a:off x="6099048" y="4297680"/>
            <a:ext cx="1600200" cy="274320"/>
          </a:xfrm>
          <a:prstGeom prst="rect">
            <a:avLst/>
          </a:prstGeom>
          <a:noFill/>
          <a:ln/>
        </p:spPr>
        <p:txBody>
          <a:bodyPr wrap="square" lIns="0" tIns="0" rIns="0" bIns="0" rtlCol="0" anchor="t"/>
          <a:lstStyle/>
          <a:p>
            <a:pPr algn="r" indent="0" marL="0">
              <a:buNone/>
            </a:pPr>
            <a:r>
              <a:rPr lang="en-US" sz="1100" dirty="0">
                <a:solidFill>
                  <a:schemeClr val="accent1"/>
                </a:solidFill>
                <a:latin typeface="Consolas" pitchFamily="34" charset="0"/>
                <a:ea typeface="Consolas" pitchFamily="34" charset="-122"/>
                <a:cs typeface="Consolas" pitchFamily="34" charset="-120"/>
              </a:rPr>
              <a:t>Linux since 6.6</a:t>
            </a:r>
            <a:endParaRPr lang="en-US" sz="1100" dirty="0"/>
          </a:p>
        </p:txBody>
      </p:sp>
      <p:sp>
        <p:nvSpPr>
          <p:cNvPr id="24" name="text-74"/>
          <p:cNvSpPr txBox="1"/>
          <p:nvPr/>
        </p:nvSpPr>
        <p:spPr>
          <a:xfrm>
            <a:off x="4681728" y="4800600"/>
            <a:ext cx="2971800" cy="1005840"/>
          </a:xfrm>
          <a:prstGeom prst="rect">
            <a:avLst/>
          </a:prstGeom>
          <a:noFill/>
          <a:ln/>
        </p:spPr>
        <p:txBody>
          <a:bodyPr wrap="square" lIns="0" tIns="0" rIns="0" bIns="0" rtlCol="0" anchor="t"/>
          <a:lstStyle/>
          <a:p>
            <a:pPr indent="0" marL="0">
              <a:buNone/>
            </a:pPr>
            <a:r>
              <a:rPr lang="en-US" sz="1500" dirty="0">
                <a:solidFill>
                  <a:schemeClr val="bg2"/>
                </a:solidFill>
              </a:rPr>
              <a:t>Weighted fair sharing: eligible tasks by earliest virtual deadline.</a:t>
            </a:r>
            <a:endParaRPr lang="en-US" sz="1500" dirty="0"/>
          </a:p>
        </p:txBody>
      </p:sp>
      <p:sp>
        <p:nvSpPr>
          <p:cNvPr id="25" name="panel-75"/>
          <p:cNvSpPr/>
          <p:nvPr/>
        </p:nvSpPr>
        <p:spPr>
          <a:xfrm>
            <a:off x="8266176" y="4023360"/>
            <a:ext cx="3520440" cy="1965960"/>
          </a:xfrm>
          <a:prstGeom prst="roundRect">
            <a:avLst>
              <a:gd name="adj" fmla="val 3721"/>
            </a:avLst>
          </a:prstGeom>
          <a:solidFill>
            <a:schemeClr val="tx2"/>
          </a:solidFill>
          <a:ln w="9525">
            <a:solidFill>
              <a:schemeClr val="accent6"/>
            </a:solidFill>
            <a:prstDash val="solid"/>
          </a:ln>
        </p:spPr>
      </p:sp>
      <p:sp>
        <p:nvSpPr>
          <p:cNvPr id="26" name="text-76"/>
          <p:cNvSpPr txBox="1"/>
          <p:nvPr/>
        </p:nvSpPr>
        <p:spPr>
          <a:xfrm>
            <a:off x="8540496" y="4224528"/>
            <a:ext cx="182880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MLFQ</a:t>
            </a:r>
            <a:endParaRPr lang="en-US" sz="2200" dirty="0"/>
          </a:p>
        </p:txBody>
      </p:sp>
      <p:sp>
        <p:nvSpPr>
          <p:cNvPr id="27" name="text-77"/>
          <p:cNvSpPr txBox="1"/>
          <p:nvPr/>
        </p:nvSpPr>
        <p:spPr>
          <a:xfrm>
            <a:off x="9957816" y="4297680"/>
            <a:ext cx="1600200" cy="274320"/>
          </a:xfrm>
          <a:prstGeom prst="rect">
            <a:avLst/>
          </a:prstGeom>
          <a:noFill/>
          <a:ln/>
        </p:spPr>
        <p:txBody>
          <a:bodyPr wrap="square" lIns="0" tIns="0" rIns="0" bIns="0" rtlCol="0" anchor="t"/>
          <a:lstStyle/>
          <a:p>
            <a:pPr algn="r" indent="0" marL="0">
              <a:buNone/>
            </a:pPr>
            <a:r>
              <a:rPr lang="en-US" sz="1100" dirty="0">
                <a:solidFill>
                  <a:schemeClr val="accent2"/>
                </a:solidFill>
                <a:latin typeface="Consolas" pitchFamily="34" charset="0"/>
                <a:ea typeface="Consolas" pitchFamily="34" charset="-122"/>
                <a:cs typeface="Consolas" pitchFamily="34" charset="-120"/>
              </a:rPr>
              <a:t>OSTEP</a:t>
            </a:r>
            <a:endParaRPr lang="en-US" sz="1100" dirty="0"/>
          </a:p>
        </p:txBody>
      </p:sp>
      <p:sp>
        <p:nvSpPr>
          <p:cNvPr id="28" name="text-78"/>
          <p:cNvSpPr txBox="1"/>
          <p:nvPr/>
        </p:nvSpPr>
        <p:spPr>
          <a:xfrm>
            <a:off x="8540496" y="4800600"/>
            <a:ext cx="2971800" cy="1005840"/>
          </a:xfrm>
          <a:prstGeom prst="rect">
            <a:avLst/>
          </a:prstGeom>
          <a:noFill/>
          <a:ln/>
        </p:spPr>
        <p:txBody>
          <a:bodyPr wrap="square" lIns="0" tIns="0" rIns="0" bIns="0" rtlCol="0" anchor="t"/>
          <a:lstStyle/>
          <a:p>
            <a:pPr indent="0" marL="0">
              <a:buNone/>
            </a:pPr>
            <a:r>
              <a:rPr lang="en-US" sz="1500" dirty="0">
                <a:solidFill>
                  <a:schemeClr val="bg2"/>
                </a:solidFill>
              </a:rPr>
              <a:t>Three queues, demotion on allotment use, periodic boost against starvation.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schedule --algo eevdf</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EEVDF turns priority into weighted sharing</a:t>
            </a:r>
            <a:endParaRPr lang="en-US" sz="3400" dirty="0"/>
          </a:p>
        </p:txBody>
      </p:sp>
      <p:sp>
        <p:nvSpPr>
          <p:cNvPr id="5" name="frame-79"/>
          <p:cNvSpPr/>
          <p:nvPr/>
        </p:nvSpPr>
        <p:spPr>
          <a:xfrm>
            <a:off x="924922" y="1664208"/>
            <a:ext cx="6791235" cy="4626864"/>
          </a:xfrm>
          <a:prstGeom prst="rect">
            <a:avLst/>
          </a:prstGeom>
          <a:solidFill>
            <a:schemeClr val="accent6"/>
          </a:solidFill>
          <a:ln w="12700">
            <a:solidFill>
              <a:schemeClr val="accent6"/>
            </a:solidFill>
            <a:prstDash val="solid"/>
          </a:ln>
        </p:spPr>
      </p:sp>
      <p:pic>
        <p:nvPicPr>
          <p:cNvPr id="6" name="img-80" descr="D:/Downloads/Projects/OS/procura/docs/screenshots/09_scheduler_eevdf.png">    </p:cNvPr>
          <p:cNvPicPr>
            <a:picLocks noChangeAspect="1"/>
          </p:cNvPicPr>
          <p:nvPr/>
        </p:nvPicPr>
        <p:blipFill>
          <a:blip r:embed="rId1"/>
          <a:stretch>
            <a:fillRect/>
          </a:stretch>
        </p:blipFill>
        <p:spPr>
          <a:xfrm>
            <a:off x="952354" y="1691640"/>
            <a:ext cx="6736371" cy="4572000"/>
          </a:xfrm>
          <a:prstGeom prst="rect">
            <a:avLst/>
          </a:prstGeom>
        </p:spPr>
      </p:pic>
      <p:sp>
        <p:nvSpPr>
          <p:cNvPr id="7" name="text-81"/>
          <p:cNvSpPr txBox="1"/>
          <p:nvPr/>
        </p:nvSpPr>
        <p:spPr>
          <a:xfrm>
            <a:off x="8503920" y="1737360"/>
            <a:ext cx="3154680" cy="64008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187</a:t>
            </a:r>
            <a:endParaRPr lang="en-US" sz="3800" dirty="0"/>
          </a:p>
        </p:txBody>
      </p:sp>
      <p:sp>
        <p:nvSpPr>
          <p:cNvPr id="8" name="text-82"/>
          <p:cNvSpPr txBox="1"/>
          <p:nvPr/>
        </p:nvSpPr>
        <p:spPr>
          <a:xfrm>
            <a:off x="8503920" y="2395728"/>
            <a:ext cx="3154680" cy="640080"/>
          </a:xfrm>
          <a:prstGeom prst="rect">
            <a:avLst/>
          </a:prstGeom>
          <a:noFill/>
          <a:ln/>
        </p:spPr>
        <p:txBody>
          <a:bodyPr wrap="square" lIns="0" tIns="0" rIns="0" bIns="0" rtlCol="0" anchor="t"/>
          <a:lstStyle/>
          <a:p>
            <a:pPr indent="0" marL="0">
              <a:buNone/>
            </a:pPr>
            <a:r>
              <a:rPr lang="en-US" sz="1400" dirty="0">
                <a:solidFill>
                  <a:schemeClr val="bg2"/>
                </a:solidFill>
              </a:rPr>
              <a:t>dispatch slices on a 740-minute timeline</a:t>
            </a:r>
            <a:endParaRPr lang="en-US" sz="1400" dirty="0"/>
          </a:p>
        </p:txBody>
      </p:sp>
      <p:sp>
        <p:nvSpPr>
          <p:cNvPr id="9" name="text-83"/>
          <p:cNvSpPr txBox="1"/>
          <p:nvPr/>
        </p:nvSpPr>
        <p:spPr>
          <a:xfrm>
            <a:off x="8503920" y="3246120"/>
            <a:ext cx="3154680" cy="64008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0 min</a:t>
            </a:r>
            <a:endParaRPr lang="en-US" sz="3800" dirty="0"/>
          </a:p>
        </p:txBody>
      </p:sp>
      <p:sp>
        <p:nvSpPr>
          <p:cNvPr id="10" name="text-84"/>
          <p:cNvSpPr txBox="1"/>
          <p:nvPr/>
        </p:nvSpPr>
        <p:spPr>
          <a:xfrm>
            <a:off x="8503920" y="3904488"/>
            <a:ext cx="3154680" cy="640080"/>
          </a:xfrm>
          <a:prstGeom prst="rect">
            <a:avLst/>
          </a:prstGeom>
          <a:noFill/>
          <a:ln/>
        </p:spPr>
        <p:txBody>
          <a:bodyPr wrap="square" lIns="0" tIns="0" rIns="0" bIns="0" rtlCol="0" anchor="t"/>
          <a:lstStyle/>
          <a:p>
            <a:pPr indent="0" marL="0">
              <a:buNone/>
            </a:pPr>
            <a:r>
              <a:rPr lang="en-US" sz="1400" dirty="0">
                <a:solidFill>
                  <a:schemeClr val="bg2"/>
                </a:solidFill>
              </a:rPr>
              <a:t>until the High-priority term paper first runs</a:t>
            </a:r>
            <a:endParaRPr lang="en-US" sz="1400" dirty="0"/>
          </a:p>
        </p:txBody>
      </p:sp>
      <p:sp>
        <p:nvSpPr>
          <p:cNvPr id="11" name="text-85"/>
          <p:cNvSpPr txBox="1"/>
          <p:nvPr/>
        </p:nvSpPr>
        <p:spPr>
          <a:xfrm>
            <a:off x="8503920" y="4754880"/>
            <a:ext cx="3154680" cy="64008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~48 min</a:t>
            </a:r>
            <a:endParaRPr lang="en-US" sz="3800" dirty="0"/>
          </a:p>
        </p:txBody>
      </p:sp>
      <p:sp>
        <p:nvSpPr>
          <p:cNvPr id="12" name="text-86"/>
          <p:cNvSpPr txBox="1"/>
          <p:nvPr/>
        </p:nvSpPr>
        <p:spPr>
          <a:xfrm>
            <a:off x="8503920" y="5413248"/>
            <a:ext cx="3154680" cy="640080"/>
          </a:xfrm>
          <a:prstGeom prst="rect">
            <a:avLst/>
          </a:prstGeom>
          <a:noFill/>
          <a:ln/>
        </p:spPr>
        <p:txBody>
          <a:bodyPr wrap="square" lIns="0" tIns="0" rIns="0" bIns="0" rtlCol="0" anchor="t"/>
          <a:lstStyle/>
          <a:p>
            <a:pPr indent="0" marL="0">
              <a:buNone/>
            </a:pPr>
            <a:r>
              <a:rPr lang="en-US" sz="1400" dirty="0">
                <a:solidFill>
                  <a:schemeClr val="bg2"/>
                </a:solidFill>
              </a:rPr>
              <a:t>until the Low-priority errand runs — but it always does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python -m benchmark.run_benchmark --seed 42</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SJF minimises the average wait — not the worst case</a:t>
            </a:r>
            <a:endParaRPr lang="en-US" sz="3400" dirty="0"/>
          </a:p>
        </p:txBody>
      </p:sp>
      <p:graphicFrame>
        <p:nvGraphicFramePr>
          <p:cNvPr id="5" name="chart-87" descr=""/>
          <p:cNvGraphicFramePr/>
          <p:nvPr/>
        </p:nvGraphicFramePr>
        <p:xfrm>
          <a:off x="548640" y="164592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6" name="text-88"/>
          <p:cNvSpPr txBox="1"/>
          <p:nvPr/>
        </p:nvSpPr>
        <p:spPr>
          <a:xfrm>
            <a:off x="8641080" y="1783080"/>
            <a:ext cx="301752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34 min</a:t>
            </a:r>
            <a:endParaRPr lang="en-US" sz="3600" dirty="0"/>
          </a:p>
        </p:txBody>
      </p:sp>
      <p:sp>
        <p:nvSpPr>
          <p:cNvPr id="7" name="text-89"/>
          <p:cNvSpPr txBox="1"/>
          <p:nvPr/>
        </p:nvSpPr>
        <p:spPr>
          <a:xfrm>
            <a:off x="8641080" y="2441448"/>
            <a:ext cx="3017520" cy="640080"/>
          </a:xfrm>
          <a:prstGeom prst="rect">
            <a:avLst/>
          </a:prstGeom>
          <a:noFill/>
          <a:ln/>
        </p:spPr>
        <p:txBody>
          <a:bodyPr wrap="square" lIns="0" tIns="0" rIns="0" bIns="0" rtlCol="0" anchor="t"/>
          <a:lstStyle/>
          <a:p>
            <a:pPr indent="0" marL="0">
              <a:buNone/>
            </a:pPr>
            <a:r>
              <a:rPr lang="en-US" sz="1400" dirty="0">
                <a:solidFill>
                  <a:schemeClr val="bg2"/>
                </a:solidFill>
              </a:rPr>
              <a:t>SJF average wait — lowest of all six</a:t>
            </a:r>
            <a:endParaRPr lang="en-US" sz="1400" dirty="0"/>
          </a:p>
        </p:txBody>
      </p:sp>
      <p:sp>
        <p:nvSpPr>
          <p:cNvPr id="8" name="text-90"/>
          <p:cNvSpPr txBox="1"/>
          <p:nvPr/>
        </p:nvSpPr>
        <p:spPr>
          <a:xfrm>
            <a:off x="8641080" y="3246120"/>
            <a:ext cx="3017520" cy="64008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163 vs 134</a:t>
            </a:r>
            <a:endParaRPr lang="en-US" sz="3600" dirty="0"/>
          </a:p>
        </p:txBody>
      </p:sp>
      <p:sp>
        <p:nvSpPr>
          <p:cNvPr id="9" name="text-91"/>
          <p:cNvSpPr txBox="1"/>
          <p:nvPr/>
        </p:nvSpPr>
        <p:spPr>
          <a:xfrm>
            <a:off x="8641080" y="3904488"/>
            <a:ext cx="3017520" cy="640080"/>
          </a:xfrm>
          <a:prstGeom prst="rect">
            <a:avLst/>
          </a:prstGeom>
          <a:noFill/>
          <a:ln/>
        </p:spPr>
        <p:txBody>
          <a:bodyPr wrap="square" lIns="0" tIns="0" rIns="0" bIns="0" rtlCol="0" anchor="t"/>
          <a:lstStyle/>
          <a:p>
            <a:pPr indent="0" marL="0">
              <a:buNone/>
            </a:pPr>
            <a:r>
              <a:rPr lang="en-US" sz="1400" dirty="0">
                <a:solidFill>
                  <a:schemeClr val="bg2"/>
                </a:solidFill>
              </a:rPr>
              <a:t>SJF vs FCFS worst-case wait (min)</a:t>
            </a:r>
            <a:endParaRPr lang="en-US" sz="1400" dirty="0"/>
          </a:p>
        </p:txBody>
      </p:sp>
      <p:sp>
        <p:nvSpPr>
          <p:cNvPr id="10" name="text-92"/>
          <p:cNvSpPr txBox="1"/>
          <p:nvPr/>
        </p:nvSpPr>
        <p:spPr>
          <a:xfrm>
            <a:off x="8641080" y="4709160"/>
            <a:ext cx="3017520" cy="64008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228.67</a:t>
            </a:r>
            <a:endParaRPr lang="en-US" sz="3600" dirty="0"/>
          </a:p>
        </p:txBody>
      </p:sp>
      <p:sp>
        <p:nvSpPr>
          <p:cNvPr id="11" name="text-93"/>
          <p:cNvSpPr txBox="1"/>
          <p:nvPr/>
        </p:nvSpPr>
        <p:spPr>
          <a:xfrm>
            <a:off x="8641080" y="5367528"/>
            <a:ext cx="3017520" cy="640080"/>
          </a:xfrm>
          <a:prstGeom prst="rect">
            <a:avLst/>
          </a:prstGeom>
          <a:noFill/>
          <a:ln/>
        </p:spPr>
        <p:txBody>
          <a:bodyPr wrap="square" lIns="0" tIns="0" rIns="0" bIns="0" rtlCol="0" anchor="t"/>
          <a:lstStyle/>
          <a:p>
            <a:pPr indent="0" marL="0">
              <a:buNone/>
            </a:pPr>
            <a:r>
              <a:rPr lang="en-US" sz="1400" dirty="0">
                <a:solidFill>
                  <a:schemeClr val="bg2"/>
                </a:solidFill>
              </a:rPr>
              <a:t>identical makespan: all six are work-conserving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schedule --compare --live</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Preemption buys responsiveness with waiting time</a:t>
            </a:r>
            <a:endParaRPr lang="en-US" sz="3400" dirty="0"/>
          </a:p>
        </p:txBody>
      </p:sp>
      <p:sp>
        <p:nvSpPr>
          <p:cNvPr id="5" name="panel-94"/>
          <p:cNvSpPr/>
          <p:nvPr/>
        </p:nvSpPr>
        <p:spPr>
          <a:xfrm>
            <a:off x="548640" y="1874520"/>
            <a:ext cx="3520440" cy="2377440"/>
          </a:xfrm>
          <a:prstGeom prst="roundRect">
            <a:avLst>
              <a:gd name="adj" fmla="val 3077"/>
            </a:avLst>
          </a:prstGeom>
          <a:solidFill>
            <a:schemeClr val="tx2"/>
          </a:solidFill>
          <a:ln w="9525">
            <a:solidFill>
              <a:schemeClr val="accent6"/>
            </a:solidFill>
            <a:prstDash val="solid"/>
          </a:ln>
        </p:spPr>
      </p:sp>
      <p:sp>
        <p:nvSpPr>
          <p:cNvPr id="6" name="text-95"/>
          <p:cNvSpPr txBox="1"/>
          <p:nvPr/>
        </p:nvSpPr>
        <p:spPr>
          <a:xfrm>
            <a:off x="868680" y="2103120"/>
            <a:ext cx="3017520" cy="91440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431 min</a:t>
            </a:r>
            <a:endParaRPr lang="en-US" sz="5400" dirty="0"/>
          </a:p>
        </p:txBody>
      </p:sp>
      <p:sp>
        <p:nvSpPr>
          <p:cNvPr id="7" name="text-96"/>
          <p:cNvSpPr txBox="1"/>
          <p:nvPr/>
        </p:nvSpPr>
        <p:spPr>
          <a:xfrm>
            <a:off x="868680" y="3154680"/>
            <a:ext cx="2926080" cy="914400"/>
          </a:xfrm>
          <a:prstGeom prst="rect">
            <a:avLst/>
          </a:prstGeom>
          <a:noFill/>
          <a:ln/>
        </p:spPr>
        <p:txBody>
          <a:bodyPr wrap="square" lIns="0" tIns="0" rIns="0" bIns="0" rtlCol="0" anchor="t"/>
          <a:lstStyle/>
          <a:p>
            <a:pPr indent="0" marL="0">
              <a:buNone/>
            </a:pPr>
            <a:r>
              <a:rPr lang="en-US" sz="1500" dirty="0">
                <a:solidFill>
                  <a:schemeClr val="bg2"/>
                </a:solidFill>
              </a:rPr>
              <a:t>FCFS — average time until a task first runs</a:t>
            </a:r>
            <a:endParaRPr lang="en-US" sz="1500" dirty="0"/>
          </a:p>
        </p:txBody>
      </p:sp>
      <p:sp>
        <p:nvSpPr>
          <p:cNvPr id="8" name="panel-97"/>
          <p:cNvSpPr/>
          <p:nvPr/>
        </p:nvSpPr>
        <p:spPr>
          <a:xfrm>
            <a:off x="4389120" y="1874520"/>
            <a:ext cx="3520440" cy="2377440"/>
          </a:xfrm>
          <a:prstGeom prst="roundRect">
            <a:avLst>
              <a:gd name="adj" fmla="val 3077"/>
            </a:avLst>
          </a:prstGeom>
          <a:solidFill>
            <a:schemeClr val="tx2"/>
          </a:solidFill>
          <a:ln w="9525">
            <a:solidFill>
              <a:schemeClr val="accent6"/>
            </a:solidFill>
            <a:prstDash val="solid"/>
          </a:ln>
        </p:spPr>
      </p:sp>
      <p:sp>
        <p:nvSpPr>
          <p:cNvPr id="9" name="text-98"/>
          <p:cNvSpPr txBox="1"/>
          <p:nvPr/>
        </p:nvSpPr>
        <p:spPr>
          <a:xfrm>
            <a:off x="4709160" y="2103120"/>
            <a:ext cx="3017520" cy="914400"/>
          </a:xfrm>
          <a:prstGeom prst="rect">
            <a:avLst/>
          </a:prstGeom>
          <a:noFill/>
          <a:ln/>
        </p:spPr>
        <p:txBody>
          <a:bodyPr wrap="square" lIns="0" tIns="0" rIns="0" bIns="0" rtlCol="0" anchor="b"/>
          <a:lstStyle/>
          <a:p>
            <a:pPr indent="0" marL="0">
              <a:buNone/>
            </a:pPr>
            <a:r>
              <a:rPr lang="en-US" sz="5400" b="1" dirty="0">
                <a:solidFill>
                  <a:schemeClr val="accent3"/>
                </a:solidFill>
                <a:latin typeface="Cambria" pitchFamily="34" charset="0"/>
                <a:ea typeface="Cambria" pitchFamily="34" charset="-122"/>
                <a:cs typeface="Cambria" pitchFamily="34" charset="-120"/>
              </a:rPr>
              <a:t>173 min</a:t>
            </a:r>
            <a:endParaRPr lang="en-US" sz="5400" dirty="0"/>
          </a:p>
        </p:txBody>
      </p:sp>
      <p:sp>
        <p:nvSpPr>
          <p:cNvPr id="10" name="text-99"/>
          <p:cNvSpPr txBox="1"/>
          <p:nvPr/>
        </p:nvSpPr>
        <p:spPr>
          <a:xfrm>
            <a:off x="4709160" y="3154680"/>
            <a:ext cx="2926080" cy="914400"/>
          </a:xfrm>
          <a:prstGeom prst="rect">
            <a:avLst/>
          </a:prstGeom>
          <a:noFill/>
          <a:ln/>
        </p:spPr>
        <p:txBody>
          <a:bodyPr wrap="square" lIns="0" tIns="0" rIns="0" bIns="0" rtlCol="0" anchor="t"/>
          <a:lstStyle/>
          <a:p>
            <a:pPr indent="0" marL="0">
              <a:buNone/>
            </a:pPr>
            <a:r>
              <a:rPr lang="en-US" sz="1500" dirty="0">
                <a:solidFill>
                  <a:schemeClr val="bg2"/>
                </a:solidFill>
              </a:rPr>
              <a:t>SJF — non-preemptive, shortest first</a:t>
            </a:r>
            <a:endParaRPr lang="en-US" sz="1500" dirty="0"/>
          </a:p>
        </p:txBody>
      </p:sp>
      <p:sp>
        <p:nvSpPr>
          <p:cNvPr id="11" name="panel-100"/>
          <p:cNvSpPr/>
          <p:nvPr/>
        </p:nvSpPr>
        <p:spPr>
          <a:xfrm>
            <a:off x="8229600" y="1874520"/>
            <a:ext cx="3520440" cy="2377440"/>
          </a:xfrm>
          <a:prstGeom prst="roundRect">
            <a:avLst>
              <a:gd name="adj" fmla="val 3077"/>
            </a:avLst>
          </a:prstGeom>
          <a:solidFill>
            <a:schemeClr val="tx2"/>
          </a:solidFill>
          <a:ln w="9525">
            <a:solidFill>
              <a:schemeClr val="accent6"/>
            </a:solidFill>
            <a:prstDash val="solid"/>
          </a:ln>
        </p:spPr>
      </p:sp>
      <p:sp>
        <p:nvSpPr>
          <p:cNvPr id="12" name="text-101"/>
          <p:cNvSpPr txBox="1"/>
          <p:nvPr/>
        </p:nvSpPr>
        <p:spPr>
          <a:xfrm>
            <a:off x="8549640" y="2103120"/>
            <a:ext cx="3017520" cy="91440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12 min</a:t>
            </a:r>
            <a:endParaRPr lang="en-US" sz="5400" dirty="0"/>
          </a:p>
        </p:txBody>
      </p:sp>
      <p:sp>
        <p:nvSpPr>
          <p:cNvPr id="13" name="text-102"/>
          <p:cNvSpPr txBox="1"/>
          <p:nvPr/>
        </p:nvSpPr>
        <p:spPr>
          <a:xfrm>
            <a:off x="8549640" y="3154680"/>
            <a:ext cx="2926080" cy="914400"/>
          </a:xfrm>
          <a:prstGeom prst="rect">
            <a:avLst/>
          </a:prstGeom>
          <a:noFill/>
          <a:ln/>
        </p:spPr>
        <p:txBody>
          <a:bodyPr wrap="square" lIns="0" tIns="0" rIns="0" bIns="0" rtlCol="0" anchor="t"/>
          <a:lstStyle/>
          <a:p>
            <a:pPr indent="0" marL="0">
              <a:buNone/>
            </a:pPr>
            <a:r>
              <a:rPr lang="en-US" sz="1500" dirty="0">
                <a:solidFill>
                  <a:schemeClr val="bg2"/>
                </a:solidFill>
              </a:rPr>
              <a:t>Round Robin and MLFQ — every task starts almost at once</a:t>
            </a:r>
            <a:endParaRPr lang="en-US" sz="1500" dirty="0"/>
          </a:p>
        </p:txBody>
      </p:sp>
      <p:sp>
        <p:nvSpPr>
          <p:cNvPr id="14" name="text-103"/>
          <p:cNvSpPr txBox="1"/>
          <p:nvPr/>
        </p:nvSpPr>
        <p:spPr>
          <a:xfrm>
            <a:off x="548640" y="4434840"/>
            <a:ext cx="8229600" cy="320040"/>
          </a:xfrm>
          <a:prstGeom prst="rect">
            <a:avLst/>
          </a:prstGeom>
          <a:noFill/>
          <a:ln/>
        </p:spPr>
        <p:txBody>
          <a:bodyPr wrap="square" lIns="0" tIns="0" rIns="0" bIns="0" rtlCol="0" anchor="t"/>
          <a:lstStyle/>
          <a:p>
            <a:pPr indent="0" marL="0">
              <a:buNone/>
            </a:pPr>
            <a:r>
              <a:rPr lang="en-US" sz="1300" i="1" dirty="0">
                <a:solidFill>
                  <a:schemeClr val="bg2"/>
                </a:solidFill>
              </a:rPr>
              <a:t>Average response time, seven tasks, 740-minute makespan for every policy</a:t>
            </a:r>
            <a:endParaRPr lang="en-US" sz="1300" dirty="0"/>
          </a:p>
        </p:txBody>
      </p:sp>
      <p:sp>
        <p:nvSpPr>
          <p:cNvPr id="15" name="list-104"/>
          <p:cNvSpPr txBox="1"/>
          <p:nvPr/>
        </p:nvSpPr>
        <p:spPr>
          <a:xfrm>
            <a:off x="548640" y="4983480"/>
            <a:ext cx="11094415" cy="1188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All six policies reach 100% CPU utilisation — the difference is who waits, not how much work gets done</a:t>
            </a:r>
            <a:endParaRPr lang="en-US" sz="1600" dirty="0"/>
          </a:p>
          <a:p>
            <a:pPr marL="342900" indent="-342900">
              <a:spcAft>
                <a:spcPts val="1000"/>
              </a:spcAft>
              <a:buSzPct val="100000"/>
              <a:buChar char="•"/>
            </a:pPr>
            <a:r>
              <a:rPr lang="en-US" sz="1600" dirty="0">
                <a:solidFill>
                  <a:schemeClr val="bg1"/>
                </a:solidFill>
              </a:rPr>
              <a:t>Jain's Fairness Index is identical (0.6689) across all six: every task eventually gets exactly its burst time, so it measures how much, not when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detect</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Detect → diagnose → recover, like AIOps platforms</a:t>
            </a:r>
            <a:endParaRPr lang="en-US" sz="3400" dirty="0"/>
          </a:p>
        </p:txBody>
      </p:sp>
      <p:sp>
        <p:nvSpPr>
          <p:cNvPr id="5" name="panel-105"/>
          <p:cNvSpPr/>
          <p:nvPr/>
        </p:nvSpPr>
        <p:spPr>
          <a:xfrm>
            <a:off x="548640" y="1920240"/>
            <a:ext cx="3291840" cy="2606040"/>
          </a:xfrm>
          <a:prstGeom prst="roundRect">
            <a:avLst>
              <a:gd name="adj" fmla="val 2807"/>
            </a:avLst>
          </a:prstGeom>
          <a:solidFill>
            <a:schemeClr val="tx2"/>
          </a:solidFill>
          <a:ln w="9525">
            <a:solidFill>
              <a:schemeClr val="accent6"/>
            </a:solidFill>
            <a:prstDash val="solid"/>
          </a:ln>
        </p:spPr>
      </p:sp>
      <p:sp>
        <p:nvSpPr>
          <p:cNvPr id="6" name="text-106"/>
          <p:cNvSpPr txBox="1"/>
          <p:nvPr/>
        </p:nvSpPr>
        <p:spPr>
          <a:xfrm>
            <a:off x="822960" y="2148840"/>
            <a:ext cx="731520" cy="457200"/>
          </a:xfrm>
          <a:prstGeom prst="rect">
            <a:avLst/>
          </a:prstGeom>
          <a:noFill/>
          <a:ln/>
        </p:spPr>
        <p:txBody>
          <a:bodyPr wrap="square" lIns="0" tIns="0" rIns="0" bIns="0" rtlCol="0" anchor="t"/>
          <a:lstStyle/>
          <a:p>
            <a:pPr indent="0" marL="0">
              <a:buNone/>
            </a:pPr>
            <a:r>
              <a:rPr lang="en-US" sz="2400" b="1" dirty="0">
                <a:solidFill>
                  <a:schemeClr val="accent4"/>
                </a:solidFill>
                <a:latin typeface="Consolas" pitchFamily="34" charset="0"/>
                <a:ea typeface="Consolas" pitchFamily="34" charset="-122"/>
                <a:cs typeface="Consolas" pitchFamily="34" charset="-120"/>
              </a:rPr>
              <a:t>01</a:t>
            </a:r>
            <a:endParaRPr lang="en-US" sz="2400" dirty="0"/>
          </a:p>
        </p:txBody>
      </p:sp>
      <p:sp>
        <p:nvSpPr>
          <p:cNvPr id="7" name="text-107"/>
          <p:cNvSpPr txBox="1"/>
          <p:nvPr/>
        </p:nvSpPr>
        <p:spPr>
          <a:xfrm>
            <a:off x="1554480" y="2194560"/>
            <a:ext cx="21031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DETECT</a:t>
            </a:r>
            <a:endParaRPr lang="en-US" sz="2000" dirty="0"/>
          </a:p>
        </p:txBody>
      </p:sp>
      <p:sp>
        <p:nvSpPr>
          <p:cNvPr id="8" name="text-108"/>
          <p:cNvSpPr txBox="1"/>
          <p:nvPr/>
        </p:nvSpPr>
        <p:spPr>
          <a:xfrm>
            <a:off x="822960" y="2880360"/>
            <a:ext cx="2788920" cy="146304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EWMA · modified Z-score · CUSUM (NIST)</a:t>
            </a:r>
            <a:endParaRPr lang="en-US" sz="1500" dirty="0"/>
          </a:p>
          <a:p>
            <a:pPr indent="0" marL="0">
              <a:spcAft>
                <a:spcPts val="400"/>
              </a:spcAft>
              <a:buNone/>
            </a:pPr>
            <a:r>
              <a:rPr lang="en-US" sz="1500" dirty="0">
                <a:solidFill>
                  <a:schemeClr val="bg2"/>
                </a:solidFill>
              </a:rPr>
              <a:t>Memory exhaustion</a:t>
            </a:r>
            <a:endParaRPr lang="en-US" sz="1500" dirty="0"/>
          </a:p>
          <a:p>
            <a:pPr indent="0" marL="0">
              <a:spcAft>
                <a:spcPts val="400"/>
              </a:spcAft>
              <a:buNone/>
            </a:pPr>
            <a:r>
              <a:rPr lang="en-US" sz="1500" dirty="0">
                <a:solidFill>
                  <a:schemeClr val="bg2"/>
                </a:solidFill>
              </a:rPr>
              <a:t>Wait-for-graph cycles</a:t>
            </a:r>
            <a:endParaRPr lang="en-US" sz="1500" dirty="0"/>
          </a:p>
        </p:txBody>
      </p:sp>
      <p:sp>
        <p:nvSpPr>
          <p:cNvPr id="9" name="arrow-109"/>
          <p:cNvSpPr/>
          <p:nvPr/>
        </p:nvSpPr>
        <p:spPr>
          <a:xfrm>
            <a:off x="3950208" y="3017520"/>
            <a:ext cx="347472" cy="384048"/>
          </a:xfrm>
          <a:prstGeom prst="rightArrow">
            <a:avLst/>
          </a:prstGeom>
          <a:solidFill>
            <a:schemeClr val="accent6"/>
          </a:solidFill>
          <a:ln w="12700">
            <a:solidFill>
              <a:schemeClr val="accent6"/>
            </a:solidFill>
            <a:prstDash val="solid"/>
          </a:ln>
        </p:spPr>
      </p:sp>
      <p:sp>
        <p:nvSpPr>
          <p:cNvPr id="10" name="panel-110"/>
          <p:cNvSpPr/>
          <p:nvPr/>
        </p:nvSpPr>
        <p:spPr>
          <a:xfrm>
            <a:off x="4407408" y="1920240"/>
            <a:ext cx="3291840" cy="2606040"/>
          </a:xfrm>
          <a:prstGeom prst="roundRect">
            <a:avLst>
              <a:gd name="adj" fmla="val 2807"/>
            </a:avLst>
          </a:prstGeom>
          <a:solidFill>
            <a:schemeClr val="tx2"/>
          </a:solidFill>
          <a:ln w="9525">
            <a:solidFill>
              <a:schemeClr val="accent6"/>
            </a:solidFill>
            <a:prstDash val="solid"/>
          </a:ln>
        </p:spPr>
      </p:sp>
      <p:sp>
        <p:nvSpPr>
          <p:cNvPr id="11" name="text-111"/>
          <p:cNvSpPr txBox="1"/>
          <p:nvPr/>
        </p:nvSpPr>
        <p:spPr>
          <a:xfrm>
            <a:off x="4681728" y="2148840"/>
            <a:ext cx="731520" cy="457200"/>
          </a:xfrm>
          <a:prstGeom prst="rect">
            <a:avLst/>
          </a:prstGeom>
          <a:noFill/>
          <a:ln/>
        </p:spPr>
        <p:txBody>
          <a:bodyPr wrap="square" lIns="0" tIns="0" rIns="0" bIns="0" rtlCol="0" anchor="t"/>
          <a:lstStyle/>
          <a:p>
            <a:pPr indent="0" marL="0">
              <a:buNone/>
            </a:pPr>
            <a:r>
              <a:rPr lang="en-US" sz="2400" b="1" dirty="0">
                <a:solidFill>
                  <a:schemeClr val="accent2"/>
                </a:solidFill>
                <a:latin typeface="Consolas" pitchFamily="34" charset="0"/>
                <a:ea typeface="Consolas" pitchFamily="34" charset="-122"/>
                <a:cs typeface="Consolas" pitchFamily="34" charset="-120"/>
              </a:rPr>
              <a:t>02</a:t>
            </a:r>
            <a:endParaRPr lang="en-US" sz="2400" dirty="0"/>
          </a:p>
        </p:txBody>
      </p:sp>
      <p:sp>
        <p:nvSpPr>
          <p:cNvPr id="12" name="text-112"/>
          <p:cNvSpPr txBox="1"/>
          <p:nvPr/>
        </p:nvSpPr>
        <p:spPr>
          <a:xfrm>
            <a:off x="5413248" y="2194560"/>
            <a:ext cx="21031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DIAGNOSE</a:t>
            </a:r>
            <a:endParaRPr lang="en-US" sz="2000" dirty="0"/>
          </a:p>
        </p:txBody>
      </p:sp>
      <p:sp>
        <p:nvSpPr>
          <p:cNvPr id="13" name="text-113"/>
          <p:cNvSpPr txBox="1"/>
          <p:nvPr/>
        </p:nvSpPr>
        <p:spPr>
          <a:xfrm>
            <a:off x="4681728" y="2880360"/>
            <a:ext cx="2788920" cy="146304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TF-IDF retrieval over 8 OS documents</a:t>
            </a:r>
            <a:endParaRPr lang="en-US" sz="1500" dirty="0"/>
          </a:p>
          <a:p>
            <a:pPr indent="0" marL="0">
              <a:spcAft>
                <a:spcPts val="400"/>
              </a:spcAft>
              <a:buNone/>
            </a:pPr>
            <a:r>
              <a:rPr lang="en-US" sz="1500" dirty="0">
                <a:solidFill>
                  <a:schemeClr val="bg2"/>
                </a:solidFill>
              </a:rPr>
              <a:t>+ the incident's own logged facts</a:t>
            </a:r>
            <a:endParaRPr lang="en-US" sz="1500" dirty="0"/>
          </a:p>
          <a:p>
            <a:pPr indent="0" marL="0">
              <a:spcAft>
                <a:spcPts val="400"/>
              </a:spcAft>
              <a:buNone/>
            </a:pPr>
            <a:r>
              <a:rPr lang="en-US" sz="1500" dirty="0">
                <a:solidFill>
                  <a:schemeClr val="bg2"/>
                </a:solidFill>
              </a:rPr>
              <a:t>→ LLM, or offline answer</a:t>
            </a:r>
            <a:endParaRPr lang="en-US" sz="1500" dirty="0"/>
          </a:p>
        </p:txBody>
      </p:sp>
      <p:sp>
        <p:nvSpPr>
          <p:cNvPr id="14" name="arrow-114"/>
          <p:cNvSpPr/>
          <p:nvPr/>
        </p:nvSpPr>
        <p:spPr>
          <a:xfrm>
            <a:off x="7808976" y="3017520"/>
            <a:ext cx="347472" cy="384048"/>
          </a:xfrm>
          <a:prstGeom prst="rightArrow">
            <a:avLst/>
          </a:prstGeom>
          <a:solidFill>
            <a:schemeClr val="accent6"/>
          </a:solidFill>
          <a:ln w="12700">
            <a:solidFill>
              <a:schemeClr val="accent6"/>
            </a:solidFill>
            <a:prstDash val="solid"/>
          </a:ln>
        </p:spPr>
      </p:sp>
      <p:sp>
        <p:nvSpPr>
          <p:cNvPr id="15" name="panel-115"/>
          <p:cNvSpPr/>
          <p:nvPr/>
        </p:nvSpPr>
        <p:spPr>
          <a:xfrm>
            <a:off x="8266176" y="1920240"/>
            <a:ext cx="3291840" cy="2606040"/>
          </a:xfrm>
          <a:prstGeom prst="roundRect">
            <a:avLst>
              <a:gd name="adj" fmla="val 2807"/>
            </a:avLst>
          </a:prstGeom>
          <a:solidFill>
            <a:schemeClr val="tx2"/>
          </a:solidFill>
          <a:ln w="9525">
            <a:solidFill>
              <a:schemeClr val="accent6"/>
            </a:solidFill>
            <a:prstDash val="solid"/>
          </a:ln>
        </p:spPr>
      </p:sp>
      <p:sp>
        <p:nvSpPr>
          <p:cNvPr id="16" name="text-116"/>
          <p:cNvSpPr txBox="1"/>
          <p:nvPr/>
        </p:nvSpPr>
        <p:spPr>
          <a:xfrm>
            <a:off x="8540496" y="2148840"/>
            <a:ext cx="731520" cy="457200"/>
          </a:xfrm>
          <a:prstGeom prst="rect">
            <a:avLst/>
          </a:prstGeom>
          <a:noFill/>
          <a:ln/>
        </p:spPr>
        <p:txBody>
          <a:bodyPr wrap="square" lIns="0" tIns="0" rIns="0" bIns="0" rtlCol="0" anchor="t"/>
          <a:lstStyle/>
          <a:p>
            <a:pPr indent="0" marL="0">
              <a:buNone/>
            </a:pPr>
            <a:r>
              <a:rPr lang="en-US" sz="2400" b="1" dirty="0">
                <a:solidFill>
                  <a:schemeClr val="accent1"/>
                </a:solidFill>
                <a:latin typeface="Consolas" pitchFamily="34" charset="0"/>
                <a:ea typeface="Consolas" pitchFamily="34" charset="-122"/>
                <a:cs typeface="Consolas" pitchFamily="34" charset="-120"/>
              </a:rPr>
              <a:t>03</a:t>
            </a:r>
            <a:endParaRPr lang="en-US" sz="2400" dirty="0"/>
          </a:p>
        </p:txBody>
      </p:sp>
      <p:sp>
        <p:nvSpPr>
          <p:cNvPr id="17" name="text-117"/>
          <p:cNvSpPr txBox="1"/>
          <p:nvPr/>
        </p:nvSpPr>
        <p:spPr>
          <a:xfrm>
            <a:off x="9272016" y="2194560"/>
            <a:ext cx="21031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RECOVER</a:t>
            </a:r>
            <a:endParaRPr lang="en-US" sz="2000" dirty="0"/>
          </a:p>
        </p:txBody>
      </p:sp>
      <p:sp>
        <p:nvSpPr>
          <p:cNvPr id="18" name="text-118"/>
          <p:cNvSpPr txBox="1"/>
          <p:nvPr/>
        </p:nvSpPr>
        <p:spPr>
          <a:xfrm>
            <a:off x="8540496" y="2880360"/>
            <a:ext cx="2788920" cy="146304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Deterministic, audited scripts</a:t>
            </a:r>
            <a:endParaRPr lang="en-US" sz="1500" dirty="0"/>
          </a:p>
          <a:p>
            <a:pPr indent="0" marL="0">
              <a:spcAft>
                <a:spcPts val="400"/>
              </a:spcAft>
              <a:buNone/>
            </a:pPr>
            <a:r>
              <a:rPr lang="en-US" sz="1500" dirty="0">
                <a:solidFill>
                  <a:schemeClr val="bg2"/>
                </a:solidFill>
              </a:rPr>
              <a:t>retry · suspend_and_retry</a:t>
            </a:r>
            <a:endParaRPr lang="en-US" sz="1500" dirty="0"/>
          </a:p>
          <a:p>
            <a:pPr indent="0" marL="0">
              <a:spcAft>
                <a:spcPts val="400"/>
              </a:spcAft>
              <a:buNone/>
            </a:pPr>
            <a:r>
              <a:rPr lang="en-US" sz="1500" dirty="0">
                <a:solidFill>
                  <a:schemeClr val="bg2"/>
                </a:solidFill>
              </a:rPr>
              <a:t>terminate cycle victim</a:t>
            </a:r>
            <a:endParaRPr lang="en-US" sz="1500" dirty="0"/>
          </a:p>
        </p:txBody>
      </p:sp>
      <p:sp>
        <p:nvSpPr>
          <p:cNvPr id="19" name="panel-119"/>
          <p:cNvSpPr/>
          <p:nvPr/>
        </p:nvSpPr>
        <p:spPr>
          <a:xfrm>
            <a:off x="548640" y="4892040"/>
            <a:ext cx="11094415" cy="1143000"/>
          </a:xfrm>
          <a:prstGeom prst="roundRect">
            <a:avLst>
              <a:gd name="adj" fmla="val 6400"/>
            </a:avLst>
          </a:prstGeom>
          <a:solidFill>
            <a:schemeClr val="tx2"/>
          </a:solidFill>
          <a:ln w="9525">
            <a:solidFill>
              <a:schemeClr val="accent6"/>
            </a:solidFill>
            <a:prstDash val="solid"/>
          </a:ln>
        </p:spPr>
      </p:sp>
      <p:sp>
        <p:nvSpPr>
          <p:cNvPr id="20" name="text-120"/>
          <p:cNvSpPr txBox="1"/>
          <p:nvPr/>
        </p:nvSpPr>
        <p:spPr>
          <a:xfrm>
            <a:off x="868680" y="5047488"/>
            <a:ext cx="548640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The AI explains. A fixed script acts.</a:t>
            </a:r>
            <a:endParaRPr lang="en-US" sz="2000" dirty="0"/>
          </a:p>
        </p:txBody>
      </p:sp>
      <p:sp>
        <p:nvSpPr>
          <p:cNvPr id="21" name="text-121"/>
          <p:cNvSpPr txBox="1"/>
          <p:nvPr/>
        </p:nvSpPr>
        <p:spPr>
          <a:xfrm>
            <a:off x="868680" y="5486400"/>
            <a:ext cx="10515600" cy="411480"/>
          </a:xfrm>
          <a:prstGeom prst="rect">
            <a:avLst/>
          </a:prstGeom>
          <a:noFill/>
          <a:ln/>
        </p:spPr>
        <p:txBody>
          <a:bodyPr wrap="square" lIns="0" tIns="0" rIns="0" bIns="0" rtlCol="0" anchor="t"/>
          <a:lstStyle/>
          <a:p>
            <a:pPr indent="0" marL="0">
              <a:buNone/>
            </a:pPr>
            <a:r>
              <a:rPr lang="en-US" sz="1500" dirty="0">
                <a:solidFill>
                  <a:schemeClr val="bg2"/>
                </a:solidFill>
              </a:rPr>
              <a:t>Every error, diagnosis and action is written to SQLite and shown in the Error Monitor — a full audit trail.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detect --memory</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Recovery follows Kubernetes-style preemption rules</a:t>
            </a:r>
            <a:endParaRPr lang="en-US" sz="3400" dirty="0"/>
          </a:p>
        </p:txBody>
      </p:sp>
      <p:sp>
        <p:nvSpPr>
          <p:cNvPr id="5" name="frame-122"/>
          <p:cNvSpPr/>
          <p:nvPr/>
        </p:nvSpPr>
        <p:spPr>
          <a:xfrm>
            <a:off x="411480" y="1554480"/>
            <a:ext cx="5212080" cy="3446767"/>
          </a:xfrm>
          <a:prstGeom prst="roundRect">
            <a:avLst>
              <a:gd name="adj" fmla="val 2122"/>
            </a:avLst>
          </a:prstGeom>
          <a:solidFill>
            <a:srgbClr val="FFFFFF"/>
          </a:solidFill>
          <a:ln w="12700">
            <a:solidFill>
              <a:srgbClr val="FFFFFF"/>
            </a:solidFill>
            <a:prstDash val="solid"/>
          </a:ln>
        </p:spPr>
      </p:sp>
      <p:pic>
        <p:nvPicPr>
          <p:cNvPr id="6" name="img-123" descr="fig_recovery_flow.png">    </p:cNvPr>
          <p:cNvPicPr>
            <a:picLocks noChangeAspect="1"/>
          </p:cNvPicPr>
          <p:nvPr/>
        </p:nvPicPr>
        <p:blipFill>
          <a:blip r:embed="rId1"/>
          <a:stretch>
            <a:fillRect/>
          </a:stretch>
        </p:blipFill>
        <p:spPr>
          <a:xfrm>
            <a:off x="548640" y="1691640"/>
            <a:ext cx="4937760" cy="3172447"/>
          </a:xfrm>
          <a:prstGeom prst="rect">
            <a:avLst/>
          </a:prstGeom>
        </p:spPr>
      </p:pic>
      <p:sp>
        <p:nvSpPr>
          <p:cNvPr id="7" name="panel-124"/>
          <p:cNvSpPr/>
          <p:nvPr/>
        </p:nvSpPr>
        <p:spPr>
          <a:xfrm>
            <a:off x="6035040" y="1737360"/>
            <a:ext cx="5605272" cy="914400"/>
          </a:xfrm>
          <a:prstGeom prst="roundRect">
            <a:avLst>
              <a:gd name="adj" fmla="val 8000"/>
            </a:avLst>
          </a:prstGeom>
          <a:solidFill>
            <a:schemeClr val="tx2"/>
          </a:solidFill>
          <a:ln w="9525">
            <a:solidFill>
              <a:schemeClr val="accent6"/>
            </a:solidFill>
            <a:prstDash val="solid"/>
          </a:ln>
        </p:spPr>
      </p:sp>
      <p:sp>
        <p:nvSpPr>
          <p:cNvPr id="8" name="text-125"/>
          <p:cNvSpPr txBox="1"/>
          <p:nvPr/>
        </p:nvSpPr>
        <p:spPr>
          <a:xfrm>
            <a:off x="6263640" y="1984248"/>
            <a:ext cx="548640" cy="411480"/>
          </a:xfrm>
          <a:prstGeom prst="rect">
            <a:avLst/>
          </a:prstGeom>
          <a:noFill/>
          <a:ln/>
        </p:spPr>
        <p:txBody>
          <a:bodyPr wrap="square" lIns="0" tIns="0" rIns="0" bIns="0" rtlCol="0" anchor="t"/>
          <a:lstStyle/>
          <a:p>
            <a:pPr indent="0" marL="0">
              <a:buNone/>
            </a:pPr>
            <a:r>
              <a:rPr lang="en-US" sz="2000" b="1" dirty="0">
                <a:solidFill>
                  <a:schemeClr val="bg1"/>
                </a:solidFill>
                <a:latin typeface="Consolas" pitchFamily="34" charset="0"/>
                <a:ea typeface="Consolas" pitchFamily="34" charset="-122"/>
                <a:cs typeface="Consolas" pitchFamily="34" charset="-120"/>
              </a:rPr>
              <a:t>P2</a:t>
            </a:r>
            <a:endParaRPr lang="en-US" sz="2000" dirty="0"/>
          </a:p>
        </p:txBody>
      </p:sp>
      <p:sp>
        <p:nvSpPr>
          <p:cNvPr id="9" name="text-126"/>
          <p:cNvSpPr txBox="1"/>
          <p:nvPr/>
        </p:nvSpPr>
        <p:spPr>
          <a:xfrm>
            <a:off x="6858000" y="2020824"/>
            <a:ext cx="1005840" cy="365760"/>
          </a:xfrm>
          <a:prstGeom prst="rect">
            <a:avLst/>
          </a:prstGeom>
          <a:noFill/>
          <a:ln/>
        </p:spPr>
        <p:txBody>
          <a:bodyPr wrap="square" lIns="0" tIns="0" rIns="0" bIns="0" rtlCol="0" anchor="t"/>
          <a:lstStyle/>
          <a:p>
            <a:pPr indent="0" marL="0">
              <a:buNone/>
            </a:pPr>
            <a:r>
              <a:rPr lang="en-US" sz="1400" dirty="0">
                <a:solidFill>
                  <a:schemeClr val="bg2"/>
                </a:solidFill>
              </a:rPr>
              <a:t>768 MB</a:t>
            </a:r>
            <a:endParaRPr lang="en-US" sz="1400" dirty="0"/>
          </a:p>
        </p:txBody>
      </p:sp>
      <p:sp>
        <p:nvSpPr>
          <p:cNvPr id="10" name="text-127"/>
          <p:cNvSpPr txBox="1"/>
          <p:nvPr/>
        </p:nvSpPr>
        <p:spPr>
          <a:xfrm>
            <a:off x="7909560" y="1865376"/>
            <a:ext cx="3566160" cy="347472"/>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suspend_and_retry</a:t>
            </a:r>
            <a:endParaRPr lang="en-US" sz="1600" dirty="0"/>
          </a:p>
        </p:txBody>
      </p:sp>
      <p:sp>
        <p:nvSpPr>
          <p:cNvPr id="11" name="text-128"/>
          <p:cNvSpPr txBox="1"/>
          <p:nvPr/>
        </p:nvSpPr>
        <p:spPr>
          <a:xfrm>
            <a:off x="7909560" y="2240280"/>
            <a:ext cx="3611880" cy="320040"/>
          </a:xfrm>
          <a:prstGeom prst="rect">
            <a:avLst/>
          </a:prstGeom>
          <a:noFill/>
          <a:ln/>
        </p:spPr>
        <p:txBody>
          <a:bodyPr wrap="square" lIns="0" tIns="0" rIns="0" bIns="0" rtlCol="0" anchor="t"/>
          <a:lstStyle/>
          <a:p>
            <a:pPr indent="0" marL="0">
              <a:buNone/>
            </a:pPr>
            <a:r>
              <a:rPr lang="en-US" sz="1300" dirty="0">
                <a:solidFill>
                  <a:schemeClr val="bg2"/>
                </a:solidFill>
              </a:rPr>
              <a:t>evicts lower-priority P3; now fits</a:t>
            </a:r>
            <a:endParaRPr lang="en-US" sz="1300" dirty="0"/>
          </a:p>
        </p:txBody>
      </p:sp>
      <p:sp>
        <p:nvSpPr>
          <p:cNvPr id="12" name="panel-129"/>
          <p:cNvSpPr/>
          <p:nvPr/>
        </p:nvSpPr>
        <p:spPr>
          <a:xfrm>
            <a:off x="6035040" y="2816352"/>
            <a:ext cx="5605272" cy="914400"/>
          </a:xfrm>
          <a:prstGeom prst="roundRect">
            <a:avLst>
              <a:gd name="adj" fmla="val 8000"/>
            </a:avLst>
          </a:prstGeom>
          <a:solidFill>
            <a:schemeClr val="tx2"/>
          </a:solidFill>
          <a:ln w="9525">
            <a:solidFill>
              <a:schemeClr val="accent6"/>
            </a:solidFill>
            <a:prstDash val="solid"/>
          </a:ln>
        </p:spPr>
      </p:sp>
      <p:sp>
        <p:nvSpPr>
          <p:cNvPr id="13" name="text-130"/>
          <p:cNvSpPr txBox="1"/>
          <p:nvPr/>
        </p:nvSpPr>
        <p:spPr>
          <a:xfrm>
            <a:off x="6263640" y="3063240"/>
            <a:ext cx="548640" cy="411480"/>
          </a:xfrm>
          <a:prstGeom prst="rect">
            <a:avLst/>
          </a:prstGeom>
          <a:noFill/>
          <a:ln/>
        </p:spPr>
        <p:txBody>
          <a:bodyPr wrap="square" lIns="0" tIns="0" rIns="0" bIns="0" rtlCol="0" anchor="t"/>
          <a:lstStyle/>
          <a:p>
            <a:pPr indent="0" marL="0">
              <a:buNone/>
            </a:pPr>
            <a:r>
              <a:rPr lang="en-US" sz="2000" b="1" dirty="0">
                <a:solidFill>
                  <a:schemeClr val="bg1"/>
                </a:solidFill>
                <a:latin typeface="Consolas" pitchFamily="34" charset="0"/>
                <a:ea typeface="Consolas" pitchFamily="34" charset="-122"/>
                <a:cs typeface="Consolas" pitchFamily="34" charset="-120"/>
              </a:rPr>
              <a:t>P4</a:t>
            </a:r>
            <a:endParaRPr lang="en-US" sz="2000" dirty="0"/>
          </a:p>
        </p:txBody>
      </p:sp>
      <p:sp>
        <p:nvSpPr>
          <p:cNvPr id="14" name="text-131"/>
          <p:cNvSpPr txBox="1"/>
          <p:nvPr/>
        </p:nvSpPr>
        <p:spPr>
          <a:xfrm>
            <a:off x="6858000" y="3099816"/>
            <a:ext cx="1005840" cy="365760"/>
          </a:xfrm>
          <a:prstGeom prst="rect">
            <a:avLst/>
          </a:prstGeom>
          <a:noFill/>
          <a:ln/>
        </p:spPr>
        <p:txBody>
          <a:bodyPr wrap="square" lIns="0" tIns="0" rIns="0" bIns="0" rtlCol="0" anchor="t"/>
          <a:lstStyle/>
          <a:p>
            <a:pPr indent="0" marL="0">
              <a:buNone/>
            </a:pPr>
            <a:r>
              <a:rPr lang="en-US" sz="1400" dirty="0">
                <a:solidFill>
                  <a:schemeClr val="bg2"/>
                </a:solidFill>
              </a:rPr>
              <a:t>256 MB</a:t>
            </a:r>
            <a:endParaRPr lang="en-US" sz="1400" dirty="0"/>
          </a:p>
        </p:txBody>
      </p:sp>
      <p:sp>
        <p:nvSpPr>
          <p:cNvPr id="15" name="text-132"/>
          <p:cNvSpPr txBox="1"/>
          <p:nvPr/>
        </p:nvSpPr>
        <p:spPr>
          <a:xfrm>
            <a:off x="7909560" y="2944368"/>
            <a:ext cx="3566160" cy="347472"/>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retry</a:t>
            </a:r>
            <a:endParaRPr lang="en-US" sz="1600" dirty="0"/>
          </a:p>
        </p:txBody>
      </p:sp>
      <p:sp>
        <p:nvSpPr>
          <p:cNvPr id="16" name="text-133"/>
          <p:cNvSpPr txBox="1"/>
          <p:nvPr/>
        </p:nvSpPr>
        <p:spPr>
          <a:xfrm>
            <a:off x="7909560" y="3319272"/>
            <a:ext cx="3611880" cy="320040"/>
          </a:xfrm>
          <a:prstGeom prst="rect">
            <a:avLst/>
          </a:prstGeom>
          <a:noFill/>
          <a:ln/>
        </p:spPr>
        <p:txBody>
          <a:bodyPr wrap="square" lIns="0" tIns="0" rIns="0" bIns="0" rtlCol="0" anchor="t"/>
          <a:lstStyle/>
          <a:p>
            <a:pPr indent="0" marL="0">
              <a:buNone/>
            </a:pPr>
            <a:r>
              <a:rPr lang="en-US" sz="1300" dirty="0">
                <a:solidFill>
                  <a:schemeClr val="bg2"/>
                </a:solidFill>
              </a:rPr>
              <a:t>memory freed by P2's recovery</a:t>
            </a:r>
            <a:endParaRPr lang="en-US" sz="1300" dirty="0"/>
          </a:p>
        </p:txBody>
      </p:sp>
      <p:sp>
        <p:nvSpPr>
          <p:cNvPr id="17" name="panel-134"/>
          <p:cNvSpPr/>
          <p:nvPr/>
        </p:nvSpPr>
        <p:spPr>
          <a:xfrm>
            <a:off x="6035040" y="3895344"/>
            <a:ext cx="5605272" cy="914400"/>
          </a:xfrm>
          <a:prstGeom prst="roundRect">
            <a:avLst>
              <a:gd name="adj" fmla="val 8000"/>
            </a:avLst>
          </a:prstGeom>
          <a:solidFill>
            <a:schemeClr val="tx2"/>
          </a:solidFill>
          <a:ln w="9525">
            <a:solidFill>
              <a:schemeClr val="accent6"/>
            </a:solidFill>
            <a:prstDash val="solid"/>
          </a:ln>
        </p:spPr>
      </p:sp>
      <p:sp>
        <p:nvSpPr>
          <p:cNvPr id="18" name="text-135"/>
          <p:cNvSpPr txBox="1"/>
          <p:nvPr/>
        </p:nvSpPr>
        <p:spPr>
          <a:xfrm>
            <a:off x="6263640" y="4142232"/>
            <a:ext cx="548640" cy="411480"/>
          </a:xfrm>
          <a:prstGeom prst="rect">
            <a:avLst/>
          </a:prstGeom>
          <a:noFill/>
          <a:ln/>
        </p:spPr>
        <p:txBody>
          <a:bodyPr wrap="square" lIns="0" tIns="0" rIns="0" bIns="0" rtlCol="0" anchor="t"/>
          <a:lstStyle/>
          <a:p>
            <a:pPr indent="0" marL="0">
              <a:buNone/>
            </a:pPr>
            <a:r>
              <a:rPr lang="en-US" sz="2000" b="1" dirty="0">
                <a:solidFill>
                  <a:schemeClr val="bg1"/>
                </a:solidFill>
                <a:latin typeface="Consolas" pitchFamily="34" charset="0"/>
                <a:ea typeface="Consolas" pitchFamily="34" charset="-122"/>
                <a:cs typeface="Consolas" pitchFamily="34" charset="-120"/>
              </a:rPr>
              <a:t>P7</a:t>
            </a:r>
            <a:endParaRPr lang="en-US" sz="2000" dirty="0"/>
          </a:p>
        </p:txBody>
      </p:sp>
      <p:sp>
        <p:nvSpPr>
          <p:cNvPr id="19" name="text-136"/>
          <p:cNvSpPr txBox="1"/>
          <p:nvPr/>
        </p:nvSpPr>
        <p:spPr>
          <a:xfrm>
            <a:off x="6858000" y="4178808"/>
            <a:ext cx="1005840" cy="365760"/>
          </a:xfrm>
          <a:prstGeom prst="rect">
            <a:avLst/>
          </a:prstGeom>
          <a:noFill/>
          <a:ln/>
        </p:spPr>
        <p:txBody>
          <a:bodyPr wrap="square" lIns="0" tIns="0" rIns="0" bIns="0" rtlCol="0" anchor="t"/>
          <a:lstStyle/>
          <a:p>
            <a:pPr indent="0" marL="0">
              <a:buNone/>
            </a:pPr>
            <a:r>
              <a:rPr lang="en-US" sz="1400" dirty="0">
                <a:solidFill>
                  <a:schemeClr val="bg2"/>
                </a:solidFill>
              </a:rPr>
              <a:t>256 MB</a:t>
            </a:r>
            <a:endParaRPr lang="en-US" sz="1400" dirty="0"/>
          </a:p>
        </p:txBody>
      </p:sp>
      <p:sp>
        <p:nvSpPr>
          <p:cNvPr id="20" name="text-137"/>
          <p:cNvSpPr txBox="1"/>
          <p:nvPr/>
        </p:nvSpPr>
        <p:spPr>
          <a:xfrm>
            <a:off x="7909560" y="4023360"/>
            <a:ext cx="3566160" cy="347472"/>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retry</a:t>
            </a:r>
            <a:endParaRPr lang="en-US" sz="1600" dirty="0"/>
          </a:p>
        </p:txBody>
      </p:sp>
      <p:sp>
        <p:nvSpPr>
          <p:cNvPr id="21" name="text-138"/>
          <p:cNvSpPr txBox="1"/>
          <p:nvPr/>
        </p:nvSpPr>
        <p:spPr>
          <a:xfrm>
            <a:off x="7909560" y="4398264"/>
            <a:ext cx="3611880" cy="320040"/>
          </a:xfrm>
          <a:prstGeom prst="rect">
            <a:avLst/>
          </a:prstGeom>
          <a:noFill/>
          <a:ln/>
        </p:spPr>
        <p:txBody>
          <a:bodyPr wrap="square" lIns="0" tIns="0" rIns="0" bIns="0" rtlCol="0" anchor="t"/>
          <a:lstStyle/>
          <a:p>
            <a:pPr indent="0" marL="0">
              <a:buNone/>
            </a:pPr>
            <a:r>
              <a:rPr lang="en-US" sz="1300" dirty="0">
                <a:solidFill>
                  <a:schemeClr val="bg2"/>
                </a:solidFill>
              </a:rPr>
              <a:t>memory still available</a:t>
            </a:r>
            <a:endParaRPr lang="en-US" sz="1300" dirty="0"/>
          </a:p>
        </p:txBody>
      </p:sp>
      <p:sp>
        <p:nvSpPr>
          <p:cNvPr id="22" name="panel-139"/>
          <p:cNvSpPr/>
          <p:nvPr/>
        </p:nvSpPr>
        <p:spPr>
          <a:xfrm>
            <a:off x="6035040" y="4974336"/>
            <a:ext cx="5605272" cy="914400"/>
          </a:xfrm>
          <a:prstGeom prst="roundRect">
            <a:avLst>
              <a:gd name="adj" fmla="val 8000"/>
            </a:avLst>
          </a:prstGeom>
          <a:solidFill>
            <a:schemeClr val="tx2"/>
          </a:solidFill>
          <a:ln w="9525">
            <a:solidFill>
              <a:schemeClr val="accent6"/>
            </a:solidFill>
            <a:prstDash val="solid"/>
          </a:ln>
        </p:spPr>
      </p:sp>
      <p:sp>
        <p:nvSpPr>
          <p:cNvPr id="23" name="text-140"/>
          <p:cNvSpPr txBox="1"/>
          <p:nvPr/>
        </p:nvSpPr>
        <p:spPr>
          <a:xfrm>
            <a:off x="6263640" y="5221224"/>
            <a:ext cx="548640" cy="411480"/>
          </a:xfrm>
          <a:prstGeom prst="rect">
            <a:avLst/>
          </a:prstGeom>
          <a:noFill/>
          <a:ln/>
        </p:spPr>
        <p:txBody>
          <a:bodyPr wrap="square" lIns="0" tIns="0" rIns="0" bIns="0" rtlCol="0" anchor="t"/>
          <a:lstStyle/>
          <a:p>
            <a:pPr indent="0" marL="0">
              <a:buNone/>
            </a:pPr>
            <a:r>
              <a:rPr lang="en-US" sz="2000" b="1" dirty="0">
                <a:solidFill>
                  <a:schemeClr val="bg1"/>
                </a:solidFill>
                <a:latin typeface="Consolas" pitchFamily="34" charset="0"/>
                <a:ea typeface="Consolas" pitchFamily="34" charset="-122"/>
                <a:cs typeface="Consolas" pitchFamily="34" charset="-120"/>
              </a:rPr>
              <a:t>P5</a:t>
            </a:r>
            <a:endParaRPr lang="en-US" sz="2000" dirty="0"/>
          </a:p>
        </p:txBody>
      </p:sp>
      <p:sp>
        <p:nvSpPr>
          <p:cNvPr id="24" name="text-141"/>
          <p:cNvSpPr txBox="1"/>
          <p:nvPr/>
        </p:nvSpPr>
        <p:spPr>
          <a:xfrm>
            <a:off x="6858000" y="5257800"/>
            <a:ext cx="1005840" cy="365760"/>
          </a:xfrm>
          <a:prstGeom prst="rect">
            <a:avLst/>
          </a:prstGeom>
          <a:noFill/>
          <a:ln/>
        </p:spPr>
        <p:txBody>
          <a:bodyPr wrap="square" lIns="0" tIns="0" rIns="0" bIns="0" rtlCol="0" anchor="t"/>
          <a:lstStyle/>
          <a:p>
            <a:pPr indent="0" marL="0">
              <a:buNone/>
            </a:pPr>
            <a:r>
              <a:rPr lang="en-US" sz="1400" dirty="0">
                <a:solidFill>
                  <a:schemeClr val="bg2"/>
                </a:solidFill>
              </a:rPr>
              <a:t>1600 MB</a:t>
            </a:r>
            <a:endParaRPr lang="en-US" sz="1400" dirty="0"/>
          </a:p>
        </p:txBody>
      </p:sp>
      <p:sp>
        <p:nvSpPr>
          <p:cNvPr id="25" name="text-142"/>
          <p:cNvSpPr txBox="1"/>
          <p:nvPr/>
        </p:nvSpPr>
        <p:spPr>
          <a:xfrm>
            <a:off x="7909560" y="5102352"/>
            <a:ext cx="3566160" cy="347472"/>
          </a:xfrm>
          <a:prstGeom prst="rect">
            <a:avLst/>
          </a:prstGeom>
          <a:noFill/>
          <a:ln/>
        </p:spPr>
        <p:txBody>
          <a:bodyPr wrap="square" lIns="0" tIns="0" rIns="0" bIns="0" rtlCol="0" anchor="t"/>
          <a:lstStyle/>
          <a:p>
            <a:pPr indent="0" marL="0">
              <a:buNone/>
            </a:pPr>
            <a:r>
              <a:rPr lang="en-US" sz="1600" b="1" dirty="0">
                <a:solidFill>
                  <a:schemeClr val="accent3"/>
                </a:solidFill>
                <a:latin typeface="Consolas" pitchFamily="34" charset="0"/>
                <a:ea typeface="Consolas" pitchFamily="34" charset="-122"/>
                <a:cs typeface="Consolas" pitchFamily="34" charset="-120"/>
              </a:rPr>
              <a:t>no_victim</a:t>
            </a:r>
            <a:endParaRPr lang="en-US" sz="1600" dirty="0"/>
          </a:p>
        </p:txBody>
      </p:sp>
      <p:sp>
        <p:nvSpPr>
          <p:cNvPr id="26" name="text-143"/>
          <p:cNvSpPr txBox="1"/>
          <p:nvPr/>
        </p:nvSpPr>
        <p:spPr>
          <a:xfrm>
            <a:off x="7909560" y="5477256"/>
            <a:ext cx="3611880" cy="320040"/>
          </a:xfrm>
          <a:prstGeom prst="rect">
            <a:avLst/>
          </a:prstGeom>
          <a:noFill/>
          <a:ln/>
        </p:spPr>
        <p:txBody>
          <a:bodyPr wrap="square" lIns="0" tIns="0" rIns="0" bIns="0" rtlCol="0" anchor="t"/>
          <a:lstStyle/>
          <a:p>
            <a:pPr indent="0" marL="0">
              <a:buNone/>
            </a:pPr>
            <a:r>
              <a:rPr lang="en-US" sz="1300" dirty="0">
                <a:solidFill>
                  <a:schemeClr val="bg2"/>
                </a:solidFill>
              </a:rPr>
              <a:t>nothing lower-priority frees enough</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ask --pid 5</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Grounding fixed the AI, not a bigger model</a:t>
            </a:r>
            <a:endParaRPr lang="en-US" sz="3400" dirty="0"/>
          </a:p>
        </p:txBody>
      </p:sp>
      <p:sp>
        <p:nvSpPr>
          <p:cNvPr id="5" name="frame-144"/>
          <p:cNvSpPr/>
          <p:nvPr/>
        </p:nvSpPr>
        <p:spPr>
          <a:xfrm>
            <a:off x="521208" y="1664208"/>
            <a:ext cx="7095744" cy="4455414"/>
          </a:xfrm>
          <a:prstGeom prst="rect">
            <a:avLst/>
          </a:prstGeom>
          <a:solidFill>
            <a:schemeClr val="accent6"/>
          </a:solidFill>
          <a:ln w="12700">
            <a:solidFill>
              <a:schemeClr val="accent6"/>
            </a:solidFill>
            <a:prstDash val="solid"/>
          </a:ln>
        </p:spPr>
      </p:sp>
      <p:pic>
        <p:nvPicPr>
          <p:cNvPr id="6" name="img-145" descr="D:/Downloads/Projects/OS/procura/docs/screenshots/15_assistant_grounded.png">    </p:cNvPr>
          <p:cNvPicPr>
            <a:picLocks noChangeAspect="1"/>
          </p:cNvPicPr>
          <p:nvPr/>
        </p:nvPicPr>
        <p:blipFill>
          <a:blip r:embed="rId1"/>
          <a:stretch>
            <a:fillRect/>
          </a:stretch>
        </p:blipFill>
        <p:spPr>
          <a:xfrm>
            <a:off x="548640" y="1691640"/>
            <a:ext cx="7040880" cy="4400550"/>
          </a:xfrm>
          <a:prstGeom prst="rect">
            <a:avLst/>
          </a:prstGeom>
        </p:spPr>
      </p:pic>
      <p:sp>
        <p:nvSpPr>
          <p:cNvPr id="7" name="panel-146"/>
          <p:cNvSpPr/>
          <p:nvPr/>
        </p:nvSpPr>
        <p:spPr>
          <a:xfrm>
            <a:off x="8001000" y="1737360"/>
            <a:ext cx="3639312" cy="1691640"/>
          </a:xfrm>
          <a:prstGeom prst="roundRect">
            <a:avLst>
              <a:gd name="adj" fmla="val 4324"/>
            </a:avLst>
          </a:prstGeom>
          <a:solidFill>
            <a:schemeClr val="tx2"/>
          </a:solidFill>
          <a:ln w="9525">
            <a:solidFill>
              <a:schemeClr val="accent6"/>
            </a:solidFill>
            <a:prstDash val="solid"/>
          </a:ln>
        </p:spPr>
      </p:sp>
      <p:sp>
        <p:nvSpPr>
          <p:cNvPr id="8" name="text-147"/>
          <p:cNvSpPr txBox="1"/>
          <p:nvPr/>
        </p:nvSpPr>
        <p:spPr>
          <a:xfrm>
            <a:off x="8229600" y="1920240"/>
            <a:ext cx="3200400" cy="320040"/>
          </a:xfrm>
          <a:prstGeom prst="rect">
            <a:avLst/>
          </a:prstGeom>
          <a:noFill/>
          <a:ln/>
        </p:spPr>
        <p:txBody>
          <a:bodyPr wrap="square" lIns="0" tIns="0" rIns="0" bIns="0" rtlCol="0" anchor="t"/>
          <a:lstStyle/>
          <a:p>
            <a:pPr indent="0" marL="0">
              <a:buNone/>
            </a:pPr>
            <a:r>
              <a:rPr lang="en-US" sz="1400" b="1" dirty="0">
                <a:solidFill>
                  <a:schemeClr val="accent4"/>
                </a:solidFill>
                <a:latin typeface="Consolas" pitchFamily="34" charset="0"/>
                <a:ea typeface="Consolas" pitchFamily="34" charset="-122"/>
                <a:cs typeface="Consolas" pitchFamily="34" charset="-120"/>
              </a:rPr>
              <a:t>BEFORE</a:t>
            </a:r>
            <a:endParaRPr lang="en-US" sz="1400" dirty="0"/>
          </a:p>
        </p:txBody>
      </p:sp>
      <p:sp>
        <p:nvSpPr>
          <p:cNvPr id="9" name="text-148"/>
          <p:cNvSpPr txBox="1"/>
          <p:nvPr/>
        </p:nvSpPr>
        <p:spPr>
          <a:xfrm>
            <a:off x="8229600" y="2286000"/>
            <a:ext cx="3200400" cy="1051560"/>
          </a:xfrm>
          <a:prstGeom prst="rect">
            <a:avLst/>
          </a:prstGeom>
          <a:noFill/>
          <a:ln/>
        </p:spPr>
        <p:txBody>
          <a:bodyPr wrap="square" lIns="0" tIns="0" rIns="0" bIns="0" rtlCol="0" anchor="t"/>
          <a:lstStyle/>
          <a:p>
            <a:pPr indent="0" marL="0">
              <a:buNone/>
            </a:pPr>
            <a:r>
              <a:rPr lang="en-US" sz="1500" dirty="0">
                <a:solidFill>
                  <a:schemeClr val="bg1"/>
                </a:solidFill>
              </a:rPr>
              <a:t>"Caused by memory fragmentation" — invented; never in the log</a:t>
            </a:r>
            <a:endParaRPr lang="en-US" sz="1500" dirty="0"/>
          </a:p>
        </p:txBody>
      </p:sp>
      <p:sp>
        <p:nvSpPr>
          <p:cNvPr id="10" name="panel-149"/>
          <p:cNvSpPr/>
          <p:nvPr/>
        </p:nvSpPr>
        <p:spPr>
          <a:xfrm>
            <a:off x="8001000" y="3657600"/>
            <a:ext cx="3639312" cy="1691640"/>
          </a:xfrm>
          <a:prstGeom prst="roundRect">
            <a:avLst>
              <a:gd name="adj" fmla="val 4324"/>
            </a:avLst>
          </a:prstGeom>
          <a:solidFill>
            <a:schemeClr val="tx2"/>
          </a:solidFill>
          <a:ln w="9525">
            <a:solidFill>
              <a:schemeClr val="accent6"/>
            </a:solidFill>
            <a:prstDash val="solid"/>
          </a:ln>
        </p:spPr>
      </p:sp>
      <p:sp>
        <p:nvSpPr>
          <p:cNvPr id="11" name="text-150"/>
          <p:cNvSpPr txBox="1"/>
          <p:nvPr/>
        </p:nvSpPr>
        <p:spPr>
          <a:xfrm>
            <a:off x="8229600" y="3840480"/>
            <a:ext cx="320040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AFTER</a:t>
            </a:r>
            <a:endParaRPr lang="en-US" sz="1400" dirty="0"/>
          </a:p>
        </p:txBody>
      </p:sp>
      <p:sp>
        <p:nvSpPr>
          <p:cNvPr id="12" name="text-151"/>
          <p:cNvSpPr txBox="1"/>
          <p:nvPr/>
        </p:nvSpPr>
        <p:spPr>
          <a:xfrm>
            <a:off x="8229600" y="4206240"/>
            <a:ext cx="3200400" cy="1051560"/>
          </a:xfrm>
          <a:prstGeom prst="rect">
            <a:avLst/>
          </a:prstGeom>
          <a:noFill/>
          <a:ln/>
        </p:spPr>
        <p:txBody>
          <a:bodyPr wrap="square" lIns="0" tIns="0" rIns="0" bIns="0" rtlCol="0" anchor="t"/>
          <a:lstStyle/>
          <a:p>
            <a:pPr indent="0" marL="0">
              <a:buNone/>
            </a:pPr>
            <a:r>
              <a:rPr lang="en-US" sz="1500" dirty="0">
                <a:solidFill>
                  <a:schemeClr val="bg1"/>
                </a:solidFill>
              </a:rPr>
              <a:t>1600 MB requested, 248 MB free; no lower-priority holder could free enough, so nothing was evicted</a:t>
            </a:r>
            <a:endParaRPr lang="en-US" sz="1500" dirty="0"/>
          </a:p>
        </p:txBody>
      </p:sp>
      <p:sp>
        <p:nvSpPr>
          <p:cNvPr id="13" name="text-152"/>
          <p:cNvSpPr txBox="1"/>
          <p:nvPr/>
        </p:nvSpPr>
        <p:spPr>
          <a:xfrm>
            <a:off x="8001000" y="5623560"/>
            <a:ext cx="3639312" cy="502920"/>
          </a:xfrm>
          <a:prstGeom prst="rect">
            <a:avLst/>
          </a:prstGeom>
          <a:noFill/>
          <a:ln/>
        </p:spPr>
        <p:txBody>
          <a:bodyPr wrap="square" lIns="0" tIns="0" rIns="0" bIns="0" rtlCol="0" anchor="t"/>
          <a:lstStyle/>
          <a:p>
            <a:pPr indent="0" marL="0">
              <a:buNone/>
            </a:pPr>
            <a:r>
              <a:rPr lang="en-US" sz="1500" i="1" dirty="0">
                <a:solidFill>
                  <a:schemeClr val="bg2"/>
                </a:solidFill>
              </a:rPr>
              <a:t>Same model. The difference was what it was given.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python -m pytest tests/ -v</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Running the system found what unit tests missed</a:t>
            </a:r>
            <a:endParaRPr lang="en-US" sz="3400" dirty="0"/>
          </a:p>
        </p:txBody>
      </p:sp>
      <p:sp>
        <p:nvSpPr>
          <p:cNvPr id="5" name="text-153"/>
          <p:cNvSpPr txBox="1"/>
          <p:nvPr/>
        </p:nvSpPr>
        <p:spPr>
          <a:xfrm>
            <a:off x="548640" y="1691640"/>
            <a:ext cx="3108960" cy="731520"/>
          </a:xfrm>
          <a:prstGeom prst="rect">
            <a:avLst/>
          </a:prstGeom>
          <a:noFill/>
          <a:ln/>
        </p:spPr>
        <p:txBody>
          <a:bodyPr wrap="square" lIns="0" tIns="0" rIns="0" bIns="0" rtlCol="0" anchor="b"/>
          <a:lstStyle/>
          <a:p>
            <a:pPr indent="0" marL="0">
              <a:buNone/>
            </a:pPr>
            <a:r>
              <a:rPr lang="en-US" sz="5000" b="1" dirty="0">
                <a:solidFill>
                  <a:schemeClr val="accent1"/>
                </a:solidFill>
                <a:latin typeface="Cambria" pitchFamily="34" charset="0"/>
                <a:ea typeface="Cambria" pitchFamily="34" charset="-122"/>
                <a:cs typeface="Cambria" pitchFamily="34" charset="-120"/>
              </a:rPr>
              <a:t>83</a:t>
            </a:r>
            <a:endParaRPr lang="en-US" sz="5000" dirty="0"/>
          </a:p>
        </p:txBody>
      </p:sp>
      <p:sp>
        <p:nvSpPr>
          <p:cNvPr id="6" name="text-154"/>
          <p:cNvSpPr txBox="1"/>
          <p:nvPr/>
        </p:nvSpPr>
        <p:spPr>
          <a:xfrm>
            <a:off x="548640" y="2468880"/>
            <a:ext cx="3200400" cy="457200"/>
          </a:xfrm>
          <a:prstGeom prst="rect">
            <a:avLst/>
          </a:prstGeom>
          <a:noFill/>
          <a:ln/>
        </p:spPr>
        <p:txBody>
          <a:bodyPr wrap="square" lIns="0" tIns="0" rIns="0" bIns="0" rtlCol="0" anchor="t"/>
          <a:lstStyle/>
          <a:p>
            <a:pPr indent="0" marL="0">
              <a:buNone/>
            </a:pPr>
            <a:r>
              <a:rPr lang="en-US" sz="1500" dirty="0">
                <a:solidFill>
                  <a:schemeClr val="bg2"/>
                </a:solidFill>
              </a:rPr>
              <a:t>automated tests, all passing</a:t>
            </a:r>
            <a:endParaRPr lang="en-US" sz="1500" dirty="0"/>
          </a:p>
        </p:txBody>
      </p:sp>
      <p:sp>
        <p:nvSpPr>
          <p:cNvPr id="7" name="text-155"/>
          <p:cNvSpPr txBox="1"/>
          <p:nvPr/>
        </p:nvSpPr>
        <p:spPr>
          <a:xfrm>
            <a:off x="548640" y="3172968"/>
            <a:ext cx="3108960" cy="731520"/>
          </a:xfrm>
          <a:prstGeom prst="rect">
            <a:avLst/>
          </a:prstGeom>
          <a:noFill/>
          <a:ln/>
        </p:spPr>
        <p:txBody>
          <a:bodyPr wrap="square" lIns="0" tIns="0" rIns="0" bIns="0" rtlCol="0" anchor="b"/>
          <a:lstStyle/>
          <a:p>
            <a:pPr indent="0" marL="0">
              <a:buNone/>
            </a:pPr>
            <a:r>
              <a:rPr lang="en-US" sz="5000" b="1" dirty="0">
                <a:solidFill>
                  <a:schemeClr val="accent3"/>
                </a:solidFill>
                <a:latin typeface="Cambria" pitchFamily="34" charset="0"/>
                <a:ea typeface="Cambria" pitchFamily="34" charset="-122"/>
                <a:cs typeface="Cambria" pitchFamily="34" charset="-120"/>
              </a:rPr>
              <a:t>12</a:t>
            </a:r>
            <a:endParaRPr lang="en-US" sz="5000" dirty="0"/>
          </a:p>
        </p:txBody>
      </p:sp>
      <p:sp>
        <p:nvSpPr>
          <p:cNvPr id="8" name="text-156"/>
          <p:cNvSpPr txBox="1"/>
          <p:nvPr/>
        </p:nvSpPr>
        <p:spPr>
          <a:xfrm>
            <a:off x="548640" y="3950208"/>
            <a:ext cx="3200400" cy="457200"/>
          </a:xfrm>
          <a:prstGeom prst="rect">
            <a:avLst/>
          </a:prstGeom>
          <a:noFill/>
          <a:ln/>
        </p:spPr>
        <p:txBody>
          <a:bodyPr wrap="square" lIns="0" tIns="0" rIns="0" bIns="0" rtlCol="0" anchor="t"/>
          <a:lstStyle/>
          <a:p>
            <a:pPr indent="0" marL="0">
              <a:buNone/>
            </a:pPr>
            <a:r>
              <a:rPr lang="en-US" sz="1500" dirty="0">
                <a:solidFill>
                  <a:schemeClr val="bg2"/>
                </a:solidFill>
              </a:rPr>
              <a:t>defects found by running the system</a:t>
            </a:r>
            <a:endParaRPr lang="en-US" sz="1500" dirty="0"/>
          </a:p>
        </p:txBody>
      </p:sp>
      <p:sp>
        <p:nvSpPr>
          <p:cNvPr id="9" name="text-157"/>
          <p:cNvSpPr txBox="1"/>
          <p:nvPr/>
        </p:nvSpPr>
        <p:spPr>
          <a:xfrm>
            <a:off x="548640" y="4654296"/>
            <a:ext cx="3108960" cy="731520"/>
          </a:xfrm>
          <a:prstGeom prst="rect">
            <a:avLst/>
          </a:prstGeom>
          <a:noFill/>
          <a:ln/>
        </p:spPr>
        <p:txBody>
          <a:bodyPr wrap="square" lIns="0" tIns="0" rIns="0" bIns="0" rtlCol="0" anchor="b"/>
          <a:lstStyle/>
          <a:p>
            <a:pPr indent="0" marL="0">
              <a:buNone/>
            </a:pPr>
            <a:r>
              <a:rPr lang="en-US" sz="5000" b="1" dirty="0">
                <a:solidFill>
                  <a:schemeClr val="accent4"/>
                </a:solidFill>
                <a:latin typeface="Cambria" pitchFamily="34" charset="0"/>
                <a:ea typeface="Cambria" pitchFamily="34" charset="-122"/>
                <a:cs typeface="Cambria" pitchFamily="34" charset="-120"/>
              </a:rPr>
              <a:t>1</a:t>
            </a:r>
            <a:endParaRPr lang="en-US" sz="5000" dirty="0"/>
          </a:p>
        </p:txBody>
      </p:sp>
      <p:sp>
        <p:nvSpPr>
          <p:cNvPr id="10" name="text-158"/>
          <p:cNvSpPr txBox="1"/>
          <p:nvPr/>
        </p:nvSpPr>
        <p:spPr>
          <a:xfrm>
            <a:off x="548640" y="5431536"/>
            <a:ext cx="3200400" cy="457200"/>
          </a:xfrm>
          <a:prstGeom prst="rect">
            <a:avLst/>
          </a:prstGeom>
          <a:noFill/>
          <a:ln/>
        </p:spPr>
        <p:txBody>
          <a:bodyPr wrap="square" lIns="0" tIns="0" rIns="0" bIns="0" rtlCol="0" anchor="t"/>
          <a:lstStyle/>
          <a:p>
            <a:pPr indent="0" marL="0">
              <a:buNone/>
            </a:pPr>
            <a:r>
              <a:rPr lang="en-US" sz="1500" dirty="0">
                <a:solidFill>
                  <a:schemeClr val="bg2"/>
                </a:solidFill>
              </a:rPr>
              <a:t>published result inverted, then corrected</a:t>
            </a:r>
            <a:endParaRPr lang="en-US" sz="1500" dirty="0"/>
          </a:p>
        </p:txBody>
      </p:sp>
      <p:sp>
        <p:nvSpPr>
          <p:cNvPr id="11" name="panel-159"/>
          <p:cNvSpPr/>
          <p:nvPr/>
        </p:nvSpPr>
        <p:spPr>
          <a:xfrm>
            <a:off x="4023360" y="1783080"/>
            <a:ext cx="7616952" cy="914400"/>
          </a:xfrm>
          <a:prstGeom prst="roundRect">
            <a:avLst>
              <a:gd name="adj" fmla="val 8000"/>
            </a:avLst>
          </a:prstGeom>
          <a:solidFill>
            <a:schemeClr val="tx2"/>
          </a:solidFill>
          <a:ln w="9525">
            <a:solidFill>
              <a:schemeClr val="accent6"/>
            </a:solidFill>
            <a:prstDash val="solid"/>
          </a:ln>
        </p:spPr>
      </p:sp>
      <p:sp>
        <p:nvSpPr>
          <p:cNvPr id="12" name="text-160"/>
          <p:cNvSpPr txBox="1"/>
          <p:nvPr/>
        </p:nvSpPr>
        <p:spPr>
          <a:xfrm>
            <a:off x="4297680" y="1911096"/>
            <a:ext cx="7132320" cy="347472"/>
          </a:xfrm>
          <a:prstGeom prst="rect">
            <a:avLst/>
          </a:prstGeom>
          <a:noFill/>
          <a:ln/>
        </p:spPr>
        <p:txBody>
          <a:bodyPr wrap="square" lIns="0" tIns="0" rIns="0" bIns="0" rtlCol="0" anchor="t"/>
          <a:lstStyle/>
          <a:p>
            <a:pPr indent="0" marL="0">
              <a:buNone/>
            </a:pPr>
            <a:r>
              <a:rPr lang="en-US" sz="1700" b="1" dirty="0">
                <a:solidFill>
                  <a:schemeClr val="bg1"/>
                </a:solidFill>
              </a:rPr>
              <a:t>SJF idled the CPU</a:t>
            </a:r>
            <a:endParaRPr lang="en-US" sz="1700" dirty="0"/>
          </a:p>
        </p:txBody>
      </p:sp>
      <p:sp>
        <p:nvSpPr>
          <p:cNvPr id="13" name="text-161"/>
          <p:cNvSpPr txBox="1"/>
          <p:nvPr/>
        </p:nvSpPr>
        <p:spPr>
          <a:xfrm>
            <a:off x="4297680" y="2286000"/>
            <a:ext cx="7132320" cy="320040"/>
          </a:xfrm>
          <a:prstGeom prst="rect">
            <a:avLst/>
          </a:prstGeom>
          <a:noFill/>
          <a:ln/>
        </p:spPr>
        <p:txBody>
          <a:bodyPr wrap="square" lIns="0" tIns="0" rIns="0" bIns="0" rtlCol="0" anchor="t"/>
          <a:lstStyle/>
          <a:p>
            <a:pPr indent="0" marL="0">
              <a:buNone/>
            </a:pPr>
            <a:r>
              <a:rPr lang="en-US" sz="1400" dirty="0">
                <a:solidFill>
                  <a:schemeClr val="bg2"/>
                </a:solidFill>
              </a:rPr>
              <a:t>The test asserted the bug (avg wait 5.75 vs textbook 5.25)</a:t>
            </a:r>
            <a:endParaRPr lang="en-US" sz="1400" dirty="0"/>
          </a:p>
        </p:txBody>
      </p:sp>
      <p:sp>
        <p:nvSpPr>
          <p:cNvPr id="14" name="panel-162"/>
          <p:cNvSpPr/>
          <p:nvPr/>
        </p:nvSpPr>
        <p:spPr>
          <a:xfrm>
            <a:off x="4023360" y="2880360"/>
            <a:ext cx="7616952" cy="914400"/>
          </a:xfrm>
          <a:prstGeom prst="roundRect">
            <a:avLst>
              <a:gd name="adj" fmla="val 8000"/>
            </a:avLst>
          </a:prstGeom>
          <a:solidFill>
            <a:schemeClr val="tx2"/>
          </a:solidFill>
          <a:ln w="9525">
            <a:solidFill>
              <a:schemeClr val="accent6"/>
            </a:solidFill>
            <a:prstDash val="solid"/>
          </a:ln>
        </p:spPr>
      </p:sp>
      <p:sp>
        <p:nvSpPr>
          <p:cNvPr id="15" name="text-163"/>
          <p:cNvSpPr txBox="1"/>
          <p:nvPr/>
        </p:nvSpPr>
        <p:spPr>
          <a:xfrm>
            <a:off x="4297680" y="3008376"/>
            <a:ext cx="7132320" cy="347472"/>
          </a:xfrm>
          <a:prstGeom prst="rect">
            <a:avLst/>
          </a:prstGeom>
          <a:noFill/>
          <a:ln/>
        </p:spPr>
        <p:txBody>
          <a:bodyPr wrap="square" lIns="0" tIns="0" rIns="0" bIns="0" rtlCol="0" anchor="t"/>
          <a:lstStyle/>
          <a:p>
            <a:pPr indent="0" marL="0">
              <a:buNone/>
            </a:pPr>
            <a:r>
              <a:rPr lang="en-US" sz="1700" b="1" dirty="0">
                <a:solidFill>
                  <a:schemeClr val="bg1"/>
                </a:solidFill>
              </a:rPr>
              <a:t>Recovery ping-pong</a:t>
            </a:r>
            <a:endParaRPr lang="en-US" sz="1700" dirty="0"/>
          </a:p>
        </p:txBody>
      </p:sp>
      <p:sp>
        <p:nvSpPr>
          <p:cNvPr id="16" name="text-164"/>
          <p:cNvSpPr txBox="1"/>
          <p:nvPr/>
        </p:nvSpPr>
        <p:spPr>
          <a:xfrm>
            <a:off x="4297680" y="3383280"/>
            <a:ext cx="7132320" cy="320040"/>
          </a:xfrm>
          <a:prstGeom prst="rect">
            <a:avLst/>
          </a:prstGeom>
          <a:noFill/>
          <a:ln/>
        </p:spPr>
        <p:txBody>
          <a:bodyPr wrap="square" lIns="0" tIns="0" rIns="0" bIns="0" rtlCol="0" anchor="t"/>
          <a:lstStyle/>
          <a:p>
            <a:pPr indent="0" marL="0">
              <a:buNone/>
            </a:pPr>
            <a:r>
              <a:rPr lang="en-US" sz="1400" dirty="0">
                <a:solidFill>
                  <a:schemeClr val="bg2"/>
                </a:solidFill>
              </a:rPr>
              <a:t>Two tasks evicted each other; now strictly-lower priority only</a:t>
            </a:r>
            <a:endParaRPr lang="en-US" sz="1400" dirty="0"/>
          </a:p>
        </p:txBody>
      </p:sp>
      <p:sp>
        <p:nvSpPr>
          <p:cNvPr id="17" name="panel-165"/>
          <p:cNvSpPr/>
          <p:nvPr/>
        </p:nvSpPr>
        <p:spPr>
          <a:xfrm>
            <a:off x="4023360" y="3977640"/>
            <a:ext cx="7616952" cy="914400"/>
          </a:xfrm>
          <a:prstGeom prst="roundRect">
            <a:avLst>
              <a:gd name="adj" fmla="val 8000"/>
            </a:avLst>
          </a:prstGeom>
          <a:solidFill>
            <a:schemeClr val="tx2"/>
          </a:solidFill>
          <a:ln w="9525">
            <a:solidFill>
              <a:schemeClr val="accent6"/>
            </a:solidFill>
            <a:prstDash val="solid"/>
          </a:ln>
        </p:spPr>
      </p:sp>
      <p:sp>
        <p:nvSpPr>
          <p:cNvPr id="18" name="text-166"/>
          <p:cNvSpPr txBox="1"/>
          <p:nvPr/>
        </p:nvSpPr>
        <p:spPr>
          <a:xfrm>
            <a:off x="4297680" y="4105656"/>
            <a:ext cx="7132320" cy="347472"/>
          </a:xfrm>
          <a:prstGeom prst="rect">
            <a:avLst/>
          </a:prstGeom>
          <a:noFill/>
          <a:ln/>
        </p:spPr>
        <p:txBody>
          <a:bodyPr wrap="square" lIns="0" tIns="0" rIns="0" bIns="0" rtlCol="0" anchor="t"/>
          <a:lstStyle/>
          <a:p>
            <a:pPr indent="0" marL="0">
              <a:buNone/>
            </a:pPr>
            <a:r>
              <a:rPr lang="en-US" sz="1700" b="1" dirty="0">
                <a:solidFill>
                  <a:schemeClr val="bg1"/>
                </a:solidFill>
              </a:rPr>
              <a:t>AI invented causes</a:t>
            </a:r>
            <a:endParaRPr lang="en-US" sz="1700" dirty="0"/>
          </a:p>
        </p:txBody>
      </p:sp>
      <p:sp>
        <p:nvSpPr>
          <p:cNvPr id="19" name="text-167"/>
          <p:cNvSpPr txBox="1"/>
          <p:nvPr/>
        </p:nvSpPr>
        <p:spPr>
          <a:xfrm>
            <a:off x="4297680" y="4480560"/>
            <a:ext cx="7132320" cy="320040"/>
          </a:xfrm>
          <a:prstGeom prst="rect">
            <a:avLst/>
          </a:prstGeom>
          <a:noFill/>
          <a:ln/>
        </p:spPr>
        <p:txBody>
          <a:bodyPr wrap="square" lIns="0" tIns="0" rIns="0" bIns="0" rtlCol="0" anchor="t"/>
          <a:lstStyle/>
          <a:p>
            <a:pPr indent="0" marL="0">
              <a:buNone/>
            </a:pPr>
            <a:r>
              <a:rPr lang="en-US" sz="1400" dirty="0">
                <a:solidFill>
                  <a:schemeClr val="bg2"/>
                </a:solidFill>
              </a:rPr>
              <a:t>No incident data in the prompt; now injected as ground truth</a:t>
            </a:r>
            <a:endParaRPr lang="en-US" sz="1400" dirty="0"/>
          </a:p>
        </p:txBody>
      </p:sp>
      <p:sp>
        <p:nvSpPr>
          <p:cNvPr id="20" name="panel-168"/>
          <p:cNvSpPr/>
          <p:nvPr/>
        </p:nvSpPr>
        <p:spPr>
          <a:xfrm>
            <a:off x="4023360" y="5074920"/>
            <a:ext cx="7616952" cy="914400"/>
          </a:xfrm>
          <a:prstGeom prst="roundRect">
            <a:avLst>
              <a:gd name="adj" fmla="val 8000"/>
            </a:avLst>
          </a:prstGeom>
          <a:solidFill>
            <a:schemeClr val="tx2"/>
          </a:solidFill>
          <a:ln w="9525">
            <a:solidFill>
              <a:schemeClr val="accent6"/>
            </a:solidFill>
            <a:prstDash val="solid"/>
          </a:ln>
        </p:spPr>
      </p:sp>
      <p:sp>
        <p:nvSpPr>
          <p:cNvPr id="21" name="text-169"/>
          <p:cNvSpPr txBox="1"/>
          <p:nvPr/>
        </p:nvSpPr>
        <p:spPr>
          <a:xfrm>
            <a:off x="4297680" y="5202936"/>
            <a:ext cx="7132320" cy="347472"/>
          </a:xfrm>
          <a:prstGeom prst="rect">
            <a:avLst/>
          </a:prstGeom>
          <a:noFill/>
          <a:ln/>
        </p:spPr>
        <p:txBody>
          <a:bodyPr wrap="square" lIns="0" tIns="0" rIns="0" bIns="0" rtlCol="0" anchor="t"/>
          <a:lstStyle/>
          <a:p>
            <a:pPr indent="0" marL="0">
              <a:buNone/>
            </a:pPr>
            <a:r>
              <a:rPr lang="en-US" sz="1700" b="1" dirty="0">
                <a:solidFill>
                  <a:schemeClr val="bg1"/>
                </a:solidFill>
              </a:rPr>
              <a:t>Tests called a live LLM</a:t>
            </a:r>
            <a:endParaRPr lang="en-US" sz="1700" dirty="0"/>
          </a:p>
        </p:txBody>
      </p:sp>
      <p:sp>
        <p:nvSpPr>
          <p:cNvPr id="22" name="text-170"/>
          <p:cNvSpPr txBox="1"/>
          <p:nvPr/>
        </p:nvSpPr>
        <p:spPr>
          <a:xfrm>
            <a:off x="4297680" y="5577840"/>
            <a:ext cx="7132320" cy="320040"/>
          </a:xfrm>
          <a:prstGeom prst="rect">
            <a:avLst/>
          </a:prstGeom>
          <a:noFill/>
          <a:ln/>
        </p:spPr>
        <p:txBody>
          <a:bodyPr wrap="square" lIns="0" tIns="0" rIns="0" bIns="0" rtlCol="0" anchor="t"/>
          <a:lstStyle/>
          <a:p>
            <a:pPr indent="0" marL="0">
              <a:buNone/>
            </a:pPr>
            <a:r>
              <a:rPr lang="en-US" sz="1400" dirty="0">
                <a:solidFill>
                  <a:schemeClr val="bg2"/>
                </a:solidFill>
              </a:rPr>
              <a:t>load_dotenv re-added deleted keys; now blanked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dirty="0">
                <a:solidFill>
                  <a:schemeClr val="accent1"/>
                </a:solidFill>
                <a:latin typeface="Consolas" pitchFamily="34" charset="0"/>
                <a:ea typeface="Consolas" pitchFamily="34" charset="-122"/>
                <a:cs typeface="Consolas" pitchFamily="34" charset="-120"/>
              </a:rPr>
              <a:t>$ procura --limits</a:t>
            </a:r>
            <a:endParaRPr lang="en-US" sz="13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Limitations and what comes next</a:t>
            </a:r>
            <a:endParaRPr lang="en-US" sz="3400" dirty="0"/>
          </a:p>
        </p:txBody>
      </p:sp>
      <p:sp>
        <p:nvSpPr>
          <p:cNvPr id="5" name="text-171"/>
          <p:cNvSpPr txBox="1"/>
          <p:nvPr/>
        </p:nvSpPr>
        <p:spPr>
          <a:xfrm>
            <a:off x="548640" y="5166360"/>
            <a:ext cx="11094415" cy="411480"/>
          </a:xfrm>
          <a:prstGeom prst="rect">
            <a:avLst/>
          </a:prstGeom>
          <a:noFill/>
          <a:ln/>
        </p:spPr>
        <p:txBody>
          <a:bodyPr wrap="square" lIns="0" tIns="0" rIns="0" bIns="0" rtlCol="0" anchor="t"/>
          <a:lstStyle/>
          <a:p>
            <a:pPr indent="0" marL="0">
              <a:buNone/>
            </a:pPr>
            <a:r>
              <a:rPr lang="en-US" sz="1600" i="1" dirty="0">
                <a:solidFill>
                  <a:schemeClr val="bg2"/>
                </a:solidFill>
              </a:rPr>
              <a:t>Each item is discussed with evidence in the documentation paper, Sections 11–12.</a:t>
            </a:r>
            <a:endParaRPr lang="en-US" sz="1600" dirty="0"/>
          </a:p>
        </p:txBody>
      </p:sp>
      <p:sp>
        <p:nvSpPr>
          <p:cNvPr id="6" name="panel-172"/>
          <p:cNvSpPr/>
          <p:nvPr/>
        </p:nvSpPr>
        <p:spPr>
          <a:xfrm>
            <a:off x="548640" y="1737360"/>
            <a:ext cx="5349240" cy="3108960"/>
          </a:xfrm>
          <a:prstGeom prst="roundRect">
            <a:avLst>
              <a:gd name="adj" fmla="val 2353"/>
            </a:avLst>
          </a:prstGeom>
          <a:solidFill>
            <a:schemeClr val="tx2"/>
          </a:solidFill>
          <a:ln w="9525">
            <a:solidFill>
              <a:schemeClr val="accent6"/>
            </a:solidFill>
            <a:prstDash val="solid"/>
          </a:ln>
        </p:spPr>
      </p:sp>
      <p:sp>
        <p:nvSpPr>
          <p:cNvPr id="7" name="text-173"/>
          <p:cNvSpPr txBox="1"/>
          <p:nvPr/>
        </p:nvSpPr>
        <p:spPr>
          <a:xfrm>
            <a:off x="868680" y="1920240"/>
            <a:ext cx="4572000" cy="411480"/>
          </a:xfrm>
          <a:prstGeom prst="rect">
            <a:avLst/>
          </a:prstGeom>
          <a:noFill/>
          <a:ln/>
        </p:spPr>
        <p:txBody>
          <a:bodyPr wrap="square" lIns="0" tIns="0" rIns="0" bIns="0" rtlCol="0" anchor="t"/>
          <a:lstStyle/>
          <a:p>
            <a:pPr indent="0" marL="0">
              <a:buNone/>
            </a:pPr>
            <a:r>
              <a:rPr lang="en-US" sz="2100" b="1" dirty="0">
                <a:solidFill>
                  <a:schemeClr val="accent3"/>
                </a:solidFill>
                <a:latin typeface="Cambria" pitchFamily="34" charset="0"/>
                <a:ea typeface="Cambria" pitchFamily="34" charset="-122"/>
                <a:cs typeface="Cambria" pitchFamily="34" charset="-120"/>
              </a:rPr>
              <a:t>Limitations</a:t>
            </a:r>
            <a:endParaRPr lang="en-US" sz="2100" dirty="0"/>
          </a:p>
        </p:txBody>
      </p:sp>
      <p:sp>
        <p:nvSpPr>
          <p:cNvPr id="8" name="list-174"/>
          <p:cNvSpPr txBox="1"/>
          <p:nvPr/>
        </p:nvSpPr>
        <p:spPr>
          <a:xfrm>
            <a:off x="868680" y="2514600"/>
            <a:ext cx="470916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 simulation on one abstract CPU, not a real kernel</a:t>
            </a:r>
            <a:endParaRPr lang="en-US" sz="1600" dirty="0"/>
          </a:p>
          <a:p>
            <a:pPr marL="342900" indent="-342900">
              <a:spcAft>
                <a:spcPts val="1000"/>
              </a:spcAft>
              <a:buSzPct val="100000"/>
              <a:buChar char="•"/>
            </a:pPr>
            <a:r>
              <a:rPr lang="en-US" sz="1600" dirty="0">
                <a:solidFill>
                  <a:schemeClr val="bg1"/>
                </a:solidFill>
              </a:rPr>
              <a:t>Small workloads: 30 synthetic jobs, a 15-job trace, 7 live tasks</a:t>
            </a:r>
            <a:endParaRPr lang="en-US" sz="1600" dirty="0"/>
          </a:p>
          <a:p>
            <a:pPr marL="342900" indent="-342900">
              <a:spcAft>
                <a:spcPts val="1000"/>
              </a:spcAft>
              <a:buSzPct val="100000"/>
              <a:buChar char="•"/>
            </a:pPr>
            <a:r>
              <a:rPr lang="en-US" sz="1600" dirty="0">
                <a:solidFill>
                  <a:schemeClr val="bg1"/>
                </a:solidFill>
              </a:rPr>
              <a:t>AI evaluated qualitatively; it can still overstate</a:t>
            </a:r>
            <a:endParaRPr lang="en-US" sz="1600" dirty="0"/>
          </a:p>
          <a:p>
            <a:pPr marL="342900" indent="-342900">
              <a:spcAft>
                <a:spcPts val="1000"/>
              </a:spcAft>
              <a:buSzPct val="100000"/>
              <a:buChar char="•"/>
            </a:pPr>
            <a:r>
              <a:rPr lang="en-US" sz="1600" dirty="0">
                <a:solidFill>
                  <a:schemeClr val="bg1"/>
                </a:solidFill>
              </a:rPr>
              <a:t>Single local user, no authentication by design</a:t>
            </a:r>
            <a:endParaRPr lang="en-US" sz="1600" dirty="0"/>
          </a:p>
        </p:txBody>
      </p:sp>
      <p:sp>
        <p:nvSpPr>
          <p:cNvPr id="9" name="panel-175"/>
          <p:cNvSpPr/>
          <p:nvPr/>
        </p:nvSpPr>
        <p:spPr>
          <a:xfrm>
            <a:off x="6291072" y="1737360"/>
            <a:ext cx="5349240" cy="3108960"/>
          </a:xfrm>
          <a:prstGeom prst="roundRect">
            <a:avLst>
              <a:gd name="adj" fmla="val 2353"/>
            </a:avLst>
          </a:prstGeom>
          <a:solidFill>
            <a:schemeClr val="tx2"/>
          </a:solidFill>
          <a:ln w="9525">
            <a:solidFill>
              <a:schemeClr val="accent6"/>
            </a:solidFill>
            <a:prstDash val="solid"/>
          </a:ln>
        </p:spPr>
      </p:sp>
      <p:sp>
        <p:nvSpPr>
          <p:cNvPr id="10" name="text-176"/>
          <p:cNvSpPr txBox="1"/>
          <p:nvPr/>
        </p:nvSpPr>
        <p:spPr>
          <a:xfrm>
            <a:off x="6611112" y="1920240"/>
            <a:ext cx="4572000" cy="411480"/>
          </a:xfrm>
          <a:prstGeom prst="rect">
            <a:avLst/>
          </a:prstGeom>
          <a:noFill/>
          <a:ln/>
        </p:spPr>
        <p:txBody>
          <a:bodyPr wrap="square" lIns="0" tIns="0" rIns="0" bIns="0" rtlCol="0" anchor="t"/>
          <a:lstStyle/>
          <a:p>
            <a:pPr indent="0" marL="0">
              <a:buNone/>
            </a:pPr>
            <a:r>
              <a:rPr lang="en-US" sz="2100" b="1" dirty="0">
                <a:solidFill>
                  <a:schemeClr val="accent1"/>
                </a:solidFill>
                <a:latin typeface="Cambria" pitchFamily="34" charset="0"/>
                <a:ea typeface="Cambria" pitchFamily="34" charset="-122"/>
                <a:cs typeface="Cambria" pitchFamily="34" charset="-120"/>
              </a:rPr>
              <a:t>Future work</a:t>
            </a:r>
            <a:endParaRPr lang="en-US" sz="2100" dirty="0"/>
          </a:p>
        </p:txBody>
      </p:sp>
      <p:sp>
        <p:nvSpPr>
          <p:cNvPr id="11" name="list-177"/>
          <p:cNvSpPr txBox="1"/>
          <p:nvPr/>
        </p:nvSpPr>
        <p:spPr>
          <a:xfrm>
            <a:off x="6611112" y="2514600"/>
            <a:ext cx="470916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Fairness over waiting time and allocation rate, not only totals</a:t>
            </a:r>
            <a:endParaRPr lang="en-US" sz="1600" dirty="0"/>
          </a:p>
          <a:p>
            <a:pPr marL="342900" indent="-342900">
              <a:spcAft>
                <a:spcPts val="1000"/>
              </a:spcAft>
              <a:buSzPct val="100000"/>
              <a:buChar char="•"/>
            </a:pPr>
            <a:r>
              <a:rPr lang="en-US" sz="1600" dirty="0">
                <a:solidFill>
                  <a:schemeClr val="bg1"/>
                </a:solidFill>
              </a:rPr>
              <a:t>Replay full Parallel Workloads Archive traces</a:t>
            </a:r>
            <a:endParaRPr lang="en-US" sz="1600" dirty="0"/>
          </a:p>
          <a:p>
            <a:pPr marL="342900" indent="-342900">
              <a:spcAft>
                <a:spcPts val="1000"/>
              </a:spcAft>
              <a:buSzPct val="100000"/>
              <a:buChar char="•"/>
            </a:pPr>
            <a:r>
              <a:rPr lang="en-US" sz="1600" dirty="0">
                <a:solidFill>
                  <a:schemeClr val="bg1"/>
                </a:solidFill>
              </a:rPr>
              <a:t>A labelled question set to score the assistant</a:t>
            </a:r>
            <a:endParaRPr lang="en-US" sz="1600" dirty="0"/>
          </a:p>
          <a:p>
            <a:pPr marL="342900" indent="-342900">
              <a:spcAft>
                <a:spcPts val="1000"/>
              </a:spcAft>
              <a:buSzPct val="100000"/>
              <a:buChar char="•"/>
            </a:pPr>
            <a:r>
              <a:rPr lang="en-US" sz="1600" dirty="0">
                <a:solidFill>
                  <a:schemeClr val="bg1"/>
                </a:solidFill>
              </a:rPr>
              <a:t>Multi-user fair-share with authentication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178"/>
          <p:cNvSpPr txBox="1"/>
          <p:nvPr/>
        </p:nvSpPr>
        <p:spPr>
          <a:xfrm>
            <a:off x="548640" y="640080"/>
            <a:ext cx="5486400" cy="365760"/>
          </a:xfrm>
          <a:prstGeom prst="rect">
            <a:avLst/>
          </a:prstGeom>
          <a:noFill/>
          <a:ln/>
        </p:spPr>
        <p:txBody>
          <a:bodyPr wrap="square" lIns="0" tIns="0" rIns="0" bIns="0" rtlCol="0" anchor="t"/>
          <a:lstStyle/>
          <a:p>
            <a:pPr indent="0" marL="0">
              <a:buNone/>
            </a:pPr>
            <a:r>
              <a:rPr lang="en-US" sz="1800" dirty="0">
                <a:solidFill>
                  <a:schemeClr val="accent1"/>
                </a:solidFill>
                <a:latin typeface="Consolas" pitchFamily="34" charset="0"/>
                <a:ea typeface="Consolas" pitchFamily="34" charset="-122"/>
                <a:cs typeface="Consolas" pitchFamily="34" charset="-120"/>
              </a:rPr>
              <a:t>$ procura --summary</a:t>
            </a:r>
            <a:endParaRPr lang="en-US" sz="1800" dirty="0"/>
          </a:p>
        </p:txBody>
      </p:sp>
      <p:sp>
        <p:nvSpPr>
          <p:cNvPr id="3" name="text-179"/>
          <p:cNvSpPr txBox="1"/>
          <p:nvPr/>
        </p:nvSpPr>
        <p:spPr>
          <a:xfrm>
            <a:off x="548640" y="1143000"/>
            <a:ext cx="11094415" cy="118872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OS theory works on to-do lists — and makes its trade-offs visible</a:t>
            </a:r>
            <a:endParaRPr lang="en-US" sz="3800" dirty="0"/>
          </a:p>
        </p:txBody>
      </p:sp>
      <p:sp>
        <p:nvSpPr>
          <p:cNvPr id="4" name="panel-180"/>
          <p:cNvSpPr/>
          <p:nvPr/>
        </p:nvSpPr>
        <p:spPr>
          <a:xfrm>
            <a:off x="548640" y="2743200"/>
            <a:ext cx="3474720" cy="2331720"/>
          </a:xfrm>
          <a:prstGeom prst="roundRect">
            <a:avLst>
              <a:gd name="adj" fmla="val 3137"/>
            </a:avLst>
          </a:prstGeom>
          <a:solidFill>
            <a:schemeClr val="tx2"/>
          </a:solidFill>
          <a:ln w="9525">
            <a:solidFill>
              <a:schemeClr val="accent6"/>
            </a:solidFill>
            <a:prstDash val="solid"/>
          </a:ln>
        </p:spPr>
      </p:sp>
      <p:sp>
        <p:nvSpPr>
          <p:cNvPr id="5" name="text-181"/>
          <p:cNvSpPr txBox="1"/>
          <p:nvPr/>
        </p:nvSpPr>
        <p:spPr>
          <a:xfrm>
            <a:off x="822960" y="2944368"/>
            <a:ext cx="292608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Scheduling</a:t>
            </a:r>
            <a:endParaRPr lang="en-US" sz="2000" dirty="0"/>
          </a:p>
        </p:txBody>
      </p:sp>
      <p:sp>
        <p:nvSpPr>
          <p:cNvPr id="6" name="text-182"/>
          <p:cNvSpPr txBox="1"/>
          <p:nvPr/>
        </p:nvSpPr>
        <p:spPr>
          <a:xfrm>
            <a:off x="822960" y="3474720"/>
            <a:ext cx="2926080" cy="1463040"/>
          </a:xfrm>
          <a:prstGeom prst="rect">
            <a:avLst/>
          </a:prstGeom>
          <a:noFill/>
          <a:ln/>
        </p:spPr>
        <p:txBody>
          <a:bodyPr wrap="square" lIns="0" tIns="0" rIns="0" bIns="0" rtlCol="0" anchor="t"/>
          <a:lstStyle/>
          <a:p>
            <a:pPr indent="0" marL="0">
              <a:buNone/>
            </a:pPr>
            <a:r>
              <a:rPr lang="en-US" sz="1500" dirty="0">
                <a:solidFill>
                  <a:schemeClr val="bg2"/>
                </a:solidFill>
              </a:rPr>
              <a:t>SJF minimises average wait, preemption buys responsiveness, EEVDF shares by weight without starvation</a:t>
            </a:r>
            <a:endParaRPr lang="en-US" sz="1500" dirty="0"/>
          </a:p>
        </p:txBody>
      </p:sp>
      <p:sp>
        <p:nvSpPr>
          <p:cNvPr id="7" name="panel-183"/>
          <p:cNvSpPr/>
          <p:nvPr/>
        </p:nvSpPr>
        <p:spPr>
          <a:xfrm>
            <a:off x="4315968" y="2743200"/>
            <a:ext cx="3474720" cy="2331720"/>
          </a:xfrm>
          <a:prstGeom prst="roundRect">
            <a:avLst>
              <a:gd name="adj" fmla="val 3137"/>
            </a:avLst>
          </a:prstGeom>
          <a:solidFill>
            <a:schemeClr val="tx2"/>
          </a:solidFill>
          <a:ln w="9525">
            <a:solidFill>
              <a:schemeClr val="accent6"/>
            </a:solidFill>
            <a:prstDash val="solid"/>
          </a:ln>
        </p:spPr>
      </p:sp>
      <p:sp>
        <p:nvSpPr>
          <p:cNvPr id="8" name="text-184"/>
          <p:cNvSpPr txBox="1"/>
          <p:nvPr/>
        </p:nvSpPr>
        <p:spPr>
          <a:xfrm>
            <a:off x="4590288" y="2944368"/>
            <a:ext cx="292608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Self-healing</a:t>
            </a:r>
            <a:endParaRPr lang="en-US" sz="2000" dirty="0"/>
          </a:p>
        </p:txBody>
      </p:sp>
      <p:sp>
        <p:nvSpPr>
          <p:cNvPr id="9" name="text-185"/>
          <p:cNvSpPr txBox="1"/>
          <p:nvPr/>
        </p:nvSpPr>
        <p:spPr>
          <a:xfrm>
            <a:off x="4590288" y="3474720"/>
            <a:ext cx="2926080" cy="1463040"/>
          </a:xfrm>
          <a:prstGeom prst="rect">
            <a:avLst/>
          </a:prstGeom>
          <a:noFill/>
          <a:ln/>
        </p:spPr>
        <p:txBody>
          <a:bodyPr wrap="square" lIns="0" tIns="0" rIns="0" bIns="0" rtlCol="0" anchor="t"/>
          <a:lstStyle/>
          <a:p>
            <a:pPr indent="0" marL="0">
              <a:buNone/>
            </a:pPr>
            <a:r>
              <a:rPr lang="en-US" sz="1500" dirty="0">
                <a:solidFill>
                  <a:schemeClr val="bg2"/>
                </a:solidFill>
              </a:rPr>
              <a:t>Principled preemption rules turn a cascading recovery engine into one whose every action is justified</a:t>
            </a:r>
            <a:endParaRPr lang="en-US" sz="1500" dirty="0"/>
          </a:p>
        </p:txBody>
      </p:sp>
      <p:sp>
        <p:nvSpPr>
          <p:cNvPr id="10" name="panel-186"/>
          <p:cNvSpPr/>
          <p:nvPr/>
        </p:nvSpPr>
        <p:spPr>
          <a:xfrm>
            <a:off x="8083296" y="2743200"/>
            <a:ext cx="3474720" cy="2331720"/>
          </a:xfrm>
          <a:prstGeom prst="roundRect">
            <a:avLst>
              <a:gd name="adj" fmla="val 3137"/>
            </a:avLst>
          </a:prstGeom>
          <a:solidFill>
            <a:schemeClr val="tx2"/>
          </a:solidFill>
          <a:ln w="9525">
            <a:solidFill>
              <a:schemeClr val="accent6"/>
            </a:solidFill>
            <a:prstDash val="solid"/>
          </a:ln>
        </p:spPr>
      </p:sp>
      <p:sp>
        <p:nvSpPr>
          <p:cNvPr id="11" name="text-187"/>
          <p:cNvSpPr txBox="1"/>
          <p:nvPr/>
        </p:nvSpPr>
        <p:spPr>
          <a:xfrm>
            <a:off x="8357616" y="2944368"/>
            <a:ext cx="2926080" cy="41148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Verification</a:t>
            </a:r>
            <a:endParaRPr lang="en-US" sz="2000" dirty="0"/>
          </a:p>
        </p:txBody>
      </p:sp>
      <p:sp>
        <p:nvSpPr>
          <p:cNvPr id="12" name="text-188"/>
          <p:cNvSpPr txBox="1"/>
          <p:nvPr/>
        </p:nvSpPr>
        <p:spPr>
          <a:xfrm>
            <a:off x="8357616" y="3474720"/>
            <a:ext cx="2926080" cy="1463040"/>
          </a:xfrm>
          <a:prstGeom prst="rect">
            <a:avLst/>
          </a:prstGeom>
          <a:noFill/>
          <a:ln/>
        </p:spPr>
        <p:txBody>
          <a:bodyPr wrap="square" lIns="0" tIns="0" rIns="0" bIns="0" rtlCol="0" anchor="t"/>
          <a:lstStyle/>
          <a:p>
            <a:pPr indent="0" marL="0">
              <a:buNone/>
            </a:pPr>
            <a:r>
              <a:rPr lang="en-US" sz="1500" dirty="0">
                <a:solidFill>
                  <a:schemeClr val="bg2"/>
                </a:solidFill>
              </a:rPr>
              <a:t>Twelve defects survived passing unit tests — found only by checking the running system</a:t>
            </a:r>
            <a:endParaRPr lang="en-US" sz="1500" dirty="0"/>
          </a:p>
        </p:txBody>
      </p:sp>
      <p:sp>
        <p:nvSpPr>
          <p:cNvPr id="13" name="text-189"/>
          <p:cNvSpPr txBox="1"/>
          <p:nvPr/>
        </p:nvSpPr>
        <p:spPr>
          <a:xfrm>
            <a:off x="548640" y="5486400"/>
            <a:ext cx="4572000" cy="548640"/>
          </a:xfrm>
          <a:prstGeom prst="rect">
            <a:avLst/>
          </a:prstGeom>
          <a:noFill/>
          <a:ln/>
        </p:spPr>
        <p:txBody>
          <a:bodyPr wrap="square" lIns="0" tIns="0" rIns="0" bIns="0" rtlCol="0" anchor="t"/>
          <a:lstStyle/>
          <a:p>
            <a:pPr indent="0" marL="0">
              <a:buNone/>
            </a:pPr>
            <a:r>
              <a:rPr lang="en-US" sz="3000" b="1" dirty="0">
                <a:solidFill>
                  <a:schemeClr val="bg1"/>
                </a:solidFill>
              </a:rPr>
              <a:t>Questions?</a:t>
            </a:r>
            <a:endParaRPr lang="en-US" sz="3000" dirty="0"/>
          </a:p>
        </p:txBody>
      </p:sp>
      <p:sp>
        <p:nvSpPr>
          <p:cNvPr id="14" name="text-190"/>
          <p:cNvSpPr txBox="1"/>
          <p:nvPr/>
        </p:nvSpPr>
        <p:spPr>
          <a:xfrm>
            <a:off x="548640" y="6080760"/>
            <a:ext cx="10058400" cy="365760"/>
          </a:xfrm>
          <a:prstGeom prst="rect">
            <a:avLst/>
          </a:prstGeom>
          <a:noFill/>
          <a:ln/>
        </p:spPr>
        <p:txBody>
          <a:bodyPr wrap="square" lIns="0" tIns="0" rIns="0" bIns="0" rtlCol="0" anchor="t"/>
          <a:lstStyle/>
          <a:p>
            <a:pPr indent="0" marL="0">
              <a:buNone/>
            </a:pPr>
            <a:r>
              <a:rPr lang="en-US" sz="1400" dirty="0">
                <a:solidFill>
                  <a:schemeClr val="bg2"/>
                </a:solidFill>
              </a:rPr>
              <a:t>github.com/harshitchhabi/procura   ·   docs/: paper, demo walkthrough, case study</a:t>
            </a:r>
            <a:endParaRPr lang="en-US" sz="1400" dirty="0"/>
          </a:p>
        </p:txBody>
      </p:sp>
      <p:sp>
        <p:nvSpPr>
          <p:cNvPr id="16" name="Text 0"/>
          <p:cNvSpPr/>
          <p:nvPr>
            <p:ph idx="100" type="title" hasCustomPrompt="1"/>
          </p:nvPr>
        </p:nvSpPr>
        <p:spPr>
          <a:xfrm>
            <a:off x="548640" y="2148840"/>
            <a:ext cx="11094415" cy="1097280"/>
          </a:xfrm>
          <a:prstGeom prst="rect">
            <a:avLst/>
          </a:prstGeom>
          <a:noFill/>
          <a:ln/>
        </p:spPr>
        <p:txBody>
          <a:bodyPr wrap="square" lIns="0" tIns="0" rIns="0" bIns="0" rtlCol="0" anchor="b"/>
          <a:lstStyle/>
          <a:p>
            <a:pPr algn="l" indent="0" marL="0">
              <a:buNone/>
            </a:pPr>
            <a:endParaRPr lang="en-US" sz="6000" dirty="0"/>
          </a:p>
        </p:txBody>
      </p:sp>
      <p:sp>
        <p:nvSpPr>
          <p:cNvPr id="17" name="Text 0"/>
          <p:cNvSpPr/>
          <p:nvPr>
            <p:ph idx="101" type="body" hasCustomPrompt="1"/>
          </p:nvPr>
        </p:nvSpPr>
        <p:spPr>
          <a:xfrm>
            <a:off x="548640" y="3429000"/>
            <a:ext cx="9601200" cy="1188720"/>
          </a:xfrm>
          <a:prstGeom prst="rect">
            <a:avLst/>
          </a:prstGeom>
          <a:noFill/>
          <a:ln/>
        </p:spPr>
        <p:txBody>
          <a:bodyPr wrap="square" lIns="0" tIns="0" rIns="0" bIns="0" rtlCol="0" anchor="t"/>
          <a:lstStyle/>
          <a:p>
            <a:pPr algn="l" indent="0" marL="0">
              <a:buNone/>
            </a:pPr>
            <a:endParaRPr lang="en-US" sz="2200" dirty="0"/>
          </a:p>
        </p:txBody>
      </p:sp>
    </p:spTree>
  </p:cSld>
  <p:clrMapOvr>
    <a:masterClrMapping/>
  </p:clrMapOvr>
</p:sld>
</file>

<file path=ppt/theme/theme1.xml><?xml version="1.0" encoding="utf-8"?>
<a:theme xmlns:a="http://schemas.openxmlformats.org/drawingml/2006/main" name="Procura Terminal">
  <a:themeElements>
    <a:clrScheme name="Procura Terminal">
      <a:dk1>
        <a:srgbClr val="0B0F0D"/>
      </a:dk1>
      <a:lt1>
        <a:srgbClr val="F0F5F2"/>
      </a:lt1>
      <a:dk2>
        <a:srgbClr val="18211C"/>
      </a:dk2>
      <a:lt2>
        <a:srgbClr val="A3B1A9"/>
      </a:lt2>
      <a:accent1>
        <a:srgbClr val="22C55E"/>
      </a:accent1>
      <a:accent2>
        <a:srgbClr val="3987E5"/>
      </a:accent2>
      <a:accent3>
        <a:srgbClr val="C98500"/>
      </a:accent3>
      <a:accent4>
        <a:srgbClr val="EF4444"/>
      </a:accent4>
      <a:accent5>
        <a:srgbClr val="A78BFA"/>
      </a:accent5>
      <a:accent6>
        <a:srgbClr val="2A3630"/>
      </a:accent6>
      <a:hlink>
        <a:srgbClr val="3987E5"/>
      </a:hlink>
      <a:folHlink>
        <a:srgbClr val="A78BFA"/>
      </a:folHlink>
    </a:clrScheme>
    <a:fontScheme name="Procura Termi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Procura — Review Presentation</dc:title>
  <dc:subject>PptxGenJS Presentation</dc:subject>
  <dc:creator>[Your Name]</dc:creator>
  <cp:lastModifiedBy>[Your Name]</cp:lastModifiedBy>
  <cp:revision>1</cp:revision>
  <dcterms:created xsi:type="dcterms:W3CDTF">2026-10-19T17:12:32Z</dcterms:created>
  <dcterms:modified xsi:type="dcterms:W3CDTF">2026-10-19T17:12:32Z</dcterms:modified>
</cp:coreProperties>
</file>