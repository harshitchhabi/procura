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Answers passing every check (%)</a:t>
            </a:r>
          </a:p>
        </c:rich>
      </c:tx>
      <c:layout/>
      <c:overlay val="0"/>
    </c:title>
    <c:autoTitleDeleted val="0"/>
    <c:plotArea>
      <c:layout/>
      <c:barChart>
        <c:barDir val="bar"/>
        <c:grouping val="clustered"/>
        <c:varyColors val="0"/>
        <c:ser>
          <c:idx val="0"/>
          <c:order val="0"/>
          <c:tx>
            <c:strRef>
              <c:f>Sheet1!$B$1</c:f>
              <c:strCache>
                <c:ptCount val="1"/>
                <c:pt idx="0">
                  <c:v>With incident facts</c:v>
                </c:pt>
              </c:strCache>
            </c:strRef>
          </c:tx>
          <c:spPr>
            <a:solidFill>
              <a:srgbClr val="1F4E79"/>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Why did P5 fail?</c:v>
                  </c:pt>
                  <c:pt idx="1">
                    <c:v>What happened to P2?</c:v>
                  </c:pt>
                  <c:pt idx="2">
                    <c:v>Why did P4 succeed on retry?</c:v>
                  </c:pt>
                  <c:pt idx="3">
                    <c:v>Why was P3 terminated?</c:v>
                  </c:pt>
                  <c:pt idx="4">
                    <c:v>What happened to P1?</c:v>
                  </c:pt>
                  <c:pt idx="5">
                    <c:v>Which resources deadlocked?</c:v>
                  </c:pt>
                </c:lvl>
              </c:multiLvlStrCache>
            </c:multiLvlStrRef>
          </c:cat>
          <c:val>
            <c:numRef>
              <c:f>Sheet1!$B$2:$B$7</c:f>
              <c:numCache>
                <c:formatCode>General</c:formatCode>
                <c:ptCount val="6"/>
                <c:pt idx="0">
                  <c:v>100</c:v>
                </c:pt>
                <c:pt idx="1">
                  <c:v>100</c:v>
                </c:pt>
                <c:pt idx="2">
                  <c:v>100</c:v>
                </c:pt>
                <c:pt idx="3">
                  <c:v>100</c:v>
                </c:pt>
                <c:pt idx="4">
                  <c:v>100</c:v>
                </c:pt>
                <c:pt idx="5">
                  <c:v>100</c:v>
                </c:pt>
              </c:numCache>
            </c:numRef>
          </c:val>
        </c:ser>
        <c:ser>
          <c:idx val="1"/>
          <c:order val="1"/>
          <c:tx>
            <c:strRef>
              <c:f>Sheet1!$C$1</c:f>
              <c:strCache>
                <c:ptCount val="1"/>
                <c:pt idx="0">
                  <c:v>Facts removed</c:v>
                </c:pt>
              </c:strCache>
            </c:strRef>
          </c:tx>
          <c:spPr>
            <a:solidFill>
              <a:srgbClr val="C9822B"/>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Why did P5 fail?</c:v>
                  </c:pt>
                  <c:pt idx="1">
                    <c:v>What happened to P2?</c:v>
                  </c:pt>
                  <c:pt idx="2">
                    <c:v>Why did P4 succeed on retry?</c:v>
                  </c:pt>
                  <c:pt idx="3">
                    <c:v>Why was P3 terminated?</c:v>
                  </c:pt>
                  <c:pt idx="4">
                    <c:v>What happened to P1?</c:v>
                  </c:pt>
                  <c:pt idx="5">
                    <c:v>Which resources deadlocked?</c:v>
                  </c:pt>
                </c:lvl>
              </c:multiLvlStrCache>
            </c:multiLvlStrRef>
          </c:cat>
          <c:val>
            <c:numRef>
              <c:f>Sheet1!$C$2:$C$7</c:f>
              <c:numCache>
                <c:formatCode>General</c:formatCode>
                <c:ptCount val="6"/>
                <c:pt idx="0">
                  <c:v>0</c:v>
                </c:pt>
                <c:pt idx="1">
                  <c:v>0</c:v>
                </c:pt>
                <c:pt idx="2">
                  <c:v>67</c:v>
                </c:pt>
                <c:pt idx="3">
                  <c:v>0</c:v>
                </c:pt>
                <c:pt idx="4">
                  <c:v>0</c:v>
                </c:pt>
                <c:pt idx="5">
                  <c:v>0</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D5DAE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every task in a to-do list is treated as an operating-system process, and the real scheduling, resource and recovery mechanisms of an OS are run on it. Say that the review has four parts: what it is and why, how every module works, a live demo that includes a deadlock created and resolved, and the evidence with its limits. Total running time about 30 minutes, demo about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parts. Say the demo is the centre of the review and that every function used in the demo has been introduced just before it, so nothing appears for the first time on screen. The evidence part is deliberately honest about limits; mention that now so the audience expects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operating system decides thousands of times a second which program gets the CPU, whether that is fair, and what to do when a program gets stuck. A to-do list has the same three decisions and answers none of them. Priority is a label the user typed. Nobody measures fairness, so a task can be ignored for weeks unnoticed. A stuck task shows a flag and nothing more. Procura takes the existing OS answer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project in one view. Read down the left column as everyday words and the middle column as the OS term. The right column is what each mapping lets the system do. Stress that Procura runs the real algorithm for each mapping, not a metaphor. Every later slide is one row of this table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picture top to bottom. You use either the web app or the terminal dashboard. Both call the same FastAPI server in main.py, which has 16 endpoints. The server coordinates the process manager, the scheduler, the resource manager and the error and recovery engine. Only the recovery engine and the ask endpoint use the RAG engine, which reads the knowledge base. Everything persistent is in one SQLite file. The benchmark module is separate: it feeds workloads straight to the scheduler from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example 'Render final project video': Medium priority, 20 minutes, 16 MB in the seed data, but for the story say it needs a large block of memory. Walk the eight steps in order. The pattern behind every feature is page, then api.js, then an endpoint in main.py, then a module, then the database, then JSON back to the page. If you learn that loop you can find any piece of code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state diagram. A new task is admitted NEW to READY automatically. READY goes to RUNNING when dispatched. RUNNING can return to READY if preempted, go to BLOCKED if it waits, finish as COMPLETED, or be TERMINATED. COMPLETED and TERMINATED are final. The rule is enforced on the server: validate_transition in states.py raises InvalidTransitionError and the API returns HTTP 409, so the UI can only offer legal actions. Name the functions in process_manager.py as you point at the right-hand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database.py uses the standard-library sqlite3 module directly, with no ORM, so every query is visible. Four tables: processes, errors, diagnoses and recovery_actions. get_error_log joins the last three into the history the Error Monitor shows. The resource manager is deliberately in memory: live allocations reset when the server restarts because this is a simulation, not a ledger. reset_db is used by the seed script and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Priority policy sorts by a score, E, that is the sum of five terms. Each term is its own small function in scheduler.py so each can be tested alone. User priority is High 90, Medium 50, Low 20. Deadline urgency is zero beyond 48 hours and rises to 100 once the deadline has passed. Aging adds two points per minute in READY, capped at 100, which is what prevents starvation. Resource cost nudges heavy tasks up because they block more of the system while waiting. Fair-share is a penalty, zero or negative, for tasks that already used more than their share, with past use halving every 60 minutes, borrowed from Slurm. The live run showed a Medium task outranking a High one, 225.9 against 218.0, because both deadlines had passed and the Medium task needed more resources. It is correct for the formula; whether the weights match what a user wants is a design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are non-preemptive. FCFS dispatches in arrival order. SJF and Priority choose, at each decision point, the best job among those that have already arrived. That wording matters: an earlier version sorted the entire list first, so the CPU sat idle waiting for late arrivals and SJF looked worse than FCFS. That was a bug I found by running the system, and it had inverted the published result. The hand-worked example on the right is the unit test: four jobs arriving at 0, 1, 2 and 3 with bursts 5, 3, 8 and 6. FCFS average wait is 5.75; SJF runs P1 first because it is the only arrival at time zero, then P2, P4, P3, giving 5.25; Round Robin with a quantum of 4 gives 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Robin: a FIFO ready queue, each dispatch runs for at most the quantum, 4 minutes by default. A process that is preempted goes to the back, after anything that arrived during its slice. The wait between turns is at most (n - 1) times the quantum. EEVDF is Linux's default scheduler since kernel 6.6. Priority is mapped to a nice value, nice_from_priority, then to a weight, weight_from_priority, which is 1024 divided by 1.25 to the power nice. Each process has a virtual runtime that advances more slowly for heavier processes. A process is eligible when its lag, the weighted average minus its own virtual runtime, is not negative. Among eligible processes a min-heap returns the one with the earliest virtual deadline. So high-priority tasks run more often but a low-priority task's lag keeps growing until it wins: no starvation. This is a faithful simulation of the rules, not a port of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Multi-level feedback queue follows the five rules from the OSTEP textbook. Three queues with quanta 4, 8 and 16 minutes. New tasks enter the top queue. Higher queue always runs first; within a queue it is round robin. A task that uses up its time allotment at a level is demoted one level. The allotment is cumulative: being preempted does not reset it, which closes the exploit where a job yields just before its quantum ends to stay at high priority. Every 50 minutes everything is boosted back to the top queue, which bounds starvation. In the demo, MLFQ and Round Robin both start every task in about 12 minutes on average, compared with 431 for FCFS.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_build_metrics computes the same set for every policy: turnaround is completion minus arrival; waiting is turnaround minus burst; response is first dispatch minus arrival; utilisation is busy time over makespan. Jain's fairness index over the CPU each task received is always between 1 over n and 1. The important point is that every work-conserving policy ends up giving each task exactly its burst time, so this index is identical for all six policies. That is not a bug, it is what the metric measures. To separate the policies I added bounded slowdown and a fairness index over delay: Jain's index applied to one over slowdown. Slowdown is turnaround over burst, with the burst bounded below by one minute, so very short jobs don't dominate.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ResourceManager holds five pools: CPU 100 percent, memory 2048 MB, 64 file handles, 20 database connections, 1000 Mbps of network. allocate either succeeds or fails; if it fails because another process holds the resource it records a wait-for edge from the requester to the holder, which is what later forms a cycle. release and release_all_for_pid free resources and remove edges. check_lock_order_violation logs when a process asks for a resource earlier in the canonical order while holding a later one, as Linux lockdep does. check_timeouts aborts any wait longer than 30 seconds. describe_amount produces text with units, such as 64 file handles, which fixed an AI error where file handles were called megabytes.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deadlock needs four conditions at once: mutual exclusion, hold and wait, no preemption, and circular wait. Break any one and deadlock cannot happen. Procura offers four defences, cheapest first, as real systems do. Lock ordering prevents circular wait by always taking resources in the same order; here it is checked and logged. The timeout is the crude safety net used by MySQL. Cycle detection is precise but costs a graph search; this is what finds and resolves the deadlock in the demo. Banker's algorithm needs every process's maximum claim in advance and a fixed population, so production systems do not use it; it is kept as the textbook baseline and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run_detection is the single entry point: it runs the deadlock detector, then for every process that is not finished the memory-failure detector, and for RUNNING processes the burst-time anomaly detector. detect_memory_failure compares only the still-unmet part of a process's memory requirement with what is free, so a process that already holds its memory is not flagged. detect_deadlock searches the wait-for graph and, new in this version, records each member's name and priority, because the recovery rule cannot be explained without them. The anomaly detector uses three statistical tests from the NIST handbook on the ratio of elapsed time to the declared burst, compared with that task's last 30 values. Be precise about what it catches: abrupt departures from the task's own history, not a task that steadily runs over its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answers from a small knowledge base of eight plain-text documents, 63 chunks. The tokenizer, tokenize_v2, is the part that behaves like a lexer: it turns raw characters into tokens. It keeps numbers and identifiers such as 6.6 and render-video, indexes the parts of hyphenated words, drops question filler, and merges simple plurals. Chunks are about 600 characters split on paragraph boundaries. TfidfIndex weights each word by how often it occurs in the chunk times how rare it is overall, with idf equal to ln of (1 plus N) over (1 plus df), plus one. A question is turned into the same kind of vector and compared with every chunk by cosine similarity; the top three are returned, optionally limited to the documents relevant to the failure type. There is no embedding model on purpose: it installs in seconds, works offline and every step can be inspected.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answer_question builds the prompt in four parts: an instruction, the process record, the incident facts, and the three retrieved passages. The incident facts are the ground truth: the error details, the recovery action that was executed, the rule that was applied, and the current resource state with units. The instruction tells the model to treat the facts as true and to use the passages to explain concepts rather than to propose causes the facts do not show. The prompt goes to the first configured provider: Groq, Anthropic or OpenAI. A rate-limited call is retried using the provider's own wait hint. If the model still cannot answer, the assistant returns the retrieved passages and the facts, labelled as offline, with the reason such as groq rate limited. The deliberate design rule is that the model writes words and fixed scripts act, so a wrong explanation cannot cause a wrong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recovery.py has one script per failure type and run_recovery picks the right one. For a memory failure the order matters. First retry, because an earlier recovery in the same pass may already have freed memory. Otherwise look at the lowest-priority memory holder: suspend it only if its priority is strictly lower than the failing task's and freeing its memory would actually make the failing allocation fit. If either test fails, leave the task pending and evict nobody. That is the rule that stopped two tasks from evicting each other in an earlier version. For a deadlock, recover_deadlock terminates the lowest-priority process in the cycle, releases everything it holds and returns the other blocked members to READY. Every recovery is logged with the action type and target 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and the terminal dashboard use only these endpoints. Point out the four that matter most for the demo: GET /resources shows the pools and the wait-for graph, POST /resources/allocate is how the deadlock is built, POST /detect runs detection, diagnosis and recovery in one call, and POST /ask is the assistant. Interactive documentation for all of them is at /docs on the running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screens are Dashboard, Processes, Scheduler, AI Assistant and Error Monitor. Dashboard refreshes every few seconds and shows the process table, the five resource bars and the AI activity feed. Scheduler has the policy selector, a Gantt chart with one lane per process, and the metrics. The assistant renders the model's markdown. procura_top is the same data as an htop-style terminal view: process table, resource bars including the wait-for graph, and the feed. It is the proof that the simulation is a real backend service and not tied to one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is about to happen and how long it takes. Start the backend and frontend before the review, as shown. The order is chosen so each demo uses ideas already explained: create tasks and compare schedulers first, then memory contention, then the main event, a deadlock built from four API calls and resolved by one detection pass, then the assistant, then the terminal dashboard. If the network is down the assistant still answers offline; say so rather than apologise.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Processes screen. Fill the form: name, description, priority, burst time in minutes, memory in MB and CPU percent. Create it. Point out that it appears with a new PID and the state READY: the server admitted it NEW then READY. Behind the button: POST /processes, main.py post_process, process_manager.create_process, database.create_process, transition NEW to READY. Optionally show an illegal action: try to complete a READY task and the API answers 409.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Scheduler. Choose SJF and press run: shortest tasks first, lowest average wait. Switch to Round Robin: many short slices, every task gets a turn, so response time is low but average waiting time is higher. Point at the Gantt chart: one lane per process, slices on a shared time axis. Point at the metrics panel: waiting, turnaround, response, utilisation, Jain's index, and the new slowdown and delay-fairness tiles. Then switch to EEVDF and MLFQ and say what the lanes show: EEVDF gives the High-priority lanes far more slices; MLFQ demotes long tasks. Behind the button: GET /schedule?algorithm=..., run_schedule.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done through the API: P3, the low-priority grocery task, is given 1200 MB and P1 600 MB, leaving 248 MB of 2048. Show the dashboard: the memory bar is nearly full. Open Error Monitor and press Run detect now. Four memory failures are found and each is handled differently. P2, High priority, needs 768 MB: the grocery task is strictly lower priority and its 1200 MB makes room, so it is suspended and P2 retried. P4 and P7 are retried because memory is now free. P5 needs 1600 MB: nothing lower priority can free that much, so nothing is evicted and P5 stays pending. Expand a diagnosis to show the explanation quotes 1600 MB requested and 248 MB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demo. Start from a freshly seeded database. Call one: P1, the term paper, takes all 64 file handles. Call two: P3, the grocery task, takes all 20 database connections. Call three: P1 asks for 5 database connections; the pool has none free, so the request fails and the manager records that P1 now waits for P3. Call four: P3 asks for 5 file handles; none free, fails, and P3 now waits for P1. Each holds what the other needs and neither can proceed: hold and wait plus circular wait. GET /resources shows the wait-for graph with 1 pointing to 3 and 3 pointing to 1. The dashboard shows both pools at 100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Error Monitor and press Run detect now. One anomaly is found: a deadlock. The row shows the raw details recorded by detect_deadlock: the cycle 1 to 3 to 1, and for each member its name, priority, what it holds and what it waits for. Then the recovery action: terminate_and_resume with target PID 3. The rule is fixed: terminate the lowest effective priority in the cycle, release its resources, and return the other members to READY. P3 is the Low-priority grocery task, so P3 goes. On the dashboard afterwards, P3 is TERMINATED, its 20 connections are free, P1 is READY again holding its file handles, and the wait-for graph is empty. The whole chain is inside the POST /detect call, which is what the button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diagnosis in the Error Monitor. The model has been given the recorded incident: the cycle, each member's name and priority, what each holds and waits for, and the fixed deadlock rule. Its answer states the cycle 1 to 3 to 1, explains why pid 3, the Low-priority Weekly grocery run, was chosen, says its 20 database connections were released and that pid 1 was returned to READY with its file handles. The model did not choose the action; the fixed rule did. Then ask the assistant, selecting P3 on the AI Assistant screen: why was this task terminated, and was that right? The answer cites the recorded cycle and the rule applied. One honest note: the first sentences of an answer are often a generic definition; the part to look at is the incident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deadlock answer. The recorded incident now names each cycle member and its priority, and the fixed policy is passed as a fact. Before that change, running this very demo produced an answer that said pid 3's priority was not specified and that if pid 3 were lower it would be terminated: a hedge, because the facts did not include the priority. I found that while capturing these screenshots, added the names and priorities to the recorded details and the policy to the facts, added two tests, and re-ran. The answer then stated that pid 3, Low priority, was terminated. It is a small example of the general finding: the quality of the answer is decided by what the model is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AI Assistant. First select process 5, the video render, and ask why it hit a memory failure and what the system did. The answer quotes 1600 MB requested and 248 MB free, and explains that no lower-priority holder could free enough so nothing was evicted. Then clear the process selection and ask a general question, how EEVDF differs from Round Robin. The answer comes from the knowledge base. If no key is configured, or the model is rate limited, the answer is labelled offline,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second terminal run python -m cli.procura_top with PROCURA_API_URL set to the backend. It polls every two seconds and shows the process table coloured by state, resource bars, the wait-for graph, and the AI event feed. Run the deadlock demo again and watch the graph appear and clear. Then run the benchmark: python -m benchmark.run_benchmark. It generates 30 jobs with Poisson arrivals, seed 42, runs all six policies and prints the comparison table. Every policy has the same makespan, 228.67; they differ only in who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seeded run you can reproduce exactly: 30 jobs, Poisson arrivals at 0.3 per minute, seed 42. All six policies finish at minute 228.67, so utilisation is 100 percent for every one. They differ in who waits. SJF averages 34.0 against 61.6 for FCFS and has the fewest jobs over 30 minutes, but its worst wait, 163 minutes, is higher than FCFS's 134. That is the starvation risk of shortest-first, measured. The last column is the new delay-fairness index: it ranges from 0.35 to 0.69 while the classic index is 0.6711 for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run is one workload, and the ranking of schedulers can change with the workload. The study runs every policy on identical jobs in three shapes with the same mean run time: Gamma, heavy-tailed with a few very long jobs among many short ones, and bursty arrivals. Each shape runs at 30, 100 and 300 jobs with 25 to 50 seeds, at 90 percent offered load, plus a sweep of load from 0.5 to 1.2. Every bar is a mean with a 95 percent confidence interval, and every comparison with FCFS is paired on the same jobs. Read the chart: SJF is lowest on waiting in all three shapes; the preemptive policies are higher than FCFS except on heavy-tailed jobs; on the right panel, response time, the preemptive policies are far lower. Command: python -m benchmark.study.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cell counts, out of the nine settings, how many show a statistically significant difference from FCFS in the paired comparison. Green is better than FCFS, red worse, grey no reliable difference. SJF is the only policy better on average wait in all nine, and it is worse on maximum wait in all nine. Round Robin, EEVDF and MLFQ are worse than FCFS on average wait in six settings, the Gamma and bursty ones, and better only on heavy-tailed workloads, where one very long job at the head of the queue blocks many short ones. They are better on response time in all nine. Priority cannot be told apart from FCFS on wait or response, because its score uses labels and deadlines that say nothing about job length. All five are fairer than FCFS on typical delay. Load sweep: at load 1.2, SJF 38.5 minutes against FCFS 82.7.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Jain index over CPU received cannot tell the six policies apart, because every policy gives each task exactly its burst time by the end. So by that measure they are equally fair. Measured as delay instead, using Jain's index over one over slowdown, FCFS is the least fair on the typical task and SJF is the fairest, 0.71 to 0.78 against 0.45 to 0.60 at 100 jobs. Yet FCFS has the best worst case: its longest wait is lower than every other policy in all nine settings. A policy can be worst for its single longest-waiting job and fairest for the typical job. That is a property of the two measures, not a contradiction, and the reason the second index was added. The delay index is my construction and the one-minute bound was fixed before the study, not tuned; it is not a standard 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live model, Groq's gpt-oss-20b, was asked 11 labelled questions, three times each. Six concern the two incidents, the memory failure and the deadlock, and were asked twice: once with the incident facts in the prompt, which is how Procura works, and once with the facts removed. Five are general concept questions. Each answer is checked automatically for the numbers and actions it must contain and for mistakes it must not make, such as an invented cause, file handles called megabytes, or an invented meaning for EEVDF. With the facts, all 18 incident answers pass; without them, 2 of 18. Concept questions pass 13 of 15; the two misses state Jain's index as running from 0 to 1, when it runs from 1 over n to 1. Limits: eleven questions, three trials, one model, patterns written by me, checks that detect facts and known mistakes but cannot judge whether an explanation is sound. My first run graded correct answers as wrong because the model writes numbers with narrow no-break spaces; I fixed the grader, saved every answer and repeated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can only answer from what the search returns, so search quality limits answer quality. I wrote 36 development questions that guided the design of the second tokenizer and 20 held-out questions written afterwards and run once. On the development set top-1 accuracy rises from 77.8 to 88.9 percent, but that set shaped the design, so it flatters it. On the held-out set it rises from 90 to 95 percent, which is one question out of 20 and within noise. I do not claim more. I also removed two stopwords I had added immediately after seeing a development miss, because that was tuning to the test, and re-measured; one test label was corrected because a second document genuinely answers that question. The search remains lexical: it cannot match words that mean the same thing but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passed throughout. Running the system and reading what it produced found fifteen defects. The first is the most important: the original SJF test asserted the idle-CPU behaviour, so it protected the bug, and the bug inverted the published conclusion. Numbers 13 to 15 are about the assistant and its evaluation: the product quietly served an offline answer when the model was rate limited; file handles were called megabytes; and my evaluation graded correct answers wrong because of no-break spaces. All are fixed and have a regression test where one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these before a reviewer does. It is a simulation: one abstract CPU on a minute timeline; nothing schedules real threads. The workloads are synthetic. I tried to replay a real trace from the Parallel Workloads Archive but its server refused automated downloads, and I did not work around that; the README gives the command to run any trace downloaded by hand. The results confirm known scheduling theory; what is added is the measured workload dependence, the delay-fairness index and the grounding evidence. The AI evaluation is small. The anomaly detector catches abrupt departures only. Suspending a task releases its memory but leaves it READY. There is no authentication: it is single user and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of value: first replay a real archive trace and implement the calibrated Lublin-Feitelson generator, to see whether the workload-shape findings hold on real logs. Then sweep quanta, boost intervals and slice lengths and report sensitivity, and extend to several CPUs. Build a larger question set graded partly by humans, and compare embedding retrieval with TF-IDF while keeping the offline path. Add multi-user authentication so fair-share applies across real users. Give the anomaly detector a baseline from completed tasks so it can catch a steady overrun, and make suspension a real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are written out so you can say them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are written out so you can say them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if a reviewer asks to see one piece in isolation. None of them needs the server, the website or an API key except the evaluation of the live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D5DAE1"/>
            </a:solidFill>
            <a:prstDash val="solid"/>
          </a:ln>
        </p:spPr>
      </p:sp>
      <p:sp>
        <p:nvSpPr>
          <p:cNvPr id="3" name="Text 1"/>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675"/>
                </a:solidFill>
                <a:latin typeface="Calibri" pitchFamily="34" charset="0"/>
                <a:ea typeface="Calibri" pitchFamily="34" charset="-122"/>
                <a:cs typeface="Calibri" pitchFamily="34" charset="-120"/>
              </a:rPr>
              <a:t>Procura  |  Operating Systems review</a:t>
            </a:r>
            <a:endParaRPr lang="en-US" sz="10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828800"/>
            <a:ext cx="9144000" cy="1005840"/>
          </a:xfrm>
          <a:prstGeom prst="rect">
            <a:avLst/>
          </a:prstGeom>
          <a:noFill/>
          <a:ln/>
        </p:spPr>
        <p:txBody>
          <a:bodyPr wrap="square" lIns="0" tIns="0" rIns="0" bIns="0" rtlCol="0" anchor="ctr"/>
          <a:lstStyle/>
          <a:p>
            <a:pPr indent="0" marL="0">
              <a:buNone/>
            </a:pPr>
            <a:r>
              <a:rPr lang="en-US" sz="6000" b="1" dirty="0">
                <a:solidFill>
                  <a:srgbClr val="1B2430"/>
                </a:solidFill>
                <a:latin typeface="Georgia" pitchFamily="34" charset="0"/>
                <a:ea typeface="Georgia" pitchFamily="34" charset="-122"/>
                <a:cs typeface="Georgia" pitchFamily="34" charset="-120"/>
              </a:rPr>
              <a:t>Procura</a:t>
            </a:r>
            <a:endParaRPr lang="en-US" sz="6000" dirty="0"/>
          </a:p>
        </p:txBody>
      </p:sp>
      <p:sp>
        <p:nvSpPr>
          <p:cNvPr id="3" name="Text 1"/>
          <p:cNvSpPr/>
          <p:nvPr/>
        </p:nvSpPr>
        <p:spPr>
          <a:xfrm>
            <a:off x="548640" y="2880360"/>
            <a:ext cx="9601200" cy="822960"/>
          </a:xfrm>
          <a:prstGeom prst="rect">
            <a:avLst/>
          </a:prstGeom>
          <a:noFill/>
          <a:ln/>
        </p:spPr>
        <p:txBody>
          <a:bodyPr wrap="square" lIns="0" tIns="0" rIns="0" bIns="0" rtlCol="0" anchor="ctr"/>
          <a:lstStyle/>
          <a:p>
            <a:pPr indent="0" marL="0">
              <a:buNone/>
            </a:pPr>
            <a:r>
              <a:rPr lang="en-US" sz="2600" dirty="0">
                <a:solidFill>
                  <a:srgbClr val="1F4E79"/>
                </a:solidFill>
                <a:latin typeface="Georgia" pitchFamily="34" charset="0"/>
                <a:ea typeface="Georgia" pitchFamily="34" charset="-122"/>
                <a:cs typeface="Georgia" pitchFamily="34" charset="-120"/>
              </a:rPr>
              <a:t>A task manager that schedules work the way an operating system does</a:t>
            </a:r>
            <a:endParaRPr lang="en-US" sz="2600" dirty="0"/>
          </a:p>
        </p:txBody>
      </p:sp>
      <p:sp>
        <p:nvSpPr>
          <p:cNvPr id="4" name="Text 2"/>
          <p:cNvSpPr/>
          <p:nvPr/>
        </p:nvSpPr>
        <p:spPr>
          <a:xfrm>
            <a:off x="548640" y="3794760"/>
            <a:ext cx="9601200" cy="731520"/>
          </a:xfrm>
          <a:prstGeom prst="rect">
            <a:avLst/>
          </a:prstGeom>
          <a:noFill/>
          <a:ln/>
        </p:spPr>
        <p:txBody>
          <a:bodyPr wrap="square" lIns="0" tIns="0" rIns="0" bIns="0" rtlCol="0" anchor="ctr"/>
          <a:lstStyle/>
          <a:p>
            <a:pPr indent="0" marL="0">
              <a:buNone/>
            </a:pPr>
            <a:r>
              <a:rPr lang="en-US" sz="1800" dirty="0">
                <a:solidFill>
                  <a:srgbClr val="5B6675"/>
                </a:solidFill>
                <a:latin typeface="Calibri" pitchFamily="34" charset="0"/>
                <a:ea typeface="Calibri" pitchFamily="34" charset="-122"/>
                <a:cs typeface="Calibri" pitchFamily="34" charset="-120"/>
              </a:rPr>
              <a:t>Six CPU-scheduling policies, simulated resource contention and deadlocks, and automatic detection, diagnosis and recovery.</a:t>
            </a:r>
            <a:endParaRPr lang="en-US" sz="1800" dirty="0"/>
          </a:p>
        </p:txBody>
      </p:sp>
      <p:sp>
        <p:nvSpPr>
          <p:cNvPr id="5" name="Text 3"/>
          <p:cNvSpPr/>
          <p:nvPr/>
        </p:nvSpPr>
        <p:spPr>
          <a:xfrm>
            <a:off x="548640" y="5212080"/>
            <a:ext cx="10058400" cy="365760"/>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Harshit Chhabi   |   Operating Systems   |   github.com/harshitchhabi/procura</a:t>
            </a:r>
            <a:endParaRPr lang="en-US" sz="16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What this review covers</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743200"/>
                <a:gridCol w="1280160"/>
                <a:gridCol w="7040880"/>
              </a:tblGrid>
              <a:tr h="32385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Part</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Slides</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you will see</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640080">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1  Problem and idea</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3 to 6</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Why a to-do list needs an operating system's methods, and how a task maps onto a process</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2  How it works</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7 to 21</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Every module and function: process model, schedulers, resources, detection, diagnosis, recovery, API, interfaces</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640080">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3  Live demo</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22 to 31</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Create tasks, compare schedulers, memory contention, a deadlock built and resolved with AI diagnosis, the terminal dashboard</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4  Evidence</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32 to 38</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495-workload study, two fairness measures, evaluation of the AI answers and the search, bugs found</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640080">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5  Limits and questions</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39 to 43</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430"/>
                          </a:solidFill>
                          <a:latin typeface="Calibri" pitchFamily="34" charset="0"/>
                          <a:ea typeface="Calibri" pitchFamily="34" charset="-122"/>
                          <a:cs typeface="Calibri" pitchFamily="34" charset="-120"/>
                        </a:rPr>
                        <a:t>What is not claimed, future work, likely questions, commands to run each part alone</a:t>
                      </a:r>
                      <a:endParaRPr lang="en-US" sz="15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1  PROBLEM AND IDEA</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Task managers ignore forty years of scheduling research</a:t>
            </a:r>
            <a:endParaRPr lang="en-US" sz="2800" dirty="0"/>
          </a:p>
        </p:txBody>
      </p:sp>
      <p:sp>
        <p:nvSpPr>
          <p:cNvPr id="5" name="Shape 2"/>
          <p:cNvSpPr/>
          <p:nvPr/>
        </p:nvSpPr>
        <p:spPr>
          <a:xfrm>
            <a:off x="548640" y="1600200"/>
            <a:ext cx="3566160" cy="4023360"/>
          </a:xfrm>
          <a:prstGeom prst="rect">
            <a:avLst/>
          </a:prstGeom>
          <a:solidFill>
            <a:srgbClr val="F3F5F8"/>
          </a:solidFill>
          <a:ln w="9525">
            <a:solidFill>
              <a:srgbClr val="D5DAE1"/>
            </a:solidFill>
            <a:prstDash val="solid"/>
          </a:ln>
        </p:spPr>
      </p:sp>
      <p:sp>
        <p:nvSpPr>
          <p:cNvPr id="6" name="Text 3"/>
          <p:cNvSpPr/>
          <p:nvPr/>
        </p:nvSpPr>
        <p:spPr>
          <a:xfrm>
            <a:off x="777240" y="1783080"/>
            <a:ext cx="3108960" cy="822960"/>
          </a:xfrm>
          <a:prstGeom prst="rect">
            <a:avLst/>
          </a:prstGeom>
          <a:noFill/>
          <a:ln/>
        </p:spPr>
        <p:txBody>
          <a:bodyPr wrap="square" lIns="0" tIns="0" rIns="0" bIns="0" rtlCol="0" anchor="t"/>
          <a:lstStyle/>
          <a:p>
            <a:pPr indent="0" marL="0">
              <a:buNone/>
            </a:pPr>
            <a:r>
              <a:rPr lang="en-US" sz="2000" b="1" dirty="0">
                <a:solidFill>
                  <a:srgbClr val="1B2430"/>
                </a:solidFill>
                <a:latin typeface="Georgia" pitchFamily="34" charset="0"/>
                <a:ea typeface="Georgia" pitchFamily="34" charset="-122"/>
                <a:cs typeface="Georgia" pitchFamily="34" charset="-120"/>
              </a:rPr>
              <a:t>Priority is a label</a:t>
            </a:r>
            <a:endParaRPr lang="en-US" sz="2000" dirty="0"/>
          </a:p>
        </p:txBody>
      </p:sp>
      <p:sp>
        <p:nvSpPr>
          <p:cNvPr id="7" name="Text 4"/>
          <p:cNvSpPr/>
          <p:nvPr/>
        </p:nvSpPr>
        <p:spPr>
          <a:xfrm>
            <a:off x="777240" y="2697480"/>
            <a:ext cx="3108960" cy="1828800"/>
          </a:xfrm>
          <a:prstGeom prst="rect">
            <a:avLst/>
          </a:prstGeom>
          <a:noFill/>
          <a:ln/>
        </p:spPr>
        <p:txBody>
          <a:bodyPr wrap="square" lIns="0" tIns="0" rIns="0" bIns="0" rtlCol="0" anchor="t"/>
          <a:lstStyle/>
          <a:p>
            <a:pPr indent="0" marL="0">
              <a:buNone/>
            </a:pPr>
            <a:r>
              <a:rPr lang="en-US" sz="1500" dirty="0">
                <a:solidFill>
                  <a:srgbClr val="1B2430"/>
                </a:solidFill>
                <a:latin typeface="Calibri" pitchFamily="34" charset="0"/>
                <a:ea typeface="Calibri" pitchFamily="34" charset="-122"/>
                <a:cs typeface="Calibri" pitchFamily="34" charset="-120"/>
              </a:rPr>
              <a:t>High, Medium or Low is whatever the user typed. Nothing combines the deadline, the time already waited and the cost of the task into an order.</a:t>
            </a:r>
            <a:endParaRPr lang="en-US" sz="1500" dirty="0"/>
          </a:p>
        </p:txBody>
      </p:sp>
      <p:sp>
        <p:nvSpPr>
          <p:cNvPr id="8" name="Text 5"/>
          <p:cNvSpPr/>
          <p:nvPr/>
        </p:nvSpPr>
        <p:spPr>
          <a:xfrm>
            <a:off x="777240" y="4754880"/>
            <a:ext cx="3108960" cy="640080"/>
          </a:xfrm>
          <a:prstGeom prst="rect">
            <a:avLst/>
          </a:prstGeom>
          <a:noFill/>
          <a:ln/>
        </p:spPr>
        <p:txBody>
          <a:bodyPr wrap="square" lIns="0" tIns="0" rIns="0" bIns="0" rtlCol="0" anchor="t"/>
          <a:lstStyle/>
          <a:p>
            <a:pPr indent="0" marL="0">
              <a:buNone/>
            </a:pPr>
            <a:r>
              <a:rPr lang="en-US" sz="1400" b="1" dirty="0">
                <a:solidFill>
                  <a:srgbClr val="1F4E79"/>
                </a:solidFill>
                <a:latin typeface="Calibri" pitchFamily="34" charset="0"/>
                <a:ea typeface="Calibri" pitchFamily="34" charset="-122"/>
                <a:cs typeface="Calibri" pitchFamily="34" charset="-120"/>
              </a:rPr>
              <a:t>OS answer: scheduling policies with aging</a:t>
            </a:r>
            <a:endParaRPr lang="en-US" sz="1400" dirty="0"/>
          </a:p>
        </p:txBody>
      </p:sp>
      <p:sp>
        <p:nvSpPr>
          <p:cNvPr id="9" name="Shape 6"/>
          <p:cNvSpPr/>
          <p:nvPr/>
        </p:nvSpPr>
        <p:spPr>
          <a:xfrm>
            <a:off x="4297680" y="1600200"/>
            <a:ext cx="3566160" cy="4023360"/>
          </a:xfrm>
          <a:prstGeom prst="rect">
            <a:avLst/>
          </a:prstGeom>
          <a:solidFill>
            <a:srgbClr val="F3F5F8"/>
          </a:solidFill>
          <a:ln w="9525">
            <a:solidFill>
              <a:srgbClr val="D5DAE1"/>
            </a:solidFill>
            <a:prstDash val="solid"/>
          </a:ln>
        </p:spPr>
      </p:sp>
      <p:sp>
        <p:nvSpPr>
          <p:cNvPr id="10" name="Text 7"/>
          <p:cNvSpPr/>
          <p:nvPr/>
        </p:nvSpPr>
        <p:spPr>
          <a:xfrm>
            <a:off x="4526280" y="1783080"/>
            <a:ext cx="3108960" cy="822960"/>
          </a:xfrm>
          <a:prstGeom prst="rect">
            <a:avLst/>
          </a:prstGeom>
          <a:noFill/>
          <a:ln/>
        </p:spPr>
        <p:txBody>
          <a:bodyPr wrap="square" lIns="0" tIns="0" rIns="0" bIns="0" rtlCol="0" anchor="t"/>
          <a:lstStyle/>
          <a:p>
            <a:pPr indent="0" marL="0">
              <a:buNone/>
            </a:pPr>
            <a:r>
              <a:rPr lang="en-US" sz="2000" b="1" dirty="0">
                <a:solidFill>
                  <a:srgbClr val="1B2430"/>
                </a:solidFill>
                <a:latin typeface="Georgia" pitchFamily="34" charset="0"/>
                <a:ea typeface="Georgia" pitchFamily="34" charset="-122"/>
                <a:cs typeface="Georgia" pitchFamily="34" charset="-120"/>
              </a:rPr>
              <a:t>Fairness is never measured</a:t>
            </a:r>
            <a:endParaRPr lang="en-US" sz="2000" dirty="0"/>
          </a:p>
        </p:txBody>
      </p:sp>
      <p:sp>
        <p:nvSpPr>
          <p:cNvPr id="11" name="Text 8"/>
          <p:cNvSpPr/>
          <p:nvPr/>
        </p:nvSpPr>
        <p:spPr>
          <a:xfrm>
            <a:off x="4526280" y="2697480"/>
            <a:ext cx="3108960" cy="1828800"/>
          </a:xfrm>
          <a:prstGeom prst="rect">
            <a:avLst/>
          </a:prstGeom>
          <a:noFill/>
          <a:ln/>
        </p:spPr>
        <p:txBody>
          <a:bodyPr wrap="square" lIns="0" tIns="0" rIns="0" bIns="0" rtlCol="0" anchor="t"/>
          <a:lstStyle/>
          <a:p>
            <a:pPr indent="0" marL="0">
              <a:buNone/>
            </a:pPr>
            <a:r>
              <a:rPr lang="en-US" sz="1500" dirty="0">
                <a:solidFill>
                  <a:srgbClr val="1B2430"/>
                </a:solidFill>
                <a:latin typeface="Calibri" pitchFamily="34" charset="0"/>
                <a:ea typeface="Calibri" pitchFamily="34" charset="-122"/>
                <a:cs typeface="Calibri" pitchFamily="34" charset="-120"/>
              </a:rPr>
              <a:t>No tool shows whether attention is spread evenly, or whether one task has been quietly starved.</a:t>
            </a:r>
            <a:endParaRPr lang="en-US" sz="1500" dirty="0"/>
          </a:p>
        </p:txBody>
      </p:sp>
      <p:sp>
        <p:nvSpPr>
          <p:cNvPr id="12" name="Text 9"/>
          <p:cNvSpPr/>
          <p:nvPr/>
        </p:nvSpPr>
        <p:spPr>
          <a:xfrm>
            <a:off x="4526280" y="4754880"/>
            <a:ext cx="3108960" cy="640080"/>
          </a:xfrm>
          <a:prstGeom prst="rect">
            <a:avLst/>
          </a:prstGeom>
          <a:noFill/>
          <a:ln/>
        </p:spPr>
        <p:txBody>
          <a:bodyPr wrap="square" lIns="0" tIns="0" rIns="0" bIns="0" rtlCol="0" anchor="t"/>
          <a:lstStyle/>
          <a:p>
            <a:pPr indent="0" marL="0">
              <a:buNone/>
            </a:pPr>
            <a:r>
              <a:rPr lang="en-US" sz="1400" b="1" dirty="0">
                <a:solidFill>
                  <a:srgbClr val="1F4E79"/>
                </a:solidFill>
                <a:latin typeface="Calibri" pitchFamily="34" charset="0"/>
                <a:ea typeface="Calibri" pitchFamily="34" charset="-122"/>
                <a:cs typeface="Calibri" pitchFamily="34" charset="-120"/>
              </a:rPr>
              <a:t>OS answer: Jain's fairness index and slowdown</a:t>
            </a:r>
            <a:endParaRPr lang="en-US" sz="1400" dirty="0"/>
          </a:p>
        </p:txBody>
      </p:sp>
      <p:sp>
        <p:nvSpPr>
          <p:cNvPr id="13" name="Shape 10"/>
          <p:cNvSpPr/>
          <p:nvPr/>
        </p:nvSpPr>
        <p:spPr>
          <a:xfrm>
            <a:off x="8046720" y="1600200"/>
            <a:ext cx="3566160" cy="4023360"/>
          </a:xfrm>
          <a:prstGeom prst="rect">
            <a:avLst/>
          </a:prstGeom>
          <a:solidFill>
            <a:srgbClr val="F3F5F8"/>
          </a:solidFill>
          <a:ln w="9525">
            <a:solidFill>
              <a:srgbClr val="D5DAE1"/>
            </a:solidFill>
            <a:prstDash val="solid"/>
          </a:ln>
        </p:spPr>
      </p:sp>
      <p:sp>
        <p:nvSpPr>
          <p:cNvPr id="14" name="Text 11"/>
          <p:cNvSpPr/>
          <p:nvPr/>
        </p:nvSpPr>
        <p:spPr>
          <a:xfrm>
            <a:off x="8275320" y="1783080"/>
            <a:ext cx="3108960" cy="822960"/>
          </a:xfrm>
          <a:prstGeom prst="rect">
            <a:avLst/>
          </a:prstGeom>
          <a:noFill/>
          <a:ln/>
        </p:spPr>
        <p:txBody>
          <a:bodyPr wrap="square" lIns="0" tIns="0" rIns="0" bIns="0" rtlCol="0" anchor="t"/>
          <a:lstStyle/>
          <a:p>
            <a:pPr indent="0" marL="0">
              <a:buNone/>
            </a:pPr>
            <a:r>
              <a:rPr lang="en-US" sz="2000" b="1" dirty="0">
                <a:solidFill>
                  <a:srgbClr val="1B2430"/>
                </a:solidFill>
                <a:latin typeface="Georgia" pitchFamily="34" charset="0"/>
                <a:ea typeface="Georgia" pitchFamily="34" charset="-122"/>
                <a:cs typeface="Georgia" pitchFamily="34" charset="-120"/>
              </a:rPr>
              <a:t>Stuck tasks are not handled</a:t>
            </a:r>
            <a:endParaRPr lang="en-US" sz="2000" dirty="0"/>
          </a:p>
        </p:txBody>
      </p:sp>
      <p:sp>
        <p:nvSpPr>
          <p:cNvPr id="15" name="Text 12"/>
          <p:cNvSpPr/>
          <p:nvPr/>
        </p:nvSpPr>
        <p:spPr>
          <a:xfrm>
            <a:off x="8275320" y="2697480"/>
            <a:ext cx="3108960" cy="1828800"/>
          </a:xfrm>
          <a:prstGeom prst="rect">
            <a:avLst/>
          </a:prstGeom>
          <a:noFill/>
          <a:ln/>
        </p:spPr>
        <p:txBody>
          <a:bodyPr wrap="square" lIns="0" tIns="0" rIns="0" bIns="0" rtlCol="0" anchor="t"/>
          <a:lstStyle/>
          <a:p>
            <a:pPr indent="0" marL="0">
              <a:buNone/>
            </a:pPr>
            <a:r>
              <a:rPr lang="en-US" sz="1500" dirty="0">
                <a:solidFill>
                  <a:srgbClr val="1B2430"/>
                </a:solidFill>
                <a:latin typeface="Calibri" pitchFamily="34" charset="0"/>
                <a:ea typeface="Calibri" pitchFamily="34" charset="-122"/>
                <a:cs typeface="Calibri" pitchFamily="34" charset="-120"/>
              </a:rPr>
              <a:t>A task blocked on an exhausted resource shows a flag. Nothing explains why, and nothing repairs it.</a:t>
            </a:r>
            <a:endParaRPr lang="en-US" sz="1500" dirty="0"/>
          </a:p>
        </p:txBody>
      </p:sp>
      <p:sp>
        <p:nvSpPr>
          <p:cNvPr id="16" name="Text 13"/>
          <p:cNvSpPr/>
          <p:nvPr/>
        </p:nvSpPr>
        <p:spPr>
          <a:xfrm>
            <a:off x="8275320" y="4754880"/>
            <a:ext cx="3108960" cy="640080"/>
          </a:xfrm>
          <a:prstGeom prst="rect">
            <a:avLst/>
          </a:prstGeom>
          <a:noFill/>
          <a:ln/>
        </p:spPr>
        <p:txBody>
          <a:bodyPr wrap="square" lIns="0" tIns="0" rIns="0" bIns="0" rtlCol="0" anchor="t"/>
          <a:lstStyle/>
          <a:p>
            <a:pPr indent="0" marL="0">
              <a:buNone/>
            </a:pPr>
            <a:r>
              <a:rPr lang="en-US" sz="1400" b="1" dirty="0">
                <a:solidFill>
                  <a:srgbClr val="1F4E79"/>
                </a:solidFill>
                <a:latin typeface="Calibri" pitchFamily="34" charset="0"/>
                <a:ea typeface="Calibri" pitchFamily="34" charset="-122"/>
                <a:cs typeface="Calibri" pitchFamily="34" charset="-120"/>
              </a:rPr>
              <a:t>OS answer: detect, diagnose, recover</a:t>
            </a:r>
            <a:endParaRPr lang="en-US" sz="14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1  PROBLEM AND IDEA</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The idea: map each part of a task onto an OS concept</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108960"/>
                <a:gridCol w="3108960"/>
                <a:gridCol w="4846320"/>
              </a:tblGrid>
              <a:tr h="3108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 a to-do list</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 Procura (OS term)</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makes possible</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566928">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 task</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 process with a PID</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 strict lifecycle: NEW, READY, RUNNING, BLOCKED, COMPLETED, TERMINATED</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Estimated effort</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Burst time, in minutes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Shortest-job-first, Gantt charts, waiting-time arithmetic</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66928">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Importance and deadline</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Effective priority score</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An order that also rewards waiting, so nothing starves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Time already waiting</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Aging</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Guaranteed progress for low-priority tasks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66928">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Memory, files, connections a task needs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Requests against five fixed pools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Realistic contention: a request can fail</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Waiting on someone else's task</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 wait-for edge</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Deadlock detection when the waits form a cycle</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66928">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 task that stalls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A detected failure</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Explanation by the AI assistant, repair by fixed rules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1  PROBLEM AND IDEA</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One backend, four subsystems, two ways in</a:t>
            </a:r>
            <a:endParaRPr lang="en-US" sz="2800" dirty="0"/>
          </a:p>
        </p:txBody>
      </p:sp>
      <p:sp>
        <p:nvSpPr>
          <p:cNvPr id="5" name="Shape 2"/>
          <p:cNvSpPr/>
          <p:nvPr/>
        </p:nvSpPr>
        <p:spPr>
          <a:xfrm>
            <a:off x="548640" y="1463040"/>
            <a:ext cx="6035040" cy="4350320"/>
          </a:xfrm>
          <a:prstGeom prst="rect">
            <a:avLst/>
          </a:prstGeom>
          <a:solidFill>
            <a:srgbClr val="FFFFFF"/>
          </a:solidFill>
          <a:ln w="9525">
            <a:solidFill>
              <a:srgbClr val="D5DAE1"/>
            </a:solidFill>
            <a:prstDash val="solid"/>
          </a:ln>
        </p:spPr>
      </p:sp>
      <p:pic>
        <p:nvPicPr>
          <p:cNvPr id="6" name="Image 0" descr="D:/Downloads/Projects/OS/procura/docs/figures/fig_architecture.png">    </p:cNvPr>
          <p:cNvPicPr>
            <a:picLocks noChangeAspect="1"/>
          </p:cNvPicPr>
          <p:nvPr/>
        </p:nvPicPr>
        <p:blipFill>
          <a:blip r:embed="rId1"/>
          <a:stretch>
            <a:fillRect/>
          </a:stretch>
        </p:blipFill>
        <p:spPr>
          <a:xfrm>
            <a:off x="548640" y="1463040"/>
            <a:ext cx="6035040" cy="4350320"/>
          </a:xfrm>
          <a:prstGeom prst="rect">
            <a:avLst/>
          </a:prstGeom>
        </p:spPr>
      </p:pic>
      <p:sp>
        <p:nvSpPr>
          <p:cNvPr id="7" name="Text 3"/>
          <p:cNvSpPr/>
          <p:nvPr/>
        </p:nvSpPr>
        <p:spPr>
          <a:xfrm>
            <a:off x="6858000" y="1554480"/>
            <a:ext cx="4754880" cy="4572000"/>
          </a:xfrm>
          <a:prstGeom prst="rect">
            <a:avLst/>
          </a:prstGeom>
          <a:noFill/>
          <a:ln/>
        </p:spPr>
        <p:txBody>
          <a:bodyPr wrap="square" lIns="0" tIns="0" rIns="0" bIns="0" rtlCol="0" anchor="t"/>
          <a:lstStyle/>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Interfaces.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React web app with five screens, and procura_top, a terminal dashboard. Same REST API.</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main.py.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FastAPI, 16 endpoints, glues the subsystems together.</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os_sim/.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Process manager, scheduler, resource manager.</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recovery/.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Detector, diagnosis, recovery scripts.</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rag/.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Tokenizer, TF-IDF search, assistant.</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benchmark/.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Workload generator, SWF trace parser, metrics, statistical study.</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SQLite.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One file, raw sqlite3, no ORM.</a:t>
            </a:r>
            <a:endParaRPr lang="en-US" sz="15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1  PROBLEM AND IDEA</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Follow one task through the whole system</a:t>
            </a:r>
            <a:endParaRPr lang="en-US" sz="2800" dirty="0"/>
          </a:p>
        </p:txBody>
      </p:sp>
      <p:sp>
        <p:nvSpPr>
          <p:cNvPr id="5" name="Shape 2"/>
          <p:cNvSpPr/>
          <p:nvPr/>
        </p:nvSpPr>
        <p:spPr>
          <a:xfrm>
            <a:off x="548640" y="1554480"/>
            <a:ext cx="457200" cy="457200"/>
          </a:xfrm>
          <a:prstGeom prst="ellipse">
            <a:avLst/>
          </a:prstGeom>
          <a:solidFill>
            <a:srgbClr val="1F4E79"/>
          </a:solidFill>
          <a:ln w="12700">
            <a:solidFill>
              <a:srgbClr val="1F4E79"/>
            </a:solidFill>
            <a:prstDash val="solid"/>
          </a:ln>
        </p:spPr>
      </p:sp>
      <p:sp>
        <p:nvSpPr>
          <p:cNvPr id="6" name="Text 3"/>
          <p:cNvSpPr/>
          <p:nvPr/>
        </p:nvSpPr>
        <p:spPr>
          <a:xfrm>
            <a:off x="54864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p:nvPr/>
        </p:nvSpPr>
        <p:spPr>
          <a:xfrm>
            <a:off x="1143000" y="1508760"/>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Form</a:t>
            </a:r>
            <a:endParaRPr lang="en-US" sz="1600" dirty="0"/>
          </a:p>
        </p:txBody>
      </p:sp>
      <p:sp>
        <p:nvSpPr>
          <p:cNvPr id="8" name="Text 5"/>
          <p:cNvSpPr/>
          <p:nvPr/>
        </p:nvSpPr>
        <p:spPr>
          <a:xfrm>
            <a:off x="1143000" y="1856232"/>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Processes.jsx calls api.js, which sends POST /processes.</a:t>
            </a:r>
            <a:endParaRPr lang="en-US" sz="1300" dirty="0"/>
          </a:p>
        </p:txBody>
      </p:sp>
      <p:sp>
        <p:nvSpPr>
          <p:cNvPr id="9" name="Shape 6"/>
          <p:cNvSpPr/>
          <p:nvPr/>
        </p:nvSpPr>
        <p:spPr>
          <a:xfrm>
            <a:off x="548640" y="2724912"/>
            <a:ext cx="457200" cy="457200"/>
          </a:xfrm>
          <a:prstGeom prst="ellipse">
            <a:avLst/>
          </a:prstGeom>
          <a:solidFill>
            <a:srgbClr val="1F4E79"/>
          </a:solidFill>
          <a:ln w="12700">
            <a:solidFill>
              <a:srgbClr val="1F4E79"/>
            </a:solidFill>
            <a:prstDash val="solid"/>
          </a:ln>
        </p:spPr>
      </p:sp>
      <p:sp>
        <p:nvSpPr>
          <p:cNvPr id="10" name="Text 7"/>
          <p:cNvSpPr/>
          <p:nvPr/>
        </p:nvSpPr>
        <p:spPr>
          <a:xfrm>
            <a:off x="548640" y="27249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8"/>
          <p:cNvSpPr/>
          <p:nvPr/>
        </p:nvSpPr>
        <p:spPr>
          <a:xfrm>
            <a:off x="1143000" y="2679192"/>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Admission</a:t>
            </a:r>
            <a:endParaRPr lang="en-US" sz="1600" dirty="0"/>
          </a:p>
        </p:txBody>
      </p:sp>
      <p:sp>
        <p:nvSpPr>
          <p:cNvPr id="12" name="Text 9"/>
          <p:cNvSpPr/>
          <p:nvPr/>
        </p:nvSpPr>
        <p:spPr>
          <a:xfrm>
            <a:off x="1143000" y="3026664"/>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main.py validates; process_manager.create_process assigns a PID and saves a row; state NEW becomes READY.</a:t>
            </a:r>
            <a:endParaRPr lang="en-US" sz="1300" dirty="0"/>
          </a:p>
        </p:txBody>
      </p:sp>
      <p:sp>
        <p:nvSpPr>
          <p:cNvPr id="13" name="Shape 10"/>
          <p:cNvSpPr/>
          <p:nvPr/>
        </p:nvSpPr>
        <p:spPr>
          <a:xfrm>
            <a:off x="548640" y="3895344"/>
            <a:ext cx="457200" cy="457200"/>
          </a:xfrm>
          <a:prstGeom prst="ellipse">
            <a:avLst/>
          </a:prstGeom>
          <a:solidFill>
            <a:srgbClr val="1F4E79"/>
          </a:solidFill>
          <a:ln w="12700">
            <a:solidFill>
              <a:srgbClr val="1F4E79"/>
            </a:solidFill>
            <a:prstDash val="solid"/>
          </a:ln>
        </p:spPr>
      </p:sp>
      <p:sp>
        <p:nvSpPr>
          <p:cNvPr id="14" name="Text 11"/>
          <p:cNvSpPr/>
          <p:nvPr/>
        </p:nvSpPr>
        <p:spPr>
          <a:xfrm>
            <a:off x="548640" y="38953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2"/>
          <p:cNvSpPr/>
          <p:nvPr/>
        </p:nvSpPr>
        <p:spPr>
          <a:xfrm>
            <a:off x="1143000" y="3849624"/>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Scheduling</a:t>
            </a:r>
            <a:endParaRPr lang="en-US" sz="1600" dirty="0"/>
          </a:p>
        </p:txBody>
      </p:sp>
      <p:sp>
        <p:nvSpPr>
          <p:cNvPr id="16" name="Text 13"/>
          <p:cNvSpPr/>
          <p:nvPr/>
        </p:nvSpPr>
        <p:spPr>
          <a:xfrm>
            <a:off x="1143000" y="4197096"/>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GET /schedule runs run_schedule() in scheduler.py and returns order, Gantt slices and metrics.</a:t>
            </a:r>
            <a:endParaRPr lang="en-US" sz="1300" dirty="0"/>
          </a:p>
        </p:txBody>
      </p:sp>
      <p:sp>
        <p:nvSpPr>
          <p:cNvPr id="17" name="Shape 14"/>
          <p:cNvSpPr/>
          <p:nvPr/>
        </p:nvSpPr>
        <p:spPr>
          <a:xfrm>
            <a:off x="548640" y="5065776"/>
            <a:ext cx="457200" cy="457200"/>
          </a:xfrm>
          <a:prstGeom prst="ellipse">
            <a:avLst/>
          </a:prstGeom>
          <a:solidFill>
            <a:srgbClr val="1F4E79"/>
          </a:solidFill>
          <a:ln w="12700">
            <a:solidFill>
              <a:srgbClr val="1F4E79"/>
            </a:solidFill>
            <a:prstDash val="solid"/>
          </a:ln>
        </p:spPr>
      </p:sp>
      <p:sp>
        <p:nvSpPr>
          <p:cNvPr id="18" name="Text 15"/>
          <p:cNvSpPr/>
          <p:nvPr/>
        </p:nvSpPr>
        <p:spPr>
          <a:xfrm>
            <a:off x="548640" y="50657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9" name="Text 16"/>
          <p:cNvSpPr/>
          <p:nvPr/>
        </p:nvSpPr>
        <p:spPr>
          <a:xfrm>
            <a:off x="1143000" y="5020056"/>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Resources</a:t>
            </a:r>
            <a:endParaRPr lang="en-US" sz="1600" dirty="0"/>
          </a:p>
        </p:txBody>
      </p:sp>
      <p:sp>
        <p:nvSpPr>
          <p:cNvPr id="20" name="Text 17"/>
          <p:cNvSpPr/>
          <p:nvPr/>
        </p:nvSpPr>
        <p:spPr>
          <a:xfrm>
            <a:off x="1143000" y="5367528"/>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ResourceManager.allocate() checks the pool; if it does not fit, the request fails and a wait-for edge is recorded.</a:t>
            </a:r>
            <a:endParaRPr lang="en-US" sz="1300" dirty="0"/>
          </a:p>
        </p:txBody>
      </p:sp>
      <p:sp>
        <p:nvSpPr>
          <p:cNvPr id="21" name="Shape 18"/>
          <p:cNvSpPr/>
          <p:nvPr/>
        </p:nvSpPr>
        <p:spPr>
          <a:xfrm>
            <a:off x="6217920" y="1554480"/>
            <a:ext cx="457200" cy="457200"/>
          </a:xfrm>
          <a:prstGeom prst="ellipse">
            <a:avLst/>
          </a:prstGeom>
          <a:solidFill>
            <a:srgbClr val="1F4E79"/>
          </a:solidFill>
          <a:ln w="12700">
            <a:solidFill>
              <a:srgbClr val="1F4E79"/>
            </a:solidFill>
            <a:prstDash val="solid"/>
          </a:ln>
        </p:spPr>
      </p:sp>
      <p:sp>
        <p:nvSpPr>
          <p:cNvPr id="22" name="Text 19"/>
          <p:cNvSpPr/>
          <p:nvPr/>
        </p:nvSpPr>
        <p:spPr>
          <a:xfrm>
            <a:off x="62179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3" name="Text 20"/>
          <p:cNvSpPr/>
          <p:nvPr/>
        </p:nvSpPr>
        <p:spPr>
          <a:xfrm>
            <a:off x="6812280" y="1508760"/>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Detection</a:t>
            </a:r>
            <a:endParaRPr lang="en-US" sz="1600" dirty="0"/>
          </a:p>
        </p:txBody>
      </p:sp>
      <p:sp>
        <p:nvSpPr>
          <p:cNvPr id="24" name="Text 21"/>
          <p:cNvSpPr/>
          <p:nvPr/>
        </p:nvSpPr>
        <p:spPr>
          <a:xfrm>
            <a:off x="6812280" y="1856232"/>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POST /detect runs run_detection() over all processes and the resource state.</a:t>
            </a:r>
            <a:endParaRPr lang="en-US" sz="1300" dirty="0"/>
          </a:p>
        </p:txBody>
      </p:sp>
      <p:sp>
        <p:nvSpPr>
          <p:cNvPr id="25" name="Shape 22"/>
          <p:cNvSpPr/>
          <p:nvPr/>
        </p:nvSpPr>
        <p:spPr>
          <a:xfrm>
            <a:off x="6217920" y="2724912"/>
            <a:ext cx="457200" cy="457200"/>
          </a:xfrm>
          <a:prstGeom prst="ellipse">
            <a:avLst/>
          </a:prstGeom>
          <a:solidFill>
            <a:srgbClr val="1F4E79"/>
          </a:solidFill>
          <a:ln w="12700">
            <a:solidFill>
              <a:srgbClr val="1F4E79"/>
            </a:solidFill>
            <a:prstDash val="solid"/>
          </a:ln>
        </p:spPr>
      </p:sp>
      <p:sp>
        <p:nvSpPr>
          <p:cNvPr id="26" name="Text 23"/>
          <p:cNvSpPr/>
          <p:nvPr/>
        </p:nvSpPr>
        <p:spPr>
          <a:xfrm>
            <a:off x="6217920" y="27249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7" name="Text 24"/>
          <p:cNvSpPr/>
          <p:nvPr/>
        </p:nvSpPr>
        <p:spPr>
          <a:xfrm>
            <a:off x="6812280" y="2679192"/>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Diagnosis</a:t>
            </a:r>
            <a:endParaRPr lang="en-US" sz="1600" dirty="0"/>
          </a:p>
        </p:txBody>
      </p:sp>
      <p:sp>
        <p:nvSpPr>
          <p:cNvPr id="28" name="Text 25"/>
          <p:cNvSpPr/>
          <p:nvPr/>
        </p:nvSpPr>
        <p:spPr>
          <a:xfrm>
            <a:off x="6812280" y="3026664"/>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diagnosis.diagnose() asks the RAG assistant to explain the finding, with the recorded facts as ground truth.</a:t>
            </a:r>
            <a:endParaRPr lang="en-US" sz="1300" dirty="0"/>
          </a:p>
        </p:txBody>
      </p:sp>
      <p:sp>
        <p:nvSpPr>
          <p:cNvPr id="29" name="Shape 26"/>
          <p:cNvSpPr/>
          <p:nvPr/>
        </p:nvSpPr>
        <p:spPr>
          <a:xfrm>
            <a:off x="6217920" y="3895344"/>
            <a:ext cx="457200" cy="457200"/>
          </a:xfrm>
          <a:prstGeom prst="ellipse">
            <a:avLst/>
          </a:prstGeom>
          <a:solidFill>
            <a:srgbClr val="1F4E79"/>
          </a:solidFill>
          <a:ln w="12700">
            <a:solidFill>
              <a:srgbClr val="1F4E79"/>
            </a:solidFill>
            <a:prstDash val="solid"/>
          </a:ln>
        </p:spPr>
      </p:sp>
      <p:sp>
        <p:nvSpPr>
          <p:cNvPr id="30" name="Text 27"/>
          <p:cNvSpPr/>
          <p:nvPr/>
        </p:nvSpPr>
        <p:spPr>
          <a:xfrm>
            <a:off x="6217920" y="38953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31" name="Text 28"/>
          <p:cNvSpPr/>
          <p:nvPr/>
        </p:nvSpPr>
        <p:spPr>
          <a:xfrm>
            <a:off x="6812280" y="3849624"/>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Recovery</a:t>
            </a:r>
            <a:endParaRPr lang="en-US" sz="1600" dirty="0"/>
          </a:p>
        </p:txBody>
      </p:sp>
      <p:sp>
        <p:nvSpPr>
          <p:cNvPr id="32" name="Text 29"/>
          <p:cNvSpPr/>
          <p:nvPr/>
        </p:nvSpPr>
        <p:spPr>
          <a:xfrm>
            <a:off x="6812280" y="4197096"/>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recovery.run_recovery() applies a fixed rule: retry, suspend a lower-priority holder, or terminate.</a:t>
            </a:r>
            <a:endParaRPr lang="en-US" sz="1300" dirty="0"/>
          </a:p>
        </p:txBody>
      </p:sp>
      <p:sp>
        <p:nvSpPr>
          <p:cNvPr id="33" name="Shape 30"/>
          <p:cNvSpPr/>
          <p:nvPr/>
        </p:nvSpPr>
        <p:spPr>
          <a:xfrm>
            <a:off x="6217920" y="5065776"/>
            <a:ext cx="457200" cy="457200"/>
          </a:xfrm>
          <a:prstGeom prst="ellipse">
            <a:avLst/>
          </a:prstGeom>
          <a:solidFill>
            <a:srgbClr val="1F4E79"/>
          </a:solidFill>
          <a:ln w="12700">
            <a:solidFill>
              <a:srgbClr val="1F4E79"/>
            </a:solidFill>
            <a:prstDash val="solid"/>
          </a:ln>
        </p:spPr>
      </p:sp>
      <p:sp>
        <p:nvSpPr>
          <p:cNvPr id="34" name="Text 31"/>
          <p:cNvSpPr/>
          <p:nvPr/>
        </p:nvSpPr>
        <p:spPr>
          <a:xfrm>
            <a:off x="6217920" y="50657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35" name="Text 32"/>
          <p:cNvSpPr/>
          <p:nvPr/>
        </p:nvSpPr>
        <p:spPr>
          <a:xfrm>
            <a:off x="6812280" y="5020056"/>
            <a:ext cx="4754880" cy="320040"/>
          </a:xfrm>
          <a:prstGeom prst="rect">
            <a:avLst/>
          </a:prstGeom>
          <a:noFill/>
          <a:ln/>
        </p:spPr>
        <p:txBody>
          <a:bodyPr wrap="square" lIns="0" tIns="0" rIns="0" bIns="0" rtlCol="0" anchor="ctr"/>
          <a:lstStyle/>
          <a:p>
            <a:pPr indent="0" marL="0">
              <a:buNone/>
            </a:pPr>
            <a:r>
              <a:rPr lang="en-US" sz="1600" b="1" dirty="0">
                <a:solidFill>
                  <a:srgbClr val="1B2430"/>
                </a:solidFill>
                <a:latin typeface="Georgia" pitchFamily="34" charset="0"/>
                <a:ea typeface="Georgia" pitchFamily="34" charset="-122"/>
                <a:cs typeface="Georgia" pitchFamily="34" charset="-120"/>
              </a:rPr>
              <a:t>Record</a:t>
            </a:r>
            <a:endParaRPr lang="en-US" sz="1600" dirty="0"/>
          </a:p>
        </p:txBody>
      </p:sp>
      <p:sp>
        <p:nvSpPr>
          <p:cNvPr id="36" name="Text 33"/>
          <p:cNvSpPr/>
          <p:nvPr/>
        </p:nvSpPr>
        <p:spPr>
          <a:xfrm>
            <a:off x="6812280" y="5367528"/>
            <a:ext cx="4754880" cy="731520"/>
          </a:xfrm>
          <a:prstGeom prst="rect">
            <a:avLst/>
          </a:prstGeom>
          <a:noFill/>
          <a:ln/>
        </p:spPr>
        <p:txBody>
          <a:bodyPr wrap="square" lIns="0" tIns="0" rIns="0" bIns="0" rtlCol="0" anchor="t"/>
          <a:lstStyle/>
          <a:p>
            <a:pPr indent="0" marL="0">
              <a:buNone/>
            </a:pPr>
            <a:r>
              <a:rPr lang="en-US" sz="1300" dirty="0">
                <a:solidFill>
                  <a:srgbClr val="5B6675"/>
                </a:solidFill>
                <a:latin typeface="Calibri" pitchFamily="34" charset="0"/>
                <a:ea typeface="Calibri" pitchFamily="34" charset="-122"/>
                <a:cs typeface="Calibri" pitchFamily="34" charset="-120"/>
              </a:rPr>
              <a:t>Error, diagnosis and action are written to SQLite and shown in the Error Monitor.</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Process model: a PID and an enforced lifecycle</a:t>
            </a:r>
            <a:endParaRPr lang="en-US" sz="2800" dirty="0"/>
          </a:p>
        </p:txBody>
      </p:sp>
      <p:sp>
        <p:nvSpPr>
          <p:cNvPr id="5" name="Shape 2"/>
          <p:cNvSpPr/>
          <p:nvPr/>
        </p:nvSpPr>
        <p:spPr>
          <a:xfrm>
            <a:off x="548640" y="1463040"/>
            <a:ext cx="4937760" cy="2580061"/>
          </a:xfrm>
          <a:prstGeom prst="rect">
            <a:avLst/>
          </a:prstGeom>
          <a:solidFill>
            <a:srgbClr val="FFFFFF"/>
          </a:solidFill>
          <a:ln w="9525">
            <a:solidFill>
              <a:srgbClr val="D5DAE1"/>
            </a:solidFill>
            <a:prstDash val="solid"/>
          </a:ln>
        </p:spPr>
      </p:sp>
      <p:pic>
        <p:nvPicPr>
          <p:cNvPr id="6" name="Image 0" descr="D:/Downloads/Projects/OS/procura/docs/figures/fig_state_machine.png">    </p:cNvPr>
          <p:cNvPicPr>
            <a:picLocks noChangeAspect="1"/>
          </p:cNvPicPr>
          <p:nvPr/>
        </p:nvPicPr>
        <p:blipFill>
          <a:blip r:embed="rId1"/>
          <a:stretch>
            <a:fillRect/>
          </a:stretch>
        </p:blipFill>
        <p:spPr>
          <a:xfrm>
            <a:off x="548640" y="1463040"/>
            <a:ext cx="4937760" cy="2580061"/>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4937760" cy="914400"/>
        </p:xfrm>
        <a:graphic>
          <a:graphicData uri="http://schemas.openxmlformats.org/drawingml/2006/table">
            <a:tbl>
              <a:tblPr/>
              <a:tblGrid>
                <a:gridCol w="1737360"/>
                <a:gridCol w="32004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From</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May move to</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3108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NEW</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READY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READY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RUNNING, TERMINATED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RUNNING</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READY, BLOCKED, COMPLETED, TERMINATED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BLOCKED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READY, TERMINATED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COMPLETED, TERMINATED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760720" y="1508760"/>
          <a:ext cx="5852160" cy="914400"/>
        </p:xfrm>
        <a:graphic>
          <a:graphicData uri="http://schemas.openxmlformats.org/drawingml/2006/table">
            <a:tbl>
              <a:tblPr/>
              <a:tblGrid>
                <a:gridCol w="3108960"/>
                <a:gridCol w="27432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 (process_manager.py)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create_process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Assigns the next PID, saves the row, moves NEW to READY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get_process / list_processes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Read one process, or all (optionally by state)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transition_state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Checks the move with validate_transition, then saves it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start_process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READY to RUNNING, records started_at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pause_process / resume_process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RUNNING to BLOCKED / BLOCKED to READY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complete_process / terminate_process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Move to a final state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increment_error_count</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Counts failures against a process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delete_process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Removes the row</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validate_transition (states.py)</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Raises InvalidTransitionError for an illegal move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Persistence: one SQLite file with four tables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377440"/>
                <a:gridCol w="86868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Holds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94284">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processes</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PID, name, description, priority, deadline, burst time, arrival time, memory and CPU requirement, state, error count, timestamps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errors</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One row per detected failure: process, type, raw details, time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diagnoses</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The explanation written for each error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recovery_actions</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Action type and target PID for each error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005580"/>
          <a:ext cx="11064240" cy="914400"/>
        </p:xfrm>
        <a:graphic>
          <a:graphicData uri="http://schemas.openxmlformats.org/drawingml/2006/table">
            <a:tbl>
              <a:tblPr/>
              <a:tblGrid>
                <a:gridCol w="5669280"/>
                <a:gridCol w="5394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 (database.py)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init_db / reset_db</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Create the tables; drop and recreate them (seed script, tests)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create_process / get_process / list_processes / update_process / delete_process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CRUD for the processes table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log_error / log_diagnosis / log_recovery_action</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Append one record to each history table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get_error_log</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Join errors, diagnoses and recovery_actions into one history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get_connection / db_cursor / now_iso</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Connection helpers and the timestamp format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Effective priority: five terms set the order</a:t>
            </a:r>
            <a:endParaRPr lang="en-US" sz="2800" dirty="0"/>
          </a:p>
        </p:txBody>
      </p:sp>
      <p:sp>
        <p:nvSpPr>
          <p:cNvPr id="5" name="Text 2"/>
          <p:cNvSpPr/>
          <p:nvPr/>
        </p:nvSpPr>
        <p:spPr>
          <a:xfrm>
            <a:off x="548640" y="1417320"/>
            <a:ext cx="5486400" cy="457200"/>
          </a:xfrm>
          <a:prstGeom prst="rect">
            <a:avLst/>
          </a:prstGeom>
          <a:noFill/>
          <a:ln/>
        </p:spPr>
        <p:txBody>
          <a:bodyPr wrap="square" lIns="0" tIns="0" rIns="0" bIns="0" rtlCol="0" anchor="ctr"/>
          <a:lstStyle/>
          <a:p>
            <a:pPr indent="0" marL="0">
              <a:buNone/>
            </a:pPr>
            <a:r>
              <a:rPr lang="en-US" sz="2200" b="1" dirty="0">
                <a:solidFill>
                  <a:srgbClr val="1F4E79"/>
                </a:solidFill>
                <a:latin typeface="Consolas" pitchFamily="34" charset="0"/>
                <a:ea typeface="Consolas" pitchFamily="34" charset="-122"/>
                <a:cs typeface="Consolas" pitchFamily="34" charset="-120"/>
              </a:rPr>
              <a:t>E  =  U + D + W + R + S</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64240" cy="914400"/>
        </p:xfrm>
        <a:graphic>
          <a:graphicData uri="http://schemas.openxmlformats.org/drawingml/2006/table">
            <a:tbl>
              <a:tblPr/>
              <a:tblGrid>
                <a:gridCol w="2194560"/>
                <a:gridCol w="2926080"/>
                <a:gridCol w="4846320"/>
                <a:gridCol w="10972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Term</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Range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5720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User priority  U</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user_priority_score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High 90, Medium 50, Low 20; a number is clamped to 0 to 100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20 to 90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Deadline urgency  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deadline_urgency_score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0 beyond 48 h; 100 once passed; 100 x (1 - h/48) between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0 to 100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Aging  W</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waiting_time_score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2 points per minute in READY, capped at 100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0 to 100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Resource cost  R</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resource_requirement_score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up to 60 for memory (of 2048 MB) plus up to 40 for CPU</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0 to 100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Fair share  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fair_share_score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Penalty for using more than 1/n of decayed past use; half-life 60 min (_decay_factor)</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-100 to 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effective_priority_score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Sum of the five; used by priority_scheduling and by the recovery rules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7" name="Shape 3"/>
          <p:cNvSpPr/>
          <p:nvPr/>
        </p:nvSpPr>
        <p:spPr>
          <a:xfrm>
            <a:off x="548640" y="5260848"/>
            <a:ext cx="11064240" cy="685800"/>
          </a:xfrm>
          <a:prstGeom prst="rect">
            <a:avLst/>
          </a:prstGeom>
          <a:solidFill>
            <a:srgbClr val="FBEBD9"/>
          </a:solidFill>
          <a:ln w="12700">
            <a:solidFill>
              <a:srgbClr val="FBEBD9"/>
            </a:solidFill>
            <a:prstDash val="solid"/>
          </a:ln>
        </p:spPr>
      </p:sp>
      <p:sp>
        <p:nvSpPr>
          <p:cNvPr id="8" name="Shape 4"/>
          <p:cNvSpPr/>
          <p:nvPr/>
        </p:nvSpPr>
        <p:spPr>
          <a:xfrm>
            <a:off x="548640" y="5260848"/>
            <a:ext cx="64008" cy="685800"/>
          </a:xfrm>
          <a:prstGeom prst="rect">
            <a:avLst/>
          </a:prstGeom>
          <a:solidFill>
            <a:srgbClr val="9A4A00"/>
          </a:solidFill>
          <a:ln w="12700">
            <a:solidFill>
              <a:srgbClr val="9A4A00"/>
            </a:solidFill>
            <a:prstDash val="solid"/>
          </a:ln>
        </p:spPr>
      </p:sp>
      <p:sp>
        <p:nvSpPr>
          <p:cNvPr id="9" name="Text 5"/>
          <p:cNvSpPr/>
          <p:nvPr/>
        </p:nvSpPr>
        <p:spPr>
          <a:xfrm>
            <a:off x="749808" y="5260848"/>
            <a:ext cx="10744200" cy="68580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Live check: a Medium task outranked a High one (225.9 against 218.0) because both deadlines had passed and the Medium task needed more resources. The formula is working as written; whether the weights suit a user is a design choice.</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FCFS, SJF and Priority run one task at a time to completion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583680" cy="914400"/>
        </p:xfrm>
        <a:graphic>
          <a:graphicData uri="http://schemas.openxmlformats.org/drawingml/2006/table">
            <a:tbl>
              <a:tblPr/>
              <a:tblGrid>
                <a:gridCol w="2926080"/>
                <a:gridCol w="36576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Function (scheduler.py)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Does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75488">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fcfs</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Dispatch in arrival order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94284">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sjf</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Among arrived jobs, run the shortest burst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94284">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priority_scheduling</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Among arrived jobs, run the highest effective priority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94284">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_arrival_aware_order</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The shared rule: pick the best arrived job; idle only if nothing has arrived</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94284">
                <a:tc>
                  <a:txBody>
                    <a:bodyPr/>
                    <a:lstStyle/>
                    <a:p>
                      <a:pPr algn="l" indent="0" marL="0">
                        <a:buNone/>
                      </a:pPr>
                      <a:r>
                        <a:rPr lang="en-US" sz="1200" dirty="0">
                          <a:solidFill>
                            <a:srgbClr val="1B2430"/>
                          </a:solidFill>
                          <a:latin typeface="Consolas" pitchFamily="34" charset="0"/>
                          <a:ea typeface="Consolas" pitchFamily="34" charset="-122"/>
                          <a:cs typeface="Consolas" pitchFamily="34" charset="-120"/>
                        </a:rPr>
                        <a:t>_run_nonpreemptive</a:t>
                      </a:r>
                      <a:endParaRPr lang="en-US" sz="12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Turns an order into Gantt slices and metrics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2"/>
          <p:cNvSpPr/>
          <p:nvPr/>
        </p:nvSpPr>
        <p:spPr>
          <a:xfrm>
            <a:off x="7498080" y="1463040"/>
            <a:ext cx="420624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Hand-worked example (also the unit test)</a:t>
            </a:r>
            <a:endParaRPr lang="en-US" sz="14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7498080" y="1783080"/>
          <a:ext cx="4023360" cy="914400"/>
        </p:xfrm>
        <a:graphic>
          <a:graphicData uri="http://schemas.openxmlformats.org/drawingml/2006/table">
            <a:tbl>
              <a:tblPr/>
              <a:tblGrid>
                <a:gridCol w="1097280"/>
                <a:gridCol w="1463040"/>
                <a:gridCol w="14630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Job</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Arrives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Burst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292608">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P3</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P4</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7498080" y="3657600"/>
          <a:ext cx="4389120" cy="914400"/>
        </p:xfrm>
        <a:graphic>
          <a:graphicData uri="http://schemas.openxmlformats.org/drawingml/2006/table">
            <a:tbl>
              <a:tblPr/>
              <a:tblGrid>
                <a:gridCol w="1737360"/>
                <a:gridCol w="1371600"/>
                <a:gridCol w="1280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Order</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Avg wait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3108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FCFS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1, 2, 3, 4</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5.75</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SJF</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1, 2, 4, 3</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5.25</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Round Robin q=4</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interleaved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9.25</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9" name="Shape 3"/>
          <p:cNvSpPr/>
          <p:nvPr/>
        </p:nvSpPr>
        <p:spPr>
          <a:xfrm>
            <a:off x="548640" y="5257800"/>
            <a:ext cx="11064240" cy="868680"/>
          </a:xfrm>
          <a:prstGeom prst="rect">
            <a:avLst/>
          </a:prstGeom>
          <a:solidFill>
            <a:srgbClr val="FBEBD9"/>
          </a:solidFill>
          <a:ln w="12700">
            <a:solidFill>
              <a:srgbClr val="FBEBD9"/>
            </a:solidFill>
            <a:prstDash val="solid"/>
          </a:ln>
        </p:spPr>
      </p:sp>
      <p:sp>
        <p:nvSpPr>
          <p:cNvPr id="10" name="Shape 4"/>
          <p:cNvSpPr/>
          <p:nvPr/>
        </p:nvSpPr>
        <p:spPr>
          <a:xfrm>
            <a:off x="548640" y="5257800"/>
            <a:ext cx="64008" cy="868680"/>
          </a:xfrm>
          <a:prstGeom prst="rect">
            <a:avLst/>
          </a:prstGeom>
          <a:solidFill>
            <a:srgbClr val="9A4A00"/>
          </a:solidFill>
          <a:ln w="12700">
            <a:solidFill>
              <a:srgbClr val="9A4A00"/>
            </a:solidFill>
            <a:prstDash val="solid"/>
          </a:ln>
        </p:spPr>
      </p:sp>
      <p:sp>
        <p:nvSpPr>
          <p:cNvPr id="11" name="Text 5"/>
          <p:cNvSpPr/>
          <p:nvPr/>
        </p:nvSpPr>
        <p:spPr>
          <a:xfrm>
            <a:off x="749808" y="5257800"/>
            <a:ext cx="10744200" cy="868680"/>
          </a:xfrm>
          <a:prstGeom prst="rect">
            <a:avLst/>
          </a:prstGeom>
          <a:noFill/>
          <a:ln/>
        </p:spPr>
        <p:txBody>
          <a:bodyPr wrap="square" lIns="0" tIns="0" rIns="0" bIns="0" rtlCol="0" anchor="ctr"/>
          <a:lstStyle/>
          <a:p>
            <a:pPr indent="0" marL="0">
              <a:buNone/>
            </a:pPr>
            <a:r>
              <a:rPr lang="en-US" sz="1400" dirty="0">
                <a:solidFill>
                  <a:srgbClr val="1B2430"/>
                </a:solidFill>
                <a:latin typeface="Calibri" pitchFamily="34" charset="0"/>
                <a:ea typeface="Calibri" pitchFamily="34" charset="-122"/>
                <a:cs typeface="Calibri" pitchFamily="34" charset="-120"/>
              </a:rPr>
              <a:t>A bug found by running it: the first SJF pre-sorted all jobs and idled the CPU waiting for late arrivals. That inverted the result (SJF looked worse than FCFS). The original test encoded the bug.</a:t>
            </a:r>
            <a:endParaRPr lang="en-US" sz="14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Round Robin and EEVDF share the CPU in time slices</a:t>
            </a:r>
            <a:endParaRPr lang="en-US" sz="2800" dirty="0"/>
          </a:p>
        </p:txBody>
      </p:sp>
      <p:sp>
        <p:nvSpPr>
          <p:cNvPr id="5" name="Text 2"/>
          <p:cNvSpPr/>
          <p:nvPr/>
        </p:nvSpPr>
        <p:spPr>
          <a:xfrm>
            <a:off x="548640" y="1417320"/>
            <a:ext cx="5120640" cy="365760"/>
          </a:xfrm>
          <a:prstGeom prst="rect">
            <a:avLst/>
          </a:prstGeom>
          <a:noFill/>
          <a:ln/>
        </p:spPr>
        <p:txBody>
          <a:bodyPr wrap="square" lIns="0" tIns="0" rIns="0" bIns="0" rtlCol="0" anchor="ctr"/>
          <a:lstStyle/>
          <a:p>
            <a:pPr indent="0" marL="0">
              <a:buNone/>
            </a:pPr>
            <a:r>
              <a:rPr lang="en-US" sz="2000" b="1" dirty="0">
                <a:solidFill>
                  <a:srgbClr val="1B2430"/>
                </a:solidFill>
                <a:latin typeface="Georgia" pitchFamily="34" charset="0"/>
                <a:ea typeface="Georgia" pitchFamily="34" charset="-122"/>
                <a:cs typeface="Georgia" pitchFamily="34" charset="-120"/>
              </a:rPr>
              <a:t>Round Robin</a:t>
            </a:r>
            <a:endParaRPr lang="en-US" sz="2000" dirty="0"/>
          </a:p>
        </p:txBody>
      </p:sp>
      <p:sp>
        <p:nvSpPr>
          <p:cNvPr id="6" name="Text 3"/>
          <p:cNvSpPr/>
          <p:nvPr/>
        </p:nvSpPr>
        <p:spPr>
          <a:xfrm>
            <a:off x="548640" y="1874520"/>
            <a:ext cx="5120640" cy="27432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FIFO ready queue; each turn lasts at most the quantum (4 minutes by default).</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A preempted task goes behind anything that arrived during its slice.</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Wait between turns is at most (n - 1) x quantum.</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round_robin(processes, quantum)</a:t>
            </a:r>
            <a:endParaRPr lang="en-US" sz="1500" dirty="0"/>
          </a:p>
        </p:txBody>
      </p:sp>
      <p:sp>
        <p:nvSpPr>
          <p:cNvPr id="7" name="Text 4"/>
          <p:cNvSpPr/>
          <p:nvPr/>
        </p:nvSpPr>
        <p:spPr>
          <a:xfrm>
            <a:off x="6217920" y="1417320"/>
            <a:ext cx="5486400" cy="365760"/>
          </a:xfrm>
          <a:prstGeom prst="rect">
            <a:avLst/>
          </a:prstGeom>
          <a:noFill/>
          <a:ln/>
        </p:spPr>
        <p:txBody>
          <a:bodyPr wrap="square" lIns="0" tIns="0" rIns="0" bIns="0" rtlCol="0" anchor="ctr"/>
          <a:lstStyle/>
          <a:p>
            <a:pPr indent="0" marL="0">
              <a:buNone/>
            </a:pPr>
            <a:r>
              <a:rPr lang="en-US" sz="2000" b="1" dirty="0">
                <a:solidFill>
                  <a:srgbClr val="1B2430"/>
                </a:solidFill>
                <a:latin typeface="Georgia" pitchFamily="34" charset="0"/>
                <a:ea typeface="Georgia" pitchFamily="34" charset="-122"/>
                <a:cs typeface="Georgia" pitchFamily="34" charset="-120"/>
              </a:rPr>
              <a:t>EEVDF (Linux 6.6 and later)</a:t>
            </a:r>
            <a:endParaRPr lang="en-US" sz="2000" dirty="0"/>
          </a:p>
        </p:txBody>
      </p:sp>
      <p:sp>
        <p:nvSpPr>
          <p:cNvPr id="8" name="Shape 5"/>
          <p:cNvSpPr/>
          <p:nvPr/>
        </p:nvSpPr>
        <p:spPr>
          <a:xfrm>
            <a:off x="6217920" y="1874520"/>
            <a:ext cx="5486400" cy="1737360"/>
          </a:xfrm>
          <a:prstGeom prst="rect">
            <a:avLst/>
          </a:prstGeom>
          <a:solidFill>
            <a:srgbClr val="F3F5F8"/>
          </a:solidFill>
          <a:ln w="9525">
            <a:solidFill>
              <a:srgbClr val="D5DAE1"/>
            </a:solidFill>
            <a:prstDash val="solid"/>
          </a:ln>
        </p:spPr>
      </p:sp>
      <p:sp>
        <p:nvSpPr>
          <p:cNvPr id="9" name="Text 6"/>
          <p:cNvSpPr/>
          <p:nvPr/>
        </p:nvSpPr>
        <p:spPr>
          <a:xfrm>
            <a:off x="6327648" y="1929384"/>
            <a:ext cx="5266944" cy="1627632"/>
          </a:xfrm>
          <a:prstGeom prst="rect">
            <a:avLst/>
          </a:prstGeom>
          <a:noFill/>
          <a:ln/>
        </p:spPr>
        <p:txBody>
          <a:bodyPr wrap="square" lIns="0" tIns="0" rIns="0" bIns="0" rtlCol="0" anchor="t"/>
          <a:lstStyle/>
          <a:p>
            <a:pPr indent="0" marL="0">
              <a:buNone/>
            </a:pPr>
            <a:r>
              <a:rPr lang="en-US" sz="1200" dirty="0">
                <a:solidFill>
                  <a:srgbClr val="1B2430"/>
                </a:solidFill>
                <a:latin typeface="Consolas" pitchFamily="34" charset="0"/>
                <a:ea typeface="Consolas" pitchFamily="34" charset="-122"/>
                <a:cs typeface="Consolas" pitchFamily="34" charset="-120"/>
              </a:rPr>
              <a:t>weight   w  = 1024 / 1.25^nice      High -5, Medium 0, Low +5</a:t>
            </a:r>
            <a:endParaRPr lang="en-US" sz="1200" dirty="0"/>
          </a:p>
          <a:p>
            <a:pPr indent="0" marL="0">
              <a:buNone/>
            </a:pPr>
            <a:r>
              <a:rPr lang="en-US" sz="1200" dirty="0">
                <a:solidFill>
                  <a:srgbClr val="1B2430"/>
                </a:solidFill>
                <a:latin typeface="Consolas" pitchFamily="34" charset="0"/>
                <a:ea typeface="Consolas" pitchFamily="34" charset="-122"/>
                <a:cs typeface="Consolas" pitchFamily="34" charset="-120"/>
              </a:rPr>
              <a:t>deadline d  = v + slice * 1024 / w</a:t>
            </a:r>
            <a:endParaRPr lang="en-US" sz="1200" dirty="0"/>
          </a:p>
          <a:p>
            <a:pPr indent="0" marL="0">
              <a:buNone/>
            </a:pPr>
            <a:r>
              <a:rPr lang="en-US" sz="1200" dirty="0">
                <a:solidFill>
                  <a:srgbClr val="1B2430"/>
                </a:solidFill>
                <a:latin typeface="Consolas" pitchFamily="34" charset="0"/>
                <a:ea typeface="Consolas" pitchFamily="34" charset="-122"/>
                <a:cs typeface="Consolas" pitchFamily="34" charset="-120"/>
              </a:rPr>
              <a:t>after a slice:  v &lt;- v + run * 1024 / w</a:t>
            </a:r>
            <a:endParaRPr lang="en-US" sz="1200" dirty="0"/>
          </a:p>
          <a:p>
            <a:pPr indent="0" marL="0">
              <a:buNone/>
            </a:pPr>
            <a:r>
              <a:rPr lang="en-US" sz="1200" dirty="0">
                <a:solidFill>
                  <a:srgbClr val="1B2430"/>
                </a:solidFill>
                <a:latin typeface="Consolas" pitchFamily="34" charset="0"/>
                <a:ea typeface="Consolas" pitchFamily="34" charset="-122"/>
                <a:cs typeface="Consolas" pitchFamily="34" charset="-120"/>
              </a:rPr>
              <a:t>eligible  when  lag = (weighted average v) - v  &gt;= 0</a:t>
            </a:r>
            <a:endParaRPr lang="en-US" sz="1200" dirty="0"/>
          </a:p>
          <a:p>
            <a:pPr indent="0" marL="0">
              <a:buNone/>
            </a:pPr>
            <a:r>
              <a:rPr lang="en-US" sz="1200" dirty="0">
                <a:solidFill>
                  <a:srgbClr val="1B2430"/>
                </a:solidFill>
                <a:latin typeface="Consolas" pitchFamily="34" charset="0"/>
                <a:ea typeface="Consolas" pitchFamily="34" charset="-122"/>
                <a:cs typeface="Consolas" pitchFamily="34" charset="-120"/>
              </a:rPr>
              <a:t>dispatch  the eligible task with the earliest d  (min-heap)</a:t>
            </a:r>
            <a:endParaRPr lang="en-US" sz="1200" dirty="0"/>
          </a:p>
        </p:txBody>
      </p:sp>
      <p:sp>
        <p:nvSpPr>
          <p:cNvPr id="10" name="Text 7"/>
          <p:cNvSpPr/>
          <p:nvPr/>
        </p:nvSpPr>
        <p:spPr>
          <a:xfrm>
            <a:off x="6217920" y="3794760"/>
            <a:ext cx="5486400" cy="23774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Heavier tasks have a slower virtual clock, so they become eligible, and run, more often.</a:t>
            </a:r>
            <a:endParaRPr lang="en-US" sz="1400" dirty="0"/>
          </a:p>
          <a:p>
            <a:pPr marL="203200" indent="-2032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 starved task's lag grows until it is eligible: no starvation.</a:t>
            </a:r>
            <a:endParaRPr lang="en-US" sz="1400" dirty="0"/>
          </a:p>
          <a:p>
            <a:pPr marL="203200" indent="-203200">
              <a:spcAft>
                <a:spcPts val="600"/>
              </a:spcAft>
              <a:buSzPct val="100000"/>
              <a:buChar char="•"/>
            </a:pPr>
            <a:r>
              <a:rPr lang="en-US" sz="1400" b="1" dirty="0">
                <a:solidFill>
                  <a:srgbClr val="1B2430"/>
                </a:solidFill>
                <a:latin typeface="Calibri" pitchFamily="34" charset="0"/>
                <a:ea typeface="Calibri" pitchFamily="34" charset="-122"/>
                <a:cs typeface="Calibri" pitchFamily="34" charset="-120"/>
              </a:rPr>
              <a:t>nice_from_priority, weight_from_priority, eevdf(processes, base_slice)</a:t>
            </a:r>
            <a:endParaRPr lang="en-US" sz="1400" dirty="0"/>
          </a:p>
        </p:txBody>
      </p:sp>
      <p:sp>
        <p:nvSpPr>
          <p:cNvPr id="11" name="Shape 8"/>
          <p:cNvSpPr/>
          <p:nvPr/>
        </p:nvSpPr>
        <p:spPr>
          <a:xfrm>
            <a:off x="548640" y="5120640"/>
            <a:ext cx="5120640" cy="914400"/>
          </a:xfrm>
          <a:prstGeom prst="rect">
            <a:avLst/>
          </a:prstGeom>
          <a:solidFill>
            <a:srgbClr val="DCE8F3"/>
          </a:solidFill>
          <a:ln w="12700">
            <a:solidFill>
              <a:srgbClr val="DCE8F3"/>
            </a:solidFill>
            <a:prstDash val="solid"/>
          </a:ln>
        </p:spPr>
      </p:sp>
      <p:sp>
        <p:nvSpPr>
          <p:cNvPr id="12" name="Shape 9"/>
          <p:cNvSpPr/>
          <p:nvPr/>
        </p:nvSpPr>
        <p:spPr>
          <a:xfrm>
            <a:off x="548640" y="5120640"/>
            <a:ext cx="64008" cy="914400"/>
          </a:xfrm>
          <a:prstGeom prst="rect">
            <a:avLst/>
          </a:prstGeom>
          <a:solidFill>
            <a:srgbClr val="1F4E79"/>
          </a:solidFill>
          <a:ln w="12700">
            <a:solidFill>
              <a:srgbClr val="1F4E79"/>
            </a:solidFill>
            <a:prstDash val="solid"/>
          </a:ln>
        </p:spPr>
      </p:sp>
      <p:sp>
        <p:nvSpPr>
          <p:cNvPr id="13" name="Text 10"/>
          <p:cNvSpPr/>
          <p:nvPr/>
        </p:nvSpPr>
        <p:spPr>
          <a:xfrm>
            <a:off x="749808" y="5120640"/>
            <a:ext cx="4800600" cy="91440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 simulation of the published rules, not a port of the kernel. Per-task requested slices are not modelled.</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MLFQ lets the system learn which tasks are short</a:t>
            </a:r>
            <a:endParaRPr lang="en-US" sz="2800" dirty="0"/>
          </a:p>
        </p:txBody>
      </p:sp>
      <p:sp>
        <p:nvSpPr>
          <p:cNvPr id="5" name="Shape 2"/>
          <p:cNvSpPr/>
          <p:nvPr/>
        </p:nvSpPr>
        <p:spPr>
          <a:xfrm>
            <a:off x="548640" y="1554480"/>
            <a:ext cx="6400800" cy="1554480"/>
          </a:xfrm>
          <a:prstGeom prst="rect">
            <a:avLst/>
          </a:prstGeom>
          <a:solidFill>
            <a:srgbClr val="F3F5F8"/>
          </a:solidFill>
          <a:ln w="9525">
            <a:solidFill>
              <a:srgbClr val="D5DAE1"/>
            </a:solidFill>
            <a:prstDash val="solid"/>
          </a:ln>
        </p:spPr>
      </p:sp>
      <p:sp>
        <p:nvSpPr>
          <p:cNvPr id="6" name="Text 3"/>
          <p:cNvSpPr/>
          <p:nvPr/>
        </p:nvSpPr>
        <p:spPr>
          <a:xfrm>
            <a:off x="658368" y="1609344"/>
            <a:ext cx="6181344" cy="1444752"/>
          </a:xfrm>
          <a:prstGeom prst="rect">
            <a:avLst/>
          </a:prstGeom>
          <a:noFill/>
          <a:ln/>
        </p:spPr>
        <p:txBody>
          <a:bodyPr wrap="square" lIns="0" tIns="0" rIns="0" bIns="0" rtlCol="0" anchor="t"/>
          <a:lstStyle/>
          <a:p>
            <a:pPr indent="0" marL="0">
              <a:buNone/>
            </a:pPr>
            <a:r>
              <a:rPr lang="en-US" sz="1400" dirty="0">
                <a:solidFill>
                  <a:srgbClr val="1B2430"/>
                </a:solidFill>
                <a:latin typeface="Consolas" pitchFamily="34" charset="0"/>
                <a:ea typeface="Consolas" pitchFamily="34" charset="-122"/>
                <a:cs typeface="Consolas" pitchFamily="34" charset="-120"/>
              </a:rPr>
              <a:t>Queue 0   quantum 4   new tasks enter here</a:t>
            </a:r>
            <a:endParaRPr lang="en-US" sz="1400" dirty="0"/>
          </a:p>
          <a:p>
            <a:pPr indent="0" marL="0">
              <a:buNone/>
            </a:pPr>
            <a:r>
              <a:rPr lang="en-US" sz="1400" dirty="0">
                <a:solidFill>
                  <a:srgbClr val="1B2430"/>
                </a:solidFill>
                <a:latin typeface="Consolas" pitchFamily="34" charset="0"/>
                <a:ea typeface="Consolas" pitchFamily="34" charset="-122"/>
                <a:cs typeface="Consolas" pitchFamily="34" charset="-120"/>
              </a:rPr>
              <a:t>Queue 1   quantum 8   after using the Queue 0 allotment</a:t>
            </a:r>
            <a:endParaRPr lang="en-US" sz="1400" dirty="0"/>
          </a:p>
          <a:p>
            <a:pPr indent="0" marL="0">
              <a:buNone/>
            </a:pPr>
            <a:r>
              <a:rPr lang="en-US" sz="1400" dirty="0">
                <a:solidFill>
                  <a:srgbClr val="1B2430"/>
                </a:solidFill>
                <a:latin typeface="Consolas" pitchFamily="34" charset="0"/>
                <a:ea typeface="Consolas" pitchFamily="34" charset="-122"/>
                <a:cs typeface="Consolas" pitchFamily="34" charset="-120"/>
              </a:rPr>
              <a:t>Queue 2   quantum 16  after using the Queue 1 allotment</a:t>
            </a:r>
            <a:endParaRPr lang="en-US" sz="1400" dirty="0"/>
          </a:p>
          <a:p>
            <a:pPr indent="0" marL="0">
              <a:buNone/>
            </a:pPr>
            <a:endParaRPr lang="en-US" sz="1400" dirty="0"/>
          </a:p>
          <a:p>
            <a:pPr indent="0" marL="0">
              <a:buNone/>
            </a:pPr>
            <a:r>
              <a:rPr lang="en-US" sz="1400" dirty="0">
                <a:solidFill>
                  <a:srgbClr val="1B2430"/>
                </a:solidFill>
                <a:latin typeface="Consolas" pitchFamily="34" charset="0"/>
                <a:ea typeface="Consolas" pitchFamily="34" charset="-122"/>
                <a:cs typeface="Consolas" pitchFamily="34" charset="-120"/>
              </a:rPr>
              <a:t>Every 50 minutes: boost everything back to Queue 0</a:t>
            </a:r>
            <a:endParaRPr lang="en-US" sz="1400" dirty="0"/>
          </a:p>
        </p:txBody>
      </p:sp>
      <p:sp>
        <p:nvSpPr>
          <p:cNvPr id="7" name="Text 4"/>
          <p:cNvSpPr/>
          <p:nvPr/>
        </p:nvSpPr>
        <p:spPr>
          <a:xfrm>
            <a:off x="548640" y="3337560"/>
            <a:ext cx="6400800" cy="29260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Rule 1: a higher queue always runs before a lower one.</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Rule 2: tasks in the same queue take turns (round robin).</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Rule 3: a new task starts in the top queue.</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Rule 4: using the whole allotment at a level moves the task down. The allotment is cumulative, so yielding early does not reset it.</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Rule 5: a periodic boost returns every task to the top, which bounds starvation.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0" y="1554480"/>
          <a:ext cx="4389120" cy="914400"/>
        </p:xfrm>
        <a:graphic>
          <a:graphicData uri="http://schemas.openxmlformats.org/drawingml/2006/table">
            <a:tbl>
              <a:tblPr/>
              <a:tblGrid>
                <a:gridCol w="2468880"/>
                <a:gridCol w="19202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 (scheduler.py)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73152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mlfq(processes, num_queues, base_quantum, boost_interval)</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Runs the five rules; returns order, Gantt, metrics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73152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admit / maybe_boost</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Inner helpers: bring arrivals in; apply the boost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73152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run_schedule(algorithm, ...)</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Dispatch to any of the six policies by name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9" name="Shape 5"/>
          <p:cNvSpPr/>
          <p:nvPr/>
        </p:nvSpPr>
        <p:spPr>
          <a:xfrm>
            <a:off x="7315200" y="5074920"/>
            <a:ext cx="4389120" cy="1005840"/>
          </a:xfrm>
          <a:prstGeom prst="rect">
            <a:avLst/>
          </a:prstGeom>
          <a:solidFill>
            <a:srgbClr val="E1F0E4"/>
          </a:solidFill>
          <a:ln w="12700">
            <a:solidFill>
              <a:srgbClr val="E1F0E4"/>
            </a:solidFill>
            <a:prstDash val="solid"/>
          </a:ln>
        </p:spPr>
      </p:sp>
      <p:sp>
        <p:nvSpPr>
          <p:cNvPr id="10" name="Shape 6"/>
          <p:cNvSpPr/>
          <p:nvPr/>
        </p:nvSpPr>
        <p:spPr>
          <a:xfrm>
            <a:off x="7315200" y="5074920"/>
            <a:ext cx="64008" cy="1005840"/>
          </a:xfrm>
          <a:prstGeom prst="rect">
            <a:avLst/>
          </a:prstGeom>
          <a:solidFill>
            <a:srgbClr val="2F6B3A"/>
          </a:solidFill>
          <a:ln w="12700">
            <a:solidFill>
              <a:srgbClr val="2F6B3A"/>
            </a:solidFill>
            <a:prstDash val="solid"/>
          </a:ln>
        </p:spPr>
      </p:sp>
      <p:sp>
        <p:nvSpPr>
          <p:cNvPr id="11" name="Text 7"/>
          <p:cNvSpPr/>
          <p:nvPr/>
        </p:nvSpPr>
        <p:spPr>
          <a:xfrm>
            <a:off x="7516368" y="5074920"/>
            <a:ext cx="4069080" cy="1005840"/>
          </a:xfrm>
          <a:prstGeom prst="rect">
            <a:avLst/>
          </a:prstGeom>
          <a:noFill/>
          <a:ln/>
        </p:spPr>
        <p:txBody>
          <a:bodyPr wrap="square" lIns="0" tIns="0" rIns="0" bIns="0" rtlCol="0" anchor="ctr"/>
          <a:lstStyle/>
          <a:p>
            <a:pPr indent="0" marL="0">
              <a:buNone/>
            </a:pPr>
            <a:r>
              <a:rPr lang="en-US" sz="1400" dirty="0">
                <a:solidFill>
                  <a:srgbClr val="1B2430"/>
                </a:solidFill>
                <a:latin typeface="Calibri" pitchFamily="34" charset="0"/>
                <a:ea typeface="Calibri" pitchFamily="34" charset="-122"/>
                <a:cs typeface="Calibri" pitchFamily="34" charset="-120"/>
              </a:rPr>
              <a:t>Seven-task demo: average response time FCFS 431.4 min, SJF 173.5, Round Robin and MLFQ 11.9, EEVDF 17.1.</a:t>
            </a:r>
            <a:endParaRPr lang="en-US" sz="14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Every schedule is scored with the same metrics</a:t>
            </a:r>
            <a:endParaRPr lang="en-US" sz="2800" dirty="0"/>
          </a:p>
        </p:txBody>
      </p:sp>
      <p:sp>
        <p:nvSpPr>
          <p:cNvPr id="5" name="Shape 2"/>
          <p:cNvSpPr/>
          <p:nvPr/>
        </p:nvSpPr>
        <p:spPr>
          <a:xfrm>
            <a:off x="548640" y="1508760"/>
            <a:ext cx="6766560" cy="1965960"/>
          </a:xfrm>
          <a:prstGeom prst="rect">
            <a:avLst/>
          </a:prstGeom>
          <a:solidFill>
            <a:srgbClr val="F3F5F8"/>
          </a:solidFill>
          <a:ln w="9525">
            <a:solidFill>
              <a:srgbClr val="D5DAE1"/>
            </a:solidFill>
            <a:prstDash val="solid"/>
          </a:ln>
        </p:spPr>
      </p:sp>
      <p:sp>
        <p:nvSpPr>
          <p:cNvPr id="6" name="Text 3"/>
          <p:cNvSpPr/>
          <p:nvPr/>
        </p:nvSpPr>
        <p:spPr>
          <a:xfrm>
            <a:off x="658368" y="1563624"/>
            <a:ext cx="6547104" cy="1856232"/>
          </a:xfrm>
          <a:prstGeom prst="rect">
            <a:avLst/>
          </a:prstGeom>
          <a:noFill/>
          <a:ln/>
        </p:spPr>
        <p:txBody>
          <a:bodyPr wrap="square" lIns="0" tIns="0" rIns="0" bIns="0" rtlCol="0" anchor="t"/>
          <a:lstStyle/>
          <a:p>
            <a:pPr indent="0" marL="0">
              <a:buNone/>
            </a:pPr>
            <a:r>
              <a:rPr lang="en-US" sz="1300" dirty="0">
                <a:solidFill>
                  <a:srgbClr val="1B2430"/>
                </a:solidFill>
                <a:latin typeface="Consolas" pitchFamily="34" charset="0"/>
                <a:ea typeface="Consolas" pitchFamily="34" charset="-122"/>
                <a:cs typeface="Consolas" pitchFamily="34" charset="-120"/>
              </a:rPr>
              <a:t>turnaround = completion - arrival</a:t>
            </a:r>
            <a:endParaRPr lang="en-US" sz="1300" dirty="0"/>
          </a:p>
          <a:p>
            <a:pPr indent="0" marL="0">
              <a:buNone/>
            </a:pPr>
            <a:r>
              <a:rPr lang="en-US" sz="1300" dirty="0">
                <a:solidFill>
                  <a:srgbClr val="1B2430"/>
                </a:solidFill>
                <a:latin typeface="Consolas" pitchFamily="34" charset="0"/>
                <a:ea typeface="Consolas" pitchFamily="34" charset="-122"/>
                <a:cs typeface="Consolas" pitchFamily="34" charset="-120"/>
              </a:rPr>
              <a:t>waiting    = turnaround - burst</a:t>
            </a:r>
            <a:endParaRPr lang="en-US" sz="1300" dirty="0"/>
          </a:p>
          <a:p>
            <a:pPr indent="0" marL="0">
              <a:buNone/>
            </a:pPr>
            <a:r>
              <a:rPr lang="en-US" sz="1300" dirty="0">
                <a:solidFill>
                  <a:srgbClr val="1B2430"/>
                </a:solidFill>
                <a:latin typeface="Consolas" pitchFamily="34" charset="0"/>
                <a:ea typeface="Consolas" pitchFamily="34" charset="-122"/>
                <a:cs typeface="Consolas" pitchFamily="34" charset="-120"/>
              </a:rPr>
              <a:t>response   = first dispatch - arrival</a:t>
            </a:r>
            <a:endParaRPr lang="en-US" sz="1300" dirty="0"/>
          </a:p>
          <a:p>
            <a:pPr indent="0" marL="0">
              <a:buNone/>
            </a:pPr>
            <a:r>
              <a:rPr lang="en-US" sz="1300" dirty="0">
                <a:solidFill>
                  <a:srgbClr val="1B2430"/>
                </a:solidFill>
                <a:latin typeface="Consolas" pitchFamily="34" charset="0"/>
                <a:ea typeface="Consolas" pitchFamily="34" charset="-122"/>
                <a:cs typeface="Consolas" pitchFamily="34" charset="-120"/>
              </a:rPr>
              <a:t>utilisation = busy time / makespan</a:t>
            </a:r>
            <a:endParaRPr lang="en-US" sz="1300" dirty="0"/>
          </a:p>
          <a:p>
            <a:pPr indent="0" marL="0">
              <a:buNone/>
            </a:pPr>
            <a:r>
              <a:rPr lang="en-US" sz="1300" dirty="0">
                <a:solidFill>
                  <a:srgbClr val="1B2430"/>
                </a:solidFill>
                <a:latin typeface="Consolas" pitchFamily="34" charset="0"/>
                <a:ea typeface="Consolas" pitchFamily="34" charset="-122"/>
                <a:cs typeface="Consolas" pitchFamily="34" charset="-120"/>
              </a:rPr>
              <a:t>Jain  J(x) = (sum x)^2 / (n * sum x^2)    range 1/n to 1</a:t>
            </a:r>
            <a:endParaRPr lang="en-US" sz="1300" dirty="0"/>
          </a:p>
          <a:p>
            <a:pPr indent="0" marL="0">
              <a:buNone/>
            </a:pPr>
            <a:r>
              <a:rPr lang="en-US" sz="1300" dirty="0">
                <a:solidFill>
                  <a:srgbClr val="1B2430"/>
                </a:solidFill>
                <a:latin typeface="Consolas" pitchFamily="34" charset="0"/>
                <a:ea typeface="Consolas" pitchFamily="34" charset="-122"/>
                <a:cs typeface="Consolas" pitchFamily="34" charset="-120"/>
              </a:rPr>
              <a:t>slowdown = max(turnaround / max(burst, 1 minute), 1)</a:t>
            </a:r>
            <a:endParaRPr lang="en-US" sz="1300" dirty="0"/>
          </a:p>
          <a:p>
            <a:pPr indent="0" marL="0">
              <a:buNone/>
            </a:pPr>
            <a:r>
              <a:rPr lang="en-US" sz="1300" dirty="0">
                <a:solidFill>
                  <a:srgbClr val="1B2430"/>
                </a:solidFill>
                <a:latin typeface="Consolas" pitchFamily="34" charset="0"/>
                <a:ea typeface="Consolas" pitchFamily="34" charset="-122"/>
                <a:cs typeface="Consolas" pitchFamily="34" charset="-120"/>
              </a:rPr>
              <a:t>delay fairness = Jain's index over 1 / slowdown</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6766560" cy="914400"/>
        </p:xfrm>
        <a:graphic>
          <a:graphicData uri="http://schemas.openxmlformats.org/drawingml/2006/table">
            <a:tbl>
              <a:tblPr/>
              <a:tblGrid>
                <a:gridCol w="3291840"/>
                <a:gridCol w="34747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_build_metrics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Per-process and average metrics for any schedule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jains_fairness_index</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The formula above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bounded_slowdown</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Slowdown with the one-minute bound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_parse_arrival, _relative_arrivals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Accept ISO dates or numbers; shift to the earliest arrival</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benchmark/metrics.py summarize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Adds makespan, starvation count, max wait for the benchmark</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8" name="Shape 4"/>
          <p:cNvSpPr/>
          <p:nvPr/>
        </p:nvSpPr>
        <p:spPr>
          <a:xfrm>
            <a:off x="7589520" y="1508760"/>
            <a:ext cx="4114800" cy="3108960"/>
          </a:xfrm>
          <a:prstGeom prst="rect">
            <a:avLst/>
          </a:prstGeom>
          <a:solidFill>
            <a:srgbClr val="FBEBD9"/>
          </a:solidFill>
          <a:ln w="12700">
            <a:solidFill>
              <a:srgbClr val="FBEBD9"/>
            </a:solidFill>
            <a:prstDash val="solid"/>
          </a:ln>
        </p:spPr>
      </p:sp>
      <p:sp>
        <p:nvSpPr>
          <p:cNvPr id="9" name="Shape 5"/>
          <p:cNvSpPr/>
          <p:nvPr/>
        </p:nvSpPr>
        <p:spPr>
          <a:xfrm>
            <a:off x="7589520" y="1508760"/>
            <a:ext cx="64008" cy="3108960"/>
          </a:xfrm>
          <a:prstGeom prst="rect">
            <a:avLst/>
          </a:prstGeom>
          <a:solidFill>
            <a:srgbClr val="9A4A00"/>
          </a:solidFill>
          <a:ln w="12700">
            <a:solidFill>
              <a:srgbClr val="9A4A00"/>
            </a:solidFill>
            <a:prstDash val="solid"/>
          </a:ln>
        </p:spPr>
      </p:sp>
      <p:sp>
        <p:nvSpPr>
          <p:cNvPr id="10" name="Text 6"/>
          <p:cNvSpPr/>
          <p:nvPr/>
        </p:nvSpPr>
        <p:spPr>
          <a:xfrm>
            <a:off x="7790688" y="1508760"/>
            <a:ext cx="3794760" cy="3108960"/>
          </a:xfrm>
          <a:prstGeom prst="rect">
            <a:avLst/>
          </a:prstGeom>
          <a:noFill/>
          <a:ln/>
        </p:spPr>
        <p:txBody>
          <a:bodyPr wrap="square" lIns="0" tIns="0" rIns="0" bIns="0" rtlCol="0" anchor="ctr"/>
          <a:lstStyle/>
          <a:p>
            <a:pPr indent="0" marL="0">
              <a:buNone/>
            </a:pPr>
            <a:r>
              <a:rPr lang="en-US" sz="1400" dirty="0">
                <a:solidFill>
                  <a:srgbClr val="1B2430"/>
                </a:solidFill>
                <a:latin typeface="Calibri" pitchFamily="34" charset="0"/>
                <a:ea typeface="Calibri" pitchFamily="34" charset="-122"/>
                <a:cs typeface="Calibri" pitchFamily="34" charset="-120"/>
              </a:rPr>
              <a:t>Jain's index over CPU received is identical for all six policies, because every policy gives each task exactly its burst time. That is why the delay-based index was added: it does separate them (0.35 to 0.69 on the seeded run).</a:t>
            </a:r>
            <a:endParaRPr lang="en-US" sz="14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Resource manager: five finite pools and a wait-for graph</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4846320" cy="914400"/>
        </p:xfrm>
        <a:graphic>
          <a:graphicData uri="http://schemas.openxmlformats.org/drawingml/2006/table">
            <a:tbl>
              <a:tblPr/>
              <a:tblGrid>
                <a:gridCol w="1645920"/>
                <a:gridCol w="1371600"/>
                <a:gridCol w="18288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Pool</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Capacity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3657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cpu</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percent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memory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2048</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MB</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file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handles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database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connections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Mbps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669280" y="1508760"/>
          <a:ext cx="5943600" cy="914400"/>
        </p:xfrm>
        <a:graphic>
          <a:graphicData uri="http://schemas.openxmlformats.org/drawingml/2006/table">
            <a:tbl>
              <a:tblPr/>
              <a:tblGrid>
                <a:gridCol w="3291840"/>
                <a:gridCol w="26517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 (ResourceManager)</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allocate(pid, resource, amount)</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Grant, or fail and record a wait-for edge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release / release_all_for_pid</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Free resources and clear edges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available / utilization</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Free amount; use of all five pools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wait_graph</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The wait-for graph as {pid: [pids it waits for]}</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detect_cycle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Depth-first search; returns the PIDs in a cycle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649224">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check_lock_order_violation</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Logs out-of-order requests (cpu, memory, file, database, network)</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check_timeouts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Aborts waits longer than 30 seconds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register_max_need, _would_be_safe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Banker's-style avoidance (off by default)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describe_amount</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'64 file handles', '1200 MB of memory'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7" name="Shape 2"/>
          <p:cNvSpPr/>
          <p:nvPr/>
        </p:nvSpPr>
        <p:spPr>
          <a:xfrm>
            <a:off x="548640" y="3840480"/>
            <a:ext cx="4937760" cy="1005840"/>
          </a:xfrm>
          <a:prstGeom prst="rect">
            <a:avLst/>
          </a:prstGeom>
          <a:solidFill>
            <a:srgbClr val="DCE8F3"/>
          </a:solidFill>
          <a:ln w="12700">
            <a:solidFill>
              <a:srgbClr val="DCE8F3"/>
            </a:solidFill>
            <a:prstDash val="solid"/>
          </a:ln>
        </p:spPr>
      </p:sp>
      <p:sp>
        <p:nvSpPr>
          <p:cNvPr id="8" name="Shape 3"/>
          <p:cNvSpPr/>
          <p:nvPr/>
        </p:nvSpPr>
        <p:spPr>
          <a:xfrm>
            <a:off x="548640" y="3840480"/>
            <a:ext cx="64008" cy="1005840"/>
          </a:xfrm>
          <a:prstGeom prst="rect">
            <a:avLst/>
          </a:prstGeom>
          <a:solidFill>
            <a:srgbClr val="1F4E79"/>
          </a:solidFill>
          <a:ln w="12700">
            <a:solidFill>
              <a:srgbClr val="1F4E79"/>
            </a:solidFill>
            <a:prstDash val="solid"/>
          </a:ln>
        </p:spPr>
      </p:sp>
      <p:sp>
        <p:nvSpPr>
          <p:cNvPr id="9" name="Text 4"/>
          <p:cNvSpPr/>
          <p:nvPr/>
        </p:nvSpPr>
        <p:spPr>
          <a:xfrm>
            <a:off x="749808" y="3840480"/>
            <a:ext cx="4617720" cy="100584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Live allocations are held in memory and reset when the server restarts. That is by design: it is a simulation, not a ledger.</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Deadlock: four conditions, four defences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194560"/>
                <a:gridCol w="5120640"/>
                <a:gridCol w="2743200"/>
                <a:gridCol w="1005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Defence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 it works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Real-world model</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Default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54864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Lock-order check</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Resources are taken in the order cpu, memory, file, database, network; out-of-order requests are logged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Linux lockdep</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Timeout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 wait longer than 30 seconds is aborted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MySQL lock wait timeout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4864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Cycle detection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Depth-first search of the wait-for graph; a cycle means deadlock; recovery terminates the lowest-priority task in it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PostgreSQL deadlock detection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Banker's algorithm</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Grant a request only if some task could still finish afterwards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Textbook only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off</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48640" y="4242816"/>
          <a:ext cx="11064240" cy="914400"/>
        </p:xfrm>
        <a:graphic>
          <a:graphicData uri="http://schemas.openxmlformats.org/drawingml/2006/table">
            <a:tbl>
              <a:tblPr/>
              <a:tblGrid>
                <a:gridCol w="2926080"/>
                <a:gridCol w="8138160"/>
              </a:tblGrid>
              <a:tr h="31089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Coffman condition</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 Procura's demo</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274320">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Mutual exclusion</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A file handle or connection has one holder at a time</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Hold and wait</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P1 holds the file handles while waiting for a connection</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No preemption</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Resources are not taken away from a holder by the system until recovery</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Circular wait</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P1 waits for P3 and P3 waits for P1</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Detection: three detectors run on every pass</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480560"/>
                <a:gridCol w="65836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 (detector.py)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Detects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run_detection(processes, resource_mgr)</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Runs everything; skips COMPLETED and TERMINATED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detect_memory_failure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Unmet memory requirement larger than free memory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detect_deadlock(resource_mgr, processes)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 cycle in the wait-for graph; records who holds what, with names and priorities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detect_burst_anomaly</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Elapsed/burst ratio out of line with the task's own history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ewma_flag, modified_zscore_flag, cusum_flag</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The three NIST tests the anomaly detector can use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reset_history, _record_ratio</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Rolling per-task history (30 values)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6" name="Shape 2"/>
          <p:cNvSpPr/>
          <p:nvPr/>
        </p:nvSpPr>
        <p:spPr>
          <a:xfrm>
            <a:off x="548640" y="4151376"/>
            <a:ext cx="11064240" cy="868680"/>
          </a:xfrm>
          <a:prstGeom prst="rect">
            <a:avLst/>
          </a:prstGeom>
          <a:solidFill>
            <a:srgbClr val="F3F5F8"/>
          </a:solidFill>
          <a:ln w="9525">
            <a:solidFill>
              <a:srgbClr val="D5DAE1"/>
            </a:solidFill>
            <a:prstDash val="solid"/>
          </a:ln>
        </p:spPr>
      </p:sp>
      <p:sp>
        <p:nvSpPr>
          <p:cNvPr id="7" name="Text 3"/>
          <p:cNvSpPr/>
          <p:nvPr/>
        </p:nvSpPr>
        <p:spPr>
          <a:xfrm>
            <a:off x="658368" y="4206240"/>
            <a:ext cx="10844784" cy="758952"/>
          </a:xfrm>
          <a:prstGeom prst="rect">
            <a:avLst/>
          </a:prstGeom>
          <a:noFill/>
          <a:ln/>
        </p:spPr>
        <p:txBody>
          <a:bodyPr wrap="square" lIns="0" tIns="0" rIns="0" bIns="0" rtlCol="0" anchor="t"/>
          <a:lstStyle/>
          <a:p>
            <a:pPr indent="0" marL="0">
              <a:buNone/>
            </a:pPr>
            <a:r>
              <a:rPr lang="en-US" sz="1200" dirty="0">
                <a:solidFill>
                  <a:srgbClr val="1B2430"/>
                </a:solidFill>
                <a:latin typeface="Consolas" pitchFamily="34" charset="0"/>
                <a:ea typeface="Consolas" pitchFamily="34" charset="-122"/>
                <a:cs typeface="Consolas" pitchFamily="34" charset="-120"/>
              </a:rPr>
              <a:t>EWMA     z = lambda*x + (1-lambda)*z      limits  z0 +/- k*sigma*sqrt(lambda/(2-lambda)),  lambda 0.25, k 3</a:t>
            </a:r>
            <a:endParaRPr lang="en-US" sz="1200" dirty="0"/>
          </a:p>
          <a:p>
            <a:pPr indent="0" marL="0">
              <a:buNone/>
            </a:pPr>
            <a:r>
              <a:rPr lang="en-US" sz="1200" dirty="0">
                <a:solidFill>
                  <a:srgbClr val="1B2430"/>
                </a:solidFill>
                <a:latin typeface="Consolas" pitchFamily="34" charset="0"/>
                <a:ea typeface="Consolas" pitchFamily="34" charset="-122"/>
                <a:cs typeface="Consolas" pitchFamily="34" charset="-120"/>
              </a:rPr>
              <a:t>Mod. Z   M = 0.6745 * (x - median) / MAD      flag when |M| &gt; 3.5</a:t>
            </a:r>
            <a:endParaRPr lang="en-US" sz="1200" dirty="0"/>
          </a:p>
          <a:p>
            <a:pPr indent="0" marL="0">
              <a:buNone/>
            </a:pPr>
            <a:r>
              <a:rPr lang="en-US" sz="1200" dirty="0">
                <a:solidFill>
                  <a:srgbClr val="1B2430"/>
                </a:solidFill>
                <a:latin typeface="Consolas" pitchFamily="34" charset="0"/>
                <a:ea typeface="Consolas" pitchFamily="34" charset="-122"/>
                <a:cs typeface="Consolas" pitchFamily="34" charset="-120"/>
              </a:rPr>
              <a:t>CUSUM    S_hi = max(0, S_hi + x - mu - k)         flag when it exceeds h</a:t>
            </a:r>
            <a:endParaRPr lang="en-US" sz="1200" dirty="0"/>
          </a:p>
        </p:txBody>
      </p:sp>
      <p:sp>
        <p:nvSpPr>
          <p:cNvPr id="8" name="Shape 4"/>
          <p:cNvSpPr/>
          <p:nvPr/>
        </p:nvSpPr>
        <p:spPr>
          <a:xfrm>
            <a:off x="548640" y="5111496"/>
            <a:ext cx="11064240" cy="457200"/>
          </a:xfrm>
          <a:prstGeom prst="rect">
            <a:avLst/>
          </a:prstGeom>
          <a:solidFill>
            <a:srgbClr val="FBEBD9"/>
          </a:solidFill>
          <a:ln w="12700">
            <a:solidFill>
              <a:srgbClr val="FBEBD9"/>
            </a:solidFill>
            <a:prstDash val="solid"/>
          </a:ln>
        </p:spPr>
      </p:sp>
      <p:sp>
        <p:nvSpPr>
          <p:cNvPr id="9" name="Shape 5"/>
          <p:cNvSpPr/>
          <p:nvPr/>
        </p:nvSpPr>
        <p:spPr>
          <a:xfrm>
            <a:off x="548640" y="5111496"/>
            <a:ext cx="64008" cy="457200"/>
          </a:xfrm>
          <a:prstGeom prst="rect">
            <a:avLst/>
          </a:prstGeom>
          <a:solidFill>
            <a:srgbClr val="9A4A00"/>
          </a:solidFill>
          <a:ln w="12700">
            <a:solidFill>
              <a:srgbClr val="9A4A00"/>
            </a:solidFill>
            <a:prstDash val="solid"/>
          </a:ln>
        </p:spPr>
      </p:sp>
      <p:sp>
        <p:nvSpPr>
          <p:cNvPr id="10" name="Text 6"/>
          <p:cNvSpPr/>
          <p:nvPr/>
        </p:nvSpPr>
        <p:spPr>
          <a:xfrm>
            <a:off x="749808" y="5111496"/>
            <a:ext cx="10744200" cy="45720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Limit: it flags abrupt departures from a task's own history, not a task that steadily runs over its estimate.</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Diagnosis starts with a search over eight documents</a:t>
            </a:r>
            <a:endParaRPr lang="en-US" sz="2800" dirty="0"/>
          </a:p>
        </p:txBody>
      </p:sp>
      <p:sp>
        <p:nvSpPr>
          <p:cNvPr id="5" name="Shape 2"/>
          <p:cNvSpPr/>
          <p:nvPr/>
        </p:nvSpPr>
        <p:spPr>
          <a:xfrm>
            <a:off x="548640" y="1508760"/>
            <a:ext cx="2011680" cy="1051560"/>
          </a:xfrm>
          <a:prstGeom prst="rect">
            <a:avLst/>
          </a:prstGeom>
          <a:solidFill>
            <a:srgbClr val="DCE8F3"/>
          </a:solidFill>
          <a:ln w="9525">
            <a:solidFill>
              <a:srgbClr val="1F4E79"/>
            </a:solidFill>
            <a:prstDash val="solid"/>
          </a:ln>
        </p:spPr>
      </p:sp>
      <p:sp>
        <p:nvSpPr>
          <p:cNvPr id="6" name="Text 3"/>
          <p:cNvSpPr/>
          <p:nvPr/>
        </p:nvSpPr>
        <p:spPr>
          <a:xfrm>
            <a:off x="548640" y="1554480"/>
            <a:ext cx="2011680" cy="365760"/>
          </a:xfrm>
          <a:prstGeom prst="rect">
            <a:avLst/>
          </a:prstGeom>
          <a:noFill/>
          <a:ln/>
        </p:spPr>
        <p:txBody>
          <a:bodyPr wrap="square" lIns="0" tIns="0" rIns="0" bIns="0" rtlCol="0" anchor="ctr"/>
          <a:lstStyle/>
          <a:p>
            <a:pPr algn="ctr" indent="0" marL="0">
              <a:buNone/>
            </a:pPr>
            <a:r>
              <a:rPr lang="en-US" sz="1600" b="1" dirty="0">
                <a:solidFill>
                  <a:srgbClr val="1F4E79"/>
                </a:solidFill>
                <a:latin typeface="Georgia" pitchFamily="34" charset="0"/>
                <a:ea typeface="Georgia" pitchFamily="34" charset="-122"/>
                <a:cs typeface="Georgia" pitchFamily="34" charset="-120"/>
              </a:rPr>
              <a:t>Tokenize</a:t>
            </a:r>
            <a:endParaRPr lang="en-US" sz="1600" dirty="0"/>
          </a:p>
        </p:txBody>
      </p:sp>
      <p:sp>
        <p:nvSpPr>
          <p:cNvPr id="7" name="Text 4"/>
          <p:cNvSpPr/>
          <p:nvPr/>
        </p:nvSpPr>
        <p:spPr>
          <a:xfrm>
            <a:off x="621792" y="1938528"/>
            <a:ext cx="1865376" cy="594360"/>
          </a:xfrm>
          <a:prstGeom prst="rect">
            <a:avLst/>
          </a:prstGeom>
          <a:noFill/>
          <a:ln/>
        </p:spPr>
        <p:txBody>
          <a:bodyPr wrap="square" lIns="0" tIns="0" rIns="0" bIns="0" rtlCol="0" anchor="t"/>
          <a:lstStyle/>
          <a:p>
            <a:pPr algn="ctr" indent="0" marL="0">
              <a:buNone/>
            </a:pPr>
            <a:r>
              <a:rPr lang="en-US" sz="1050" dirty="0">
                <a:solidFill>
                  <a:srgbClr val="1B2430"/>
                </a:solidFill>
                <a:latin typeface="Consolas" pitchFamily="34" charset="0"/>
                <a:ea typeface="Consolas" pitchFamily="34" charset="-122"/>
                <a:cs typeface="Consolas" pitchFamily="34" charset="-120"/>
              </a:rPr>
              <a:t>tokenize_v2, _stem</a:t>
            </a:r>
            <a:endParaRPr lang="en-US" sz="1050" dirty="0"/>
          </a:p>
        </p:txBody>
      </p:sp>
      <p:sp>
        <p:nvSpPr>
          <p:cNvPr id="8" name="Text 5"/>
          <p:cNvSpPr/>
          <p:nvPr/>
        </p:nvSpPr>
        <p:spPr>
          <a:xfrm>
            <a:off x="2560320" y="1783080"/>
            <a:ext cx="228600" cy="365760"/>
          </a:xfrm>
          <a:prstGeom prst="rect">
            <a:avLst/>
          </a:prstGeom>
          <a:noFill/>
          <a:ln/>
        </p:spPr>
        <p:txBody>
          <a:bodyPr wrap="square" lIns="0" tIns="0" rIns="0" bIns="0" rtlCol="0" anchor="ctr"/>
          <a:lstStyle/>
          <a:p>
            <a:pPr algn="ctr" indent="0" marL="0">
              <a:buNone/>
            </a:pPr>
            <a:r>
              <a:rPr lang="en-US" sz="1800" b="1" dirty="0">
                <a:solidFill>
                  <a:srgbClr val="5B6675"/>
                </a:solidFill>
                <a:latin typeface="Calibri" pitchFamily="34" charset="0"/>
                <a:ea typeface="Calibri" pitchFamily="34" charset="-122"/>
                <a:cs typeface="Calibri" pitchFamily="34" charset="-120"/>
              </a:rPr>
              <a:t>&gt;</a:t>
            </a:r>
            <a:endParaRPr lang="en-US" sz="1800" dirty="0"/>
          </a:p>
        </p:txBody>
      </p:sp>
      <p:sp>
        <p:nvSpPr>
          <p:cNvPr id="9" name="Shape 6"/>
          <p:cNvSpPr/>
          <p:nvPr/>
        </p:nvSpPr>
        <p:spPr>
          <a:xfrm>
            <a:off x="2788920" y="1508760"/>
            <a:ext cx="2011680" cy="1051560"/>
          </a:xfrm>
          <a:prstGeom prst="rect">
            <a:avLst/>
          </a:prstGeom>
          <a:solidFill>
            <a:srgbClr val="DCE8F3"/>
          </a:solidFill>
          <a:ln w="9525">
            <a:solidFill>
              <a:srgbClr val="1F4E79"/>
            </a:solidFill>
            <a:prstDash val="solid"/>
          </a:ln>
        </p:spPr>
      </p:sp>
      <p:sp>
        <p:nvSpPr>
          <p:cNvPr id="10" name="Text 7"/>
          <p:cNvSpPr/>
          <p:nvPr/>
        </p:nvSpPr>
        <p:spPr>
          <a:xfrm>
            <a:off x="2788920" y="1554480"/>
            <a:ext cx="2011680" cy="365760"/>
          </a:xfrm>
          <a:prstGeom prst="rect">
            <a:avLst/>
          </a:prstGeom>
          <a:noFill/>
          <a:ln/>
        </p:spPr>
        <p:txBody>
          <a:bodyPr wrap="square" lIns="0" tIns="0" rIns="0" bIns="0" rtlCol="0" anchor="ctr"/>
          <a:lstStyle/>
          <a:p>
            <a:pPr algn="ctr" indent="0" marL="0">
              <a:buNone/>
            </a:pPr>
            <a:r>
              <a:rPr lang="en-US" sz="1600" b="1" dirty="0">
                <a:solidFill>
                  <a:srgbClr val="1F4E79"/>
                </a:solidFill>
                <a:latin typeface="Georgia" pitchFamily="34" charset="0"/>
                <a:ea typeface="Georgia" pitchFamily="34" charset="-122"/>
                <a:cs typeface="Georgia" pitchFamily="34" charset="-120"/>
              </a:rPr>
              <a:t>Chunk</a:t>
            </a:r>
            <a:endParaRPr lang="en-US" sz="1600" dirty="0"/>
          </a:p>
        </p:txBody>
      </p:sp>
      <p:sp>
        <p:nvSpPr>
          <p:cNvPr id="11" name="Text 8"/>
          <p:cNvSpPr/>
          <p:nvPr/>
        </p:nvSpPr>
        <p:spPr>
          <a:xfrm>
            <a:off x="2862072" y="1938528"/>
            <a:ext cx="1865376" cy="594360"/>
          </a:xfrm>
          <a:prstGeom prst="rect">
            <a:avLst/>
          </a:prstGeom>
          <a:noFill/>
          <a:ln/>
        </p:spPr>
        <p:txBody>
          <a:bodyPr wrap="square" lIns="0" tIns="0" rIns="0" bIns="0" rtlCol="0" anchor="t"/>
          <a:lstStyle/>
          <a:p>
            <a:pPr algn="ctr" indent="0" marL="0">
              <a:buNone/>
            </a:pPr>
            <a:r>
              <a:rPr lang="en-US" sz="1050" dirty="0">
                <a:solidFill>
                  <a:srgbClr val="1B2430"/>
                </a:solidFill>
                <a:latin typeface="Consolas" pitchFamily="34" charset="0"/>
                <a:ea typeface="Consolas" pitchFamily="34" charset="-122"/>
                <a:cs typeface="Consolas" pitchFamily="34" charset="-120"/>
              </a:rPr>
              <a:t>_split_into_chunks, load_chunks</a:t>
            </a:r>
            <a:endParaRPr lang="en-US" sz="1050" dirty="0"/>
          </a:p>
        </p:txBody>
      </p:sp>
      <p:sp>
        <p:nvSpPr>
          <p:cNvPr id="12" name="Text 9"/>
          <p:cNvSpPr/>
          <p:nvPr/>
        </p:nvSpPr>
        <p:spPr>
          <a:xfrm>
            <a:off x="4800600" y="1783080"/>
            <a:ext cx="228600" cy="365760"/>
          </a:xfrm>
          <a:prstGeom prst="rect">
            <a:avLst/>
          </a:prstGeom>
          <a:noFill/>
          <a:ln/>
        </p:spPr>
        <p:txBody>
          <a:bodyPr wrap="square" lIns="0" tIns="0" rIns="0" bIns="0" rtlCol="0" anchor="ctr"/>
          <a:lstStyle/>
          <a:p>
            <a:pPr algn="ctr" indent="0" marL="0">
              <a:buNone/>
            </a:pPr>
            <a:r>
              <a:rPr lang="en-US" sz="1800" b="1" dirty="0">
                <a:solidFill>
                  <a:srgbClr val="5B6675"/>
                </a:solidFill>
                <a:latin typeface="Calibri" pitchFamily="34" charset="0"/>
                <a:ea typeface="Calibri" pitchFamily="34" charset="-122"/>
                <a:cs typeface="Calibri" pitchFamily="34" charset="-120"/>
              </a:rPr>
              <a:t>&gt;</a:t>
            </a:r>
            <a:endParaRPr lang="en-US" sz="1800" dirty="0"/>
          </a:p>
        </p:txBody>
      </p:sp>
      <p:sp>
        <p:nvSpPr>
          <p:cNvPr id="13" name="Shape 10"/>
          <p:cNvSpPr/>
          <p:nvPr/>
        </p:nvSpPr>
        <p:spPr>
          <a:xfrm>
            <a:off x="5029200" y="1508760"/>
            <a:ext cx="2011680" cy="1051560"/>
          </a:xfrm>
          <a:prstGeom prst="rect">
            <a:avLst/>
          </a:prstGeom>
          <a:solidFill>
            <a:srgbClr val="DCE8F3"/>
          </a:solidFill>
          <a:ln w="9525">
            <a:solidFill>
              <a:srgbClr val="1F4E79"/>
            </a:solidFill>
            <a:prstDash val="solid"/>
          </a:ln>
        </p:spPr>
      </p:sp>
      <p:sp>
        <p:nvSpPr>
          <p:cNvPr id="14" name="Text 11"/>
          <p:cNvSpPr/>
          <p:nvPr/>
        </p:nvSpPr>
        <p:spPr>
          <a:xfrm>
            <a:off x="5029200" y="1554480"/>
            <a:ext cx="2011680" cy="365760"/>
          </a:xfrm>
          <a:prstGeom prst="rect">
            <a:avLst/>
          </a:prstGeom>
          <a:noFill/>
          <a:ln/>
        </p:spPr>
        <p:txBody>
          <a:bodyPr wrap="square" lIns="0" tIns="0" rIns="0" bIns="0" rtlCol="0" anchor="ctr"/>
          <a:lstStyle/>
          <a:p>
            <a:pPr algn="ctr" indent="0" marL="0">
              <a:buNone/>
            </a:pPr>
            <a:r>
              <a:rPr lang="en-US" sz="1600" b="1" dirty="0">
                <a:solidFill>
                  <a:srgbClr val="1F4E79"/>
                </a:solidFill>
                <a:latin typeface="Georgia" pitchFamily="34" charset="0"/>
                <a:ea typeface="Georgia" pitchFamily="34" charset="-122"/>
                <a:cs typeface="Georgia" pitchFamily="34" charset="-120"/>
              </a:rPr>
              <a:t>Index</a:t>
            </a:r>
            <a:endParaRPr lang="en-US" sz="1600" dirty="0"/>
          </a:p>
        </p:txBody>
      </p:sp>
      <p:sp>
        <p:nvSpPr>
          <p:cNvPr id="15" name="Text 12"/>
          <p:cNvSpPr/>
          <p:nvPr/>
        </p:nvSpPr>
        <p:spPr>
          <a:xfrm>
            <a:off x="5102352" y="1938528"/>
            <a:ext cx="1865376" cy="594360"/>
          </a:xfrm>
          <a:prstGeom prst="rect">
            <a:avLst/>
          </a:prstGeom>
          <a:noFill/>
          <a:ln/>
        </p:spPr>
        <p:txBody>
          <a:bodyPr wrap="square" lIns="0" tIns="0" rIns="0" bIns="0" rtlCol="0" anchor="t"/>
          <a:lstStyle/>
          <a:p>
            <a:pPr algn="ctr" indent="0" marL="0">
              <a:buNone/>
            </a:pPr>
            <a:r>
              <a:rPr lang="en-US" sz="1050" dirty="0">
                <a:solidFill>
                  <a:srgbClr val="1B2430"/>
                </a:solidFill>
                <a:latin typeface="Consolas" pitchFamily="34" charset="0"/>
                <a:ea typeface="Consolas" pitchFamily="34" charset="-122"/>
                <a:cs typeface="Consolas" pitchFamily="34" charset="-120"/>
              </a:rPr>
              <a:t>TfidfIndex, build_index</a:t>
            </a:r>
            <a:endParaRPr lang="en-US" sz="1050" dirty="0"/>
          </a:p>
        </p:txBody>
      </p:sp>
      <p:sp>
        <p:nvSpPr>
          <p:cNvPr id="16" name="Text 13"/>
          <p:cNvSpPr/>
          <p:nvPr/>
        </p:nvSpPr>
        <p:spPr>
          <a:xfrm>
            <a:off x="7040880" y="1783080"/>
            <a:ext cx="228600" cy="365760"/>
          </a:xfrm>
          <a:prstGeom prst="rect">
            <a:avLst/>
          </a:prstGeom>
          <a:noFill/>
          <a:ln/>
        </p:spPr>
        <p:txBody>
          <a:bodyPr wrap="square" lIns="0" tIns="0" rIns="0" bIns="0" rtlCol="0" anchor="ctr"/>
          <a:lstStyle/>
          <a:p>
            <a:pPr algn="ctr" indent="0" marL="0">
              <a:buNone/>
            </a:pPr>
            <a:r>
              <a:rPr lang="en-US" sz="1800" b="1" dirty="0">
                <a:solidFill>
                  <a:srgbClr val="5B6675"/>
                </a:solidFill>
                <a:latin typeface="Calibri" pitchFamily="34" charset="0"/>
                <a:ea typeface="Calibri" pitchFamily="34" charset="-122"/>
                <a:cs typeface="Calibri" pitchFamily="34" charset="-120"/>
              </a:rPr>
              <a:t>&gt;</a:t>
            </a:r>
            <a:endParaRPr lang="en-US" sz="1800" dirty="0"/>
          </a:p>
        </p:txBody>
      </p:sp>
      <p:sp>
        <p:nvSpPr>
          <p:cNvPr id="17" name="Shape 14"/>
          <p:cNvSpPr/>
          <p:nvPr/>
        </p:nvSpPr>
        <p:spPr>
          <a:xfrm>
            <a:off x="7269480" y="1508760"/>
            <a:ext cx="2011680" cy="1051560"/>
          </a:xfrm>
          <a:prstGeom prst="rect">
            <a:avLst/>
          </a:prstGeom>
          <a:solidFill>
            <a:srgbClr val="DCE8F3"/>
          </a:solidFill>
          <a:ln w="9525">
            <a:solidFill>
              <a:srgbClr val="1F4E79"/>
            </a:solidFill>
            <a:prstDash val="solid"/>
          </a:ln>
        </p:spPr>
      </p:sp>
      <p:sp>
        <p:nvSpPr>
          <p:cNvPr id="18" name="Text 15"/>
          <p:cNvSpPr/>
          <p:nvPr/>
        </p:nvSpPr>
        <p:spPr>
          <a:xfrm>
            <a:off x="7269480" y="1554480"/>
            <a:ext cx="2011680" cy="365760"/>
          </a:xfrm>
          <a:prstGeom prst="rect">
            <a:avLst/>
          </a:prstGeom>
          <a:noFill/>
          <a:ln/>
        </p:spPr>
        <p:txBody>
          <a:bodyPr wrap="square" lIns="0" tIns="0" rIns="0" bIns="0" rtlCol="0" anchor="ctr"/>
          <a:lstStyle/>
          <a:p>
            <a:pPr algn="ctr" indent="0" marL="0">
              <a:buNone/>
            </a:pPr>
            <a:r>
              <a:rPr lang="en-US" sz="1600" b="1" dirty="0">
                <a:solidFill>
                  <a:srgbClr val="1F4E79"/>
                </a:solidFill>
                <a:latin typeface="Georgia" pitchFamily="34" charset="0"/>
                <a:ea typeface="Georgia" pitchFamily="34" charset="-122"/>
                <a:cs typeface="Georgia" pitchFamily="34" charset="-120"/>
              </a:rPr>
              <a:t>Search</a:t>
            </a:r>
            <a:endParaRPr lang="en-US" sz="1600" dirty="0"/>
          </a:p>
        </p:txBody>
      </p:sp>
      <p:sp>
        <p:nvSpPr>
          <p:cNvPr id="19" name="Text 16"/>
          <p:cNvSpPr/>
          <p:nvPr/>
        </p:nvSpPr>
        <p:spPr>
          <a:xfrm>
            <a:off x="7342632" y="1938528"/>
            <a:ext cx="1865376" cy="594360"/>
          </a:xfrm>
          <a:prstGeom prst="rect">
            <a:avLst/>
          </a:prstGeom>
          <a:noFill/>
          <a:ln/>
        </p:spPr>
        <p:txBody>
          <a:bodyPr wrap="square" lIns="0" tIns="0" rIns="0" bIns="0" rtlCol="0" anchor="t"/>
          <a:lstStyle/>
          <a:p>
            <a:pPr algn="ctr" indent="0" marL="0">
              <a:buNone/>
            </a:pPr>
            <a:r>
              <a:rPr lang="en-US" sz="1050" dirty="0">
                <a:solidFill>
                  <a:srgbClr val="1B2430"/>
                </a:solidFill>
                <a:latin typeface="Consolas" pitchFamily="34" charset="0"/>
                <a:ea typeface="Consolas" pitchFamily="34" charset="-122"/>
                <a:cs typeface="Consolas" pitchFamily="34" charset="-120"/>
              </a:rPr>
              <a:t>search, _cosine, vectorize_query</a:t>
            </a:r>
            <a:endParaRPr lang="en-US" sz="1050" dirty="0"/>
          </a:p>
        </p:txBody>
      </p:sp>
      <p:sp>
        <p:nvSpPr>
          <p:cNvPr id="20" name="Text 17"/>
          <p:cNvSpPr/>
          <p:nvPr/>
        </p:nvSpPr>
        <p:spPr>
          <a:xfrm>
            <a:off x="9281160" y="1783080"/>
            <a:ext cx="228600" cy="365760"/>
          </a:xfrm>
          <a:prstGeom prst="rect">
            <a:avLst/>
          </a:prstGeom>
          <a:noFill/>
          <a:ln/>
        </p:spPr>
        <p:txBody>
          <a:bodyPr wrap="square" lIns="0" tIns="0" rIns="0" bIns="0" rtlCol="0" anchor="ctr"/>
          <a:lstStyle/>
          <a:p>
            <a:pPr algn="ctr" indent="0" marL="0">
              <a:buNone/>
            </a:pPr>
            <a:r>
              <a:rPr lang="en-US" sz="1800" b="1" dirty="0">
                <a:solidFill>
                  <a:srgbClr val="5B6675"/>
                </a:solidFill>
                <a:latin typeface="Calibri" pitchFamily="34" charset="0"/>
                <a:ea typeface="Calibri" pitchFamily="34" charset="-122"/>
                <a:cs typeface="Calibri" pitchFamily="34" charset="-120"/>
              </a:rPr>
              <a:t>&gt;</a:t>
            </a:r>
            <a:endParaRPr lang="en-US" sz="1800" dirty="0"/>
          </a:p>
        </p:txBody>
      </p:sp>
      <p:sp>
        <p:nvSpPr>
          <p:cNvPr id="21" name="Shape 18"/>
          <p:cNvSpPr/>
          <p:nvPr/>
        </p:nvSpPr>
        <p:spPr>
          <a:xfrm>
            <a:off x="9509760" y="1508760"/>
            <a:ext cx="2011680" cy="1051560"/>
          </a:xfrm>
          <a:prstGeom prst="rect">
            <a:avLst/>
          </a:prstGeom>
          <a:solidFill>
            <a:srgbClr val="DCE8F3"/>
          </a:solidFill>
          <a:ln w="9525">
            <a:solidFill>
              <a:srgbClr val="1F4E79"/>
            </a:solidFill>
            <a:prstDash val="solid"/>
          </a:ln>
        </p:spPr>
      </p:sp>
      <p:sp>
        <p:nvSpPr>
          <p:cNvPr id="22" name="Text 19"/>
          <p:cNvSpPr/>
          <p:nvPr/>
        </p:nvSpPr>
        <p:spPr>
          <a:xfrm>
            <a:off x="9509760" y="1554480"/>
            <a:ext cx="2011680" cy="365760"/>
          </a:xfrm>
          <a:prstGeom prst="rect">
            <a:avLst/>
          </a:prstGeom>
          <a:noFill/>
          <a:ln/>
        </p:spPr>
        <p:txBody>
          <a:bodyPr wrap="square" lIns="0" tIns="0" rIns="0" bIns="0" rtlCol="0" anchor="ctr"/>
          <a:lstStyle/>
          <a:p>
            <a:pPr algn="ctr" indent="0" marL="0">
              <a:buNone/>
            </a:pPr>
            <a:r>
              <a:rPr lang="en-US" sz="1600" b="1" dirty="0">
                <a:solidFill>
                  <a:srgbClr val="1F4E79"/>
                </a:solidFill>
                <a:latin typeface="Georgia" pitchFamily="34" charset="0"/>
                <a:ea typeface="Georgia" pitchFamily="34" charset="-122"/>
                <a:cs typeface="Georgia" pitchFamily="34" charset="-120"/>
              </a:rPr>
              <a:t>Answer</a:t>
            </a:r>
            <a:endParaRPr lang="en-US" sz="1600" dirty="0"/>
          </a:p>
        </p:txBody>
      </p:sp>
      <p:sp>
        <p:nvSpPr>
          <p:cNvPr id="23" name="Text 20"/>
          <p:cNvSpPr/>
          <p:nvPr/>
        </p:nvSpPr>
        <p:spPr>
          <a:xfrm>
            <a:off x="9582912" y="1938528"/>
            <a:ext cx="1865376" cy="594360"/>
          </a:xfrm>
          <a:prstGeom prst="rect">
            <a:avLst/>
          </a:prstGeom>
          <a:noFill/>
          <a:ln/>
        </p:spPr>
        <p:txBody>
          <a:bodyPr wrap="square" lIns="0" tIns="0" rIns="0" bIns="0" rtlCol="0" anchor="t"/>
          <a:lstStyle/>
          <a:p>
            <a:pPr algn="ctr" indent="0" marL="0">
              <a:buNone/>
            </a:pPr>
            <a:r>
              <a:rPr lang="en-US" sz="1050" dirty="0">
                <a:solidFill>
                  <a:srgbClr val="1B2430"/>
                </a:solidFill>
                <a:latin typeface="Consolas" pitchFamily="34" charset="0"/>
                <a:ea typeface="Consolas" pitchFamily="34" charset="-122"/>
                <a:cs typeface="Consolas" pitchFamily="34" charset="-120"/>
              </a:rPr>
              <a:t>answer_question</a:t>
            </a:r>
            <a:endParaRPr lang="en-US" sz="1050" dirty="0"/>
          </a:p>
        </p:txBody>
      </p:sp>
      <p:sp>
        <p:nvSpPr>
          <p:cNvPr id="24" name="Text 21"/>
          <p:cNvSpPr/>
          <p:nvPr/>
        </p:nvSpPr>
        <p:spPr>
          <a:xfrm>
            <a:off x="548640" y="2834640"/>
            <a:ext cx="11064240" cy="2743200"/>
          </a:xfrm>
          <a:prstGeom prst="rect">
            <a:avLst/>
          </a:prstGeom>
          <a:noFill/>
          <a:ln/>
        </p:spPr>
        <p:txBody>
          <a:bodyPr wrap="square" lIns="0" tIns="0" rIns="0" bIns="0" rtlCol="0" anchor="t"/>
          <a:lstStyle/>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Tokenizer.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Keeps numbers and identifiers, indexes the parts of compounds, drops question filler, merges plurals. 106 stopwords.</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Chunks.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8 documents become 63 chunks of at most about 600 characters.</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Index.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weight = term share in the chunk x idf;  idf = ln((1 + N) / (1 + df)) + 1;  1,256 distinct terms.</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Search.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Cosine similarity against every chunk; top 3; optional filter by document (for example Deadlocks, Error_Recovery).</a:t>
            </a:r>
            <a:endParaRPr lang="en-US" sz="1500" dirty="0"/>
          </a:p>
          <a:p>
            <a:pPr marL="203200" indent="-203200">
              <a:spcAft>
                <a:spcPts val="600"/>
              </a:spcAft>
              <a:buSzPct val="100000"/>
              <a:buChar char="•"/>
            </a:pPr>
            <a:r>
              <a:rPr lang="en-US" sz="1500" b="1" dirty="0">
                <a:solidFill>
                  <a:srgbClr val="1B2430"/>
                </a:solidFill>
                <a:latin typeface="Calibri" pitchFamily="34" charset="0"/>
                <a:ea typeface="Calibri" pitchFamily="34" charset="-122"/>
                <a:cs typeface="Calibri" pitchFamily="34" charset="-120"/>
              </a:rPr>
              <a:t>Why TF-IDF. </a:t>
            </a:r>
            <a:pPr indent="0" marL="0">
              <a:spcAft>
                <a:spcPts val="600"/>
              </a:spcAft>
              <a:buNone/>
            </a:pPr>
            <a:r>
              <a:rPr lang="en-US" sz="1500" dirty="0">
                <a:solidFill>
                  <a:srgbClr val="1B2430"/>
                </a:solidFill>
                <a:latin typeface="Calibri" pitchFamily="34" charset="0"/>
                <a:ea typeface="Calibri" pitchFamily="34" charset="-122"/>
                <a:cs typeface="Calibri" pitchFamily="34" charset="-120"/>
              </a:rPr>
              <a:t>No embedding model: installs in seconds, works offline, every step can be inspected.</a:t>
            </a:r>
            <a:endParaRPr lang="en-US" sz="1500" dirty="0"/>
          </a:p>
        </p:txBody>
      </p:sp>
      <p:sp>
        <p:nvSpPr>
          <p:cNvPr id="25" name="Shape 22"/>
          <p:cNvSpPr/>
          <p:nvPr/>
        </p:nvSpPr>
        <p:spPr>
          <a:xfrm>
            <a:off x="548640" y="5623560"/>
            <a:ext cx="11064240" cy="548640"/>
          </a:xfrm>
          <a:prstGeom prst="rect">
            <a:avLst/>
          </a:prstGeom>
          <a:solidFill>
            <a:srgbClr val="DCE8F3"/>
          </a:solidFill>
          <a:ln w="12700">
            <a:solidFill>
              <a:srgbClr val="DCE8F3"/>
            </a:solidFill>
            <a:prstDash val="solid"/>
          </a:ln>
        </p:spPr>
      </p:sp>
      <p:sp>
        <p:nvSpPr>
          <p:cNvPr id="26" name="Shape 23"/>
          <p:cNvSpPr/>
          <p:nvPr/>
        </p:nvSpPr>
        <p:spPr>
          <a:xfrm>
            <a:off x="548640" y="5623560"/>
            <a:ext cx="64008" cy="548640"/>
          </a:xfrm>
          <a:prstGeom prst="rect">
            <a:avLst/>
          </a:prstGeom>
          <a:solidFill>
            <a:srgbClr val="1F4E79"/>
          </a:solidFill>
          <a:ln w="12700">
            <a:solidFill>
              <a:srgbClr val="1F4E79"/>
            </a:solidFill>
            <a:prstDash val="solid"/>
          </a:ln>
        </p:spPr>
      </p:sp>
      <p:sp>
        <p:nvSpPr>
          <p:cNvPr id="27" name="Text 24"/>
          <p:cNvSpPr/>
          <p:nvPr/>
        </p:nvSpPr>
        <p:spPr>
          <a:xfrm>
            <a:off x="749808" y="5623560"/>
            <a:ext cx="10744200" cy="54864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The tokenizer is the lexer-like part of the project; the SWF trace parser is the parser-like part. Both can be run on their own (appendix).</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The assistant explains; fixed rules act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377440"/>
                <a:gridCol w="8686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Prompt part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632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1  Instruction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Treat the incident facts as ground truth; use the passages for concepts; state units; do not claim an action was the only one possible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2  Process record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PID, name, priority, state, requirements (_format_process_context)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3  Incident facts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Error details, action executed, rule applied, current pool state with units (_format_incident_facts)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4  Passages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The top 3 chunks from the search</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48640" y="3745992"/>
          <a:ext cx="11064240" cy="914400"/>
        </p:xfrm>
        <a:graphic>
          <a:graphicData uri="http://schemas.openxmlformats.org/drawingml/2006/table">
            <a:tbl>
              <a:tblPr/>
              <a:tblGrid>
                <a:gridCol w="4389120"/>
                <a:gridCol w="6675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Function (assistant.py)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63296">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answer_question</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Search, build the prompt, call a provider, or fall back; returns answer, mode, sources, fallback_reason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_build_prompt</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Assembles the four parts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_call_groq / _call_anthropic / _call_openai</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One provider each, in that order of preference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_post_json</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Retries rate limits (429) and server errors using the provider's own wait hint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_extractive_fallback</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Offline answer: passages and facts, with the reason the model did not answer</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Recovery: fixed rules, modelled on Kubernetes preemption</a:t>
            </a:r>
            <a:endParaRPr lang="en-US" sz="2800" dirty="0"/>
          </a:p>
        </p:txBody>
      </p:sp>
      <p:sp>
        <p:nvSpPr>
          <p:cNvPr id="5" name="Shape 2"/>
          <p:cNvSpPr/>
          <p:nvPr/>
        </p:nvSpPr>
        <p:spPr>
          <a:xfrm>
            <a:off x="548640" y="1463040"/>
            <a:ext cx="4754880" cy="3054949"/>
          </a:xfrm>
          <a:prstGeom prst="rect">
            <a:avLst/>
          </a:prstGeom>
          <a:solidFill>
            <a:srgbClr val="FFFFFF"/>
          </a:solidFill>
          <a:ln w="9525">
            <a:solidFill>
              <a:srgbClr val="D5DAE1"/>
            </a:solidFill>
            <a:prstDash val="solid"/>
          </a:ln>
        </p:spPr>
      </p:sp>
      <p:pic>
        <p:nvPicPr>
          <p:cNvPr id="6" name="Image 0" descr="D:/Downloads/Projects/OS/procura/docs/figures/fig_recovery_flow.png">    </p:cNvPr>
          <p:cNvPicPr>
            <a:picLocks noChangeAspect="1"/>
          </p:cNvPicPr>
          <p:nvPr/>
        </p:nvPicPr>
        <p:blipFill>
          <a:blip r:embed="rId1"/>
          <a:stretch>
            <a:fillRect/>
          </a:stretch>
        </p:blipFill>
        <p:spPr>
          <a:xfrm>
            <a:off x="548640" y="1463040"/>
            <a:ext cx="4754880" cy="3054949"/>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577840" y="1508760"/>
          <a:ext cx="6126480" cy="914400"/>
        </p:xfrm>
        <a:graphic>
          <a:graphicData uri="http://schemas.openxmlformats.org/drawingml/2006/table">
            <a:tbl>
              <a:tblPr/>
              <a:tblGrid>
                <a:gridCol w="2743200"/>
                <a:gridCol w="3383280"/>
              </a:tblGrid>
              <a:tr h="31089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Function (recovery.py)</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57200">
                <a:tc>
                  <a:txBody>
                    <a:bodyPr/>
                    <a:lstStyle/>
                    <a:p>
                      <a:pPr algn="l" indent="0" marL="0">
                        <a:buNone/>
                      </a:pPr>
                      <a:r>
                        <a:rPr lang="en-US" sz="1000" dirty="0">
                          <a:solidFill>
                            <a:srgbClr val="1B2430"/>
                          </a:solidFill>
                          <a:latin typeface="Consolas" pitchFamily="34" charset="0"/>
                          <a:ea typeface="Consolas" pitchFamily="34" charset="-122"/>
                          <a:cs typeface="Consolas" pitchFamily="34" charset="-120"/>
                        </a:rPr>
                        <a:t>recover_memory_failure</a:t>
                      </a:r>
                      <a:endParaRPr lang="en-US" sz="10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retry, suspend_and_retry, or memory_failure_no_victim</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602742">
                <a:tc>
                  <a:txBody>
                    <a:bodyPr/>
                    <a:lstStyle/>
                    <a:p>
                      <a:pPr algn="l" indent="0" marL="0">
                        <a:buNone/>
                      </a:pPr>
                      <a:r>
                        <a:rPr lang="en-US" sz="1000" dirty="0">
                          <a:solidFill>
                            <a:srgbClr val="1B2430"/>
                          </a:solidFill>
                          <a:latin typeface="Consolas" pitchFamily="34" charset="0"/>
                          <a:ea typeface="Consolas" pitchFamily="34" charset="-122"/>
                          <a:cs typeface="Consolas" pitchFamily="34" charset="-120"/>
                        </a:rPr>
                        <a:t>recover_deadlock</a:t>
                      </a:r>
                      <a:endParaRPr lang="en-US" sz="10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terminate_and_resume: kill the lowest-priority cycle member, release its resources, unblock the rest</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000" dirty="0">
                          <a:solidFill>
                            <a:srgbClr val="1B2430"/>
                          </a:solidFill>
                          <a:latin typeface="Consolas" pitchFamily="34" charset="0"/>
                          <a:ea typeface="Consolas" pitchFamily="34" charset="-122"/>
                          <a:cs typeface="Consolas" pitchFamily="34" charset="-120"/>
                        </a:rPr>
                        <a:t>recover_timeout / recover_crash</a:t>
                      </a:r>
                      <a:endParaRPr lang="en-US" sz="10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stop_and_retry / restart: back to READY, error count +1</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1B2430"/>
                          </a:solidFill>
                          <a:latin typeface="Consolas" pitchFamily="34" charset="0"/>
                          <a:ea typeface="Consolas" pitchFamily="34" charset="-122"/>
                          <a:cs typeface="Consolas" pitchFamily="34" charset="-120"/>
                        </a:rPr>
                        <a:t>run_recovery</a:t>
                      </a:r>
                      <a:endParaRPr lang="en-US" sz="10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Chooses the script by error type</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000" dirty="0">
                          <a:solidFill>
                            <a:srgbClr val="1B2430"/>
                          </a:solidFill>
                          <a:latin typeface="Consolas" pitchFamily="34" charset="0"/>
                          <a:ea typeface="Consolas" pitchFamily="34" charset="-122"/>
                          <a:cs typeface="Consolas" pitchFamily="34" charset="-120"/>
                        </a:rPr>
                        <a:t>_lowest_priority_pid</a:t>
                      </a:r>
                      <a:endParaRPr lang="en-US" sz="10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alibri" pitchFamily="34" charset="0"/>
                          <a:ea typeface="Calibri" pitchFamily="34" charset="-122"/>
                          <a:cs typeface="Calibri" pitchFamily="34" charset="-120"/>
                        </a:rPr>
                        <a:t>Finds the eviction candidate by effective priority</a:t>
                      </a:r>
                      <a:endParaRPr lang="en-US" sz="11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8" name="Shape 3"/>
          <p:cNvSpPr/>
          <p:nvPr/>
        </p:nvSpPr>
        <p:spPr>
          <a:xfrm>
            <a:off x="548640" y="4800600"/>
            <a:ext cx="11064240" cy="640080"/>
          </a:xfrm>
          <a:prstGeom prst="rect">
            <a:avLst/>
          </a:prstGeom>
          <a:solidFill>
            <a:srgbClr val="DCE8F3"/>
          </a:solidFill>
          <a:ln w="12700">
            <a:solidFill>
              <a:srgbClr val="DCE8F3"/>
            </a:solidFill>
            <a:prstDash val="solid"/>
          </a:ln>
        </p:spPr>
      </p:sp>
      <p:sp>
        <p:nvSpPr>
          <p:cNvPr id="9" name="Shape 4"/>
          <p:cNvSpPr/>
          <p:nvPr/>
        </p:nvSpPr>
        <p:spPr>
          <a:xfrm>
            <a:off x="548640" y="4800600"/>
            <a:ext cx="64008" cy="640080"/>
          </a:xfrm>
          <a:prstGeom prst="rect">
            <a:avLst/>
          </a:prstGeom>
          <a:solidFill>
            <a:srgbClr val="1F4E79"/>
          </a:solidFill>
          <a:ln w="12700">
            <a:solidFill>
              <a:srgbClr val="1F4E79"/>
            </a:solidFill>
            <a:prstDash val="solid"/>
          </a:ln>
        </p:spPr>
      </p:sp>
      <p:sp>
        <p:nvSpPr>
          <p:cNvPr id="10" name="Text 5"/>
          <p:cNvSpPr/>
          <p:nvPr/>
        </p:nvSpPr>
        <p:spPr>
          <a:xfrm>
            <a:off x="749808" y="4800600"/>
            <a:ext cx="10744200" cy="640080"/>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Never evict equal or higher priority work, and never evict unless it actually frees enough memory.</a:t>
            </a:r>
            <a:endParaRPr lang="en-US" sz="15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The REST API: 16 endpoints in main.py</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286000"/>
                <a:gridCol w="3383280"/>
                <a:gridCol w="5394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GET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/health</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Liveness check</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GET, POST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/processes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List tasks; create a task</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63296">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GET, PATCH, DELETE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/processes/{pid}</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Read; change state (start, pause, resume, complete, terminate); delete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GET, POST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/schedule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Run one policy; returns order, Gantt data, metrics, fairness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GET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/benchmark</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Run all six policies on a generated workload</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GET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/resources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Use of each pool and the wait-for graph</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/resources/allocate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Allocate a resource to a process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/resources/release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Release a resource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/resources/avoidance-mode</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Turn Banker's-style avoidance on or off</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/detect</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Detect, diagnose and recover, once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POST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/ask</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Ask the assistant, optionally about one process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GET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100" dirty="0">
                          <a:solidFill>
                            <a:srgbClr val="1B2430"/>
                          </a:solidFill>
                          <a:latin typeface="Consolas" pitchFamily="34" charset="0"/>
                          <a:ea typeface="Consolas" pitchFamily="34" charset="-122"/>
                          <a:cs typeface="Consolas" pitchFamily="34" charset="-120"/>
                        </a:rPr>
                        <a:t>/errors</a:t>
                      </a:r>
                      <a:endParaRPr lang="en-US" sz="1100" dirty="0">
                        <a:latin typeface="Consolas" charset="0"/>
                        <a:ea typeface="Consolas" charset="0"/>
                        <a:cs typeface="Consolas"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History of errors, diagnoses and recovery actions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2  HOW IT WORKS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Interfaces: five web screens and a terminal dashboard</a:t>
            </a:r>
            <a:endParaRPr lang="en-US" sz="2800" dirty="0"/>
          </a:p>
        </p:txBody>
      </p:sp>
      <p:sp>
        <p:nvSpPr>
          <p:cNvPr id="5" name="Shape 2"/>
          <p:cNvSpPr/>
          <p:nvPr/>
        </p:nvSpPr>
        <p:spPr>
          <a:xfrm>
            <a:off x="548640" y="1463040"/>
            <a:ext cx="5669280" cy="3543300"/>
          </a:xfrm>
          <a:prstGeom prst="rect">
            <a:avLst/>
          </a:prstGeom>
          <a:solidFill>
            <a:srgbClr val="FFFFFF"/>
          </a:solidFill>
          <a:ln w="9525">
            <a:solidFill>
              <a:srgbClr val="D5DAE1"/>
            </a:solidFill>
            <a:prstDash val="solid"/>
          </a:ln>
        </p:spPr>
      </p:sp>
      <p:pic>
        <p:nvPicPr>
          <p:cNvPr id="6" name="Image 0" descr="D:/Downloads/Projects/OS/procura/docs/screenshots/01_dashboard_initial.png">    </p:cNvPr>
          <p:cNvPicPr>
            <a:picLocks noChangeAspect="1"/>
          </p:cNvPicPr>
          <p:nvPr/>
        </p:nvPicPr>
        <p:blipFill>
          <a:blip r:embed="rId1"/>
          <a:stretch>
            <a:fillRect/>
          </a:stretch>
        </p:blipFill>
        <p:spPr>
          <a:xfrm>
            <a:off x="548640" y="1463040"/>
            <a:ext cx="5669280" cy="3543300"/>
          </a:xfrm>
          <a:prstGeom prst="rect">
            <a:avLst/>
          </a:prstGeom>
        </p:spPr>
      </p:pic>
      <p:sp>
        <p:nvSpPr>
          <p:cNvPr id="7" name="Shape 3"/>
          <p:cNvSpPr/>
          <p:nvPr/>
        </p:nvSpPr>
        <p:spPr>
          <a:xfrm>
            <a:off x="6400800" y="1463040"/>
            <a:ext cx="5212080" cy="3047772"/>
          </a:xfrm>
          <a:prstGeom prst="rect">
            <a:avLst/>
          </a:prstGeom>
          <a:solidFill>
            <a:srgbClr val="FFFFFF"/>
          </a:solidFill>
          <a:ln w="9525">
            <a:solidFill>
              <a:srgbClr val="D5DAE1"/>
            </a:solidFill>
            <a:prstDash val="solid"/>
          </a:ln>
        </p:spPr>
      </p:sp>
      <p:pic>
        <p:nvPicPr>
          <p:cNvPr id="8" name="Image 1" descr="D:/Downloads/Projects/OS/procura/docs/screenshots/18_cli_procura_top.png">    </p:cNvPr>
          <p:cNvPicPr>
            <a:picLocks noChangeAspect="1"/>
          </p:cNvPicPr>
          <p:nvPr/>
        </p:nvPicPr>
        <p:blipFill>
          <a:blip r:embed="rId2"/>
          <a:stretch>
            <a:fillRect/>
          </a:stretch>
        </p:blipFill>
        <p:spPr>
          <a:xfrm>
            <a:off x="6400800" y="1463040"/>
            <a:ext cx="5212080" cy="3047772"/>
          </a:xfrm>
          <a:prstGeom prst="rect">
            <a:avLst/>
          </a:prstGeom>
        </p:spPr>
      </p:pic>
      <p:sp>
        <p:nvSpPr>
          <p:cNvPr id="9" name="Text 4"/>
          <p:cNvSpPr/>
          <p:nvPr/>
        </p:nvSpPr>
        <p:spPr>
          <a:xfrm>
            <a:off x="548640" y="5440680"/>
            <a:ext cx="566928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Web dashboard: process table, resource bars, AI activity feed.</a:t>
            </a:r>
            <a:endParaRPr lang="en-US" sz="1100" dirty="0"/>
          </a:p>
        </p:txBody>
      </p:sp>
      <p:sp>
        <p:nvSpPr>
          <p:cNvPr id="10" name="Text 5"/>
          <p:cNvSpPr/>
          <p:nvPr/>
        </p:nvSpPr>
        <p:spPr>
          <a:xfrm>
            <a:off x="6400800" y="5440680"/>
            <a:ext cx="521208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procura_top: the same data in a terminal.</a:t>
            </a:r>
            <a:endParaRPr lang="en-US" sz="1100" dirty="0"/>
          </a:p>
        </p:txBody>
      </p:sp>
      <p:sp>
        <p:nvSpPr>
          <p:cNvPr id="11" name="Text 6"/>
          <p:cNvSpPr/>
          <p:nvPr/>
        </p:nvSpPr>
        <p:spPr>
          <a:xfrm>
            <a:off x="548640" y="5897880"/>
            <a:ext cx="10972800" cy="32004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Screens: Dashboard, Processes, Scheduler, AI Assistant, Error Monitor.</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Live demo: what will be shown, in order</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548640"/>
                <a:gridCol w="4023360"/>
                <a:gridCol w="5394960"/>
                <a:gridCol w="109728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Demo</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Shows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Minutes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38912">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Create a task</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Process model, PID, NEW to READY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Compare the six schedulers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Gantt charts, waiting time, Jain's index, the SJF trade-off</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38912">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Memory contention and automatic recovery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Detection, retry, suspend-and-retry, no-victim</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9428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 deadlock, built and resolved with AI diagnosis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Wait-for graph, cycle, rule-based termination, grounded explanation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38912">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Ask the assistant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Retrieval plus recorded facts; offline fallback</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Terminal dashboard and benchmark</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procura_top, run_benchmark, the six-policy table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6" name="Shape 2"/>
          <p:cNvSpPr/>
          <p:nvPr/>
        </p:nvSpPr>
        <p:spPr>
          <a:xfrm>
            <a:off x="548640" y="4691380"/>
            <a:ext cx="6217920" cy="1188720"/>
          </a:xfrm>
          <a:prstGeom prst="rect">
            <a:avLst/>
          </a:prstGeom>
          <a:solidFill>
            <a:srgbClr val="F3F5F8"/>
          </a:solidFill>
          <a:ln w="9525">
            <a:solidFill>
              <a:srgbClr val="D5DAE1"/>
            </a:solidFill>
            <a:prstDash val="solid"/>
          </a:ln>
        </p:spPr>
      </p:sp>
      <p:sp>
        <p:nvSpPr>
          <p:cNvPr id="7" name="Text 3"/>
          <p:cNvSpPr/>
          <p:nvPr/>
        </p:nvSpPr>
        <p:spPr>
          <a:xfrm>
            <a:off x="658368" y="4746244"/>
            <a:ext cx="5998464" cy="1078992"/>
          </a:xfrm>
          <a:prstGeom prst="rect">
            <a:avLst/>
          </a:prstGeom>
          <a:noFill/>
          <a:ln/>
        </p:spPr>
        <p:txBody>
          <a:bodyPr wrap="square" lIns="0" tIns="0" rIns="0" bIns="0" rtlCol="0" anchor="t"/>
          <a:lstStyle/>
          <a:p>
            <a:pPr indent="0" marL="0">
              <a:buNone/>
            </a:pPr>
            <a:r>
              <a:rPr lang="en-US" sz="1100" dirty="0">
                <a:solidFill>
                  <a:srgbClr val="1B2430"/>
                </a:solidFill>
                <a:latin typeface="Consolas" pitchFamily="34" charset="0"/>
                <a:ea typeface="Consolas" pitchFamily="34" charset="-122"/>
                <a:cs typeface="Consolas" pitchFamily="34" charset="-120"/>
              </a:rPr>
              <a:t>cd backend</a:t>
            </a:r>
            <a:endParaRPr lang="en-US" sz="1100" dirty="0"/>
          </a:p>
          <a:p>
            <a:pPr indent="0" marL="0">
              <a:buNone/>
            </a:pPr>
            <a:r>
              <a:rPr lang="en-US" sz="1100" dirty="0">
                <a:solidFill>
                  <a:srgbClr val="1B2430"/>
                </a:solidFill>
                <a:latin typeface="Consolas" pitchFamily="34" charset="0"/>
                <a:ea typeface="Consolas" pitchFamily="34" charset="-122"/>
                <a:cs typeface="Consolas" pitchFamily="34" charset="-120"/>
              </a:rPr>
              <a:t>python seed_data.py</a:t>
            </a:r>
            <a:endParaRPr lang="en-US" sz="1100" dirty="0"/>
          </a:p>
          <a:p>
            <a:pPr indent="0" marL="0">
              <a:buNone/>
            </a:pPr>
            <a:r>
              <a:rPr lang="en-US" sz="1100" dirty="0">
                <a:solidFill>
                  <a:srgbClr val="1B2430"/>
                </a:solidFill>
                <a:latin typeface="Consolas" pitchFamily="34" charset="0"/>
                <a:ea typeface="Consolas" pitchFamily="34" charset="-122"/>
                <a:cs typeface="Consolas" pitchFamily="34" charset="-120"/>
              </a:rPr>
              <a:t>uvicorn main:app --port 8010</a:t>
            </a:r>
            <a:endParaRPr lang="en-US" sz="1100" dirty="0"/>
          </a:p>
          <a:p>
            <a:pPr indent="0" marL="0">
              <a:buNone/>
            </a:pPr>
            <a:endParaRPr lang="en-US" sz="1100" dirty="0"/>
          </a:p>
          <a:p>
            <a:pPr indent="0" marL="0">
              <a:buNone/>
            </a:pPr>
            <a:r>
              <a:rPr lang="en-US" sz="1100" dirty="0">
                <a:solidFill>
                  <a:srgbClr val="1B2430"/>
                </a:solidFill>
                <a:latin typeface="Consolas" pitchFamily="34" charset="0"/>
                <a:ea typeface="Consolas" pitchFamily="34" charset="-122"/>
                <a:cs typeface="Consolas" pitchFamily="34" charset="-120"/>
              </a:rPr>
              <a:t>cd frontend</a:t>
            </a:r>
            <a:endParaRPr lang="en-US" sz="1100" dirty="0"/>
          </a:p>
          <a:p>
            <a:pPr indent="0" marL="0">
              <a:buNone/>
            </a:pPr>
            <a:r>
              <a:rPr lang="en-US" sz="1100" dirty="0">
                <a:solidFill>
                  <a:srgbClr val="1B2430"/>
                </a:solidFill>
                <a:latin typeface="Consolas" pitchFamily="34" charset="0"/>
                <a:ea typeface="Consolas" pitchFamily="34" charset="-122"/>
                <a:cs typeface="Consolas" pitchFamily="34" charset="-120"/>
              </a:rPr>
              <a:t>$env:VITE_API_URL="http://localhost:8010"</a:t>
            </a:r>
            <a:endParaRPr lang="en-US" sz="1100" dirty="0"/>
          </a:p>
          <a:p>
            <a:pPr indent="0" marL="0">
              <a:buNone/>
            </a:pPr>
            <a:r>
              <a:rPr lang="en-US" sz="1100" dirty="0">
                <a:solidFill>
                  <a:srgbClr val="1B2430"/>
                </a:solidFill>
                <a:latin typeface="Consolas" pitchFamily="34" charset="0"/>
                <a:ea typeface="Consolas" pitchFamily="34" charset="-122"/>
                <a:cs typeface="Consolas" pitchFamily="34" charset="-120"/>
              </a:rPr>
              <a:t>npm run dev            # then open http://localhost:5173</a:t>
            </a:r>
            <a:endParaRPr lang="en-US" sz="1100" dirty="0"/>
          </a:p>
        </p:txBody>
      </p:sp>
      <p:sp>
        <p:nvSpPr>
          <p:cNvPr id="8" name="Shape 4"/>
          <p:cNvSpPr/>
          <p:nvPr/>
        </p:nvSpPr>
        <p:spPr>
          <a:xfrm>
            <a:off x="7040880" y="4691380"/>
            <a:ext cx="4572000" cy="1188720"/>
          </a:xfrm>
          <a:prstGeom prst="rect">
            <a:avLst/>
          </a:prstGeom>
          <a:solidFill>
            <a:srgbClr val="DCE8F3"/>
          </a:solidFill>
          <a:ln w="12700">
            <a:solidFill>
              <a:srgbClr val="DCE8F3"/>
            </a:solidFill>
            <a:prstDash val="solid"/>
          </a:ln>
        </p:spPr>
      </p:sp>
      <p:sp>
        <p:nvSpPr>
          <p:cNvPr id="9" name="Shape 5"/>
          <p:cNvSpPr/>
          <p:nvPr/>
        </p:nvSpPr>
        <p:spPr>
          <a:xfrm>
            <a:off x="7040880" y="4691380"/>
            <a:ext cx="64008" cy="1188720"/>
          </a:xfrm>
          <a:prstGeom prst="rect">
            <a:avLst/>
          </a:prstGeom>
          <a:solidFill>
            <a:srgbClr val="1F4E79"/>
          </a:solidFill>
          <a:ln w="12700">
            <a:solidFill>
              <a:srgbClr val="1F4E79"/>
            </a:solidFill>
            <a:prstDash val="solid"/>
          </a:ln>
        </p:spPr>
      </p:sp>
      <p:sp>
        <p:nvSpPr>
          <p:cNvPr id="10" name="Text 6"/>
          <p:cNvSpPr/>
          <p:nvPr/>
        </p:nvSpPr>
        <p:spPr>
          <a:xfrm>
            <a:off x="7242048" y="4691380"/>
            <a:ext cx="4251960" cy="118872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Port 8010 is used because another program occupies 8000 on this machine.</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1: create a task and watch it become a process</a:t>
            </a:r>
            <a:endParaRPr lang="en-US" sz="2800" dirty="0"/>
          </a:p>
        </p:txBody>
      </p:sp>
      <p:sp>
        <p:nvSpPr>
          <p:cNvPr id="5" name="Shape 2"/>
          <p:cNvSpPr/>
          <p:nvPr/>
        </p:nvSpPr>
        <p:spPr>
          <a:xfrm>
            <a:off x="548640" y="1463040"/>
            <a:ext cx="5486400" cy="3429000"/>
          </a:xfrm>
          <a:prstGeom prst="rect">
            <a:avLst/>
          </a:prstGeom>
          <a:solidFill>
            <a:srgbClr val="FFFFFF"/>
          </a:solidFill>
          <a:ln w="9525">
            <a:solidFill>
              <a:srgbClr val="D5DAE1"/>
            </a:solidFill>
            <a:prstDash val="solid"/>
          </a:ln>
        </p:spPr>
      </p:sp>
      <p:pic>
        <p:nvPicPr>
          <p:cNvPr id="6" name="Image 0" descr="D:/Downloads/Projects/OS/procura/docs/screenshots/03_processes_create_form.png">    </p:cNvPr>
          <p:cNvPicPr>
            <a:picLocks noChangeAspect="1"/>
          </p:cNvPicPr>
          <p:nvPr/>
        </p:nvPicPr>
        <p:blipFill>
          <a:blip r:embed="rId1"/>
          <a:stretch>
            <a:fillRect/>
          </a:stretch>
        </p:blipFill>
        <p:spPr>
          <a:xfrm>
            <a:off x="548640" y="1463040"/>
            <a:ext cx="5486400" cy="3429000"/>
          </a:xfrm>
          <a:prstGeom prst="rect">
            <a:avLst/>
          </a:prstGeom>
        </p:spPr>
      </p:pic>
      <p:sp>
        <p:nvSpPr>
          <p:cNvPr id="7" name="Shape 3"/>
          <p:cNvSpPr/>
          <p:nvPr/>
        </p:nvSpPr>
        <p:spPr>
          <a:xfrm>
            <a:off x="6309360" y="1463040"/>
            <a:ext cx="5394960" cy="3371850"/>
          </a:xfrm>
          <a:prstGeom prst="rect">
            <a:avLst/>
          </a:prstGeom>
          <a:solidFill>
            <a:srgbClr val="FFFFFF"/>
          </a:solidFill>
          <a:ln w="9525">
            <a:solidFill>
              <a:srgbClr val="D5DAE1"/>
            </a:solidFill>
            <a:prstDash val="solid"/>
          </a:ln>
        </p:spPr>
      </p:sp>
      <p:pic>
        <p:nvPicPr>
          <p:cNvPr id="8" name="Image 1" descr="D:/Downloads/Projects/OS/procura/docs/screenshots/04_processes_after_create.png">    </p:cNvPr>
          <p:cNvPicPr>
            <a:picLocks noChangeAspect="1"/>
          </p:cNvPicPr>
          <p:nvPr/>
        </p:nvPicPr>
        <p:blipFill>
          <a:blip r:embed="rId2"/>
          <a:stretch>
            <a:fillRect/>
          </a:stretch>
        </p:blipFill>
        <p:spPr>
          <a:xfrm>
            <a:off x="6309360" y="1463040"/>
            <a:ext cx="5394960" cy="3371850"/>
          </a:xfrm>
          <a:prstGeom prst="rect">
            <a:avLst/>
          </a:prstGeom>
        </p:spPr>
      </p:pic>
      <p:sp>
        <p:nvSpPr>
          <p:cNvPr id="9" name="Text 4"/>
          <p:cNvSpPr/>
          <p:nvPr/>
        </p:nvSpPr>
        <p:spPr>
          <a:xfrm>
            <a:off x="548640" y="4983480"/>
            <a:ext cx="548640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1. Fill in the form: priority, burst time (minutes), memory (MB), CPU (%).</a:t>
            </a:r>
            <a:endParaRPr lang="en-US" sz="1100" dirty="0"/>
          </a:p>
        </p:txBody>
      </p:sp>
      <p:sp>
        <p:nvSpPr>
          <p:cNvPr id="10" name="Text 5"/>
          <p:cNvSpPr/>
          <p:nvPr/>
        </p:nvSpPr>
        <p:spPr>
          <a:xfrm>
            <a:off x="6309360" y="4983480"/>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2. The task is admitted as the next PID, state READY, saved in SQLite.</a:t>
            </a:r>
            <a:endParaRPr lang="en-US" sz="1100" dirty="0"/>
          </a:p>
        </p:txBody>
      </p:sp>
      <p:sp>
        <p:nvSpPr>
          <p:cNvPr id="11" name="Text 6"/>
          <p:cNvSpPr/>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Functions: post_process, create_process, validate_transition, database.create_process</a:t>
            </a:r>
            <a:endParaRPr lang="en-US" sz="11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2: run the same tasks under different policies</a:t>
            </a:r>
            <a:endParaRPr lang="en-US" sz="2800" dirty="0"/>
          </a:p>
        </p:txBody>
      </p:sp>
      <p:sp>
        <p:nvSpPr>
          <p:cNvPr id="5" name="Shape 2"/>
          <p:cNvSpPr/>
          <p:nvPr/>
        </p:nvSpPr>
        <p:spPr>
          <a:xfrm>
            <a:off x="548640" y="1463040"/>
            <a:ext cx="5486400" cy="3723640"/>
          </a:xfrm>
          <a:prstGeom prst="rect">
            <a:avLst/>
          </a:prstGeom>
          <a:solidFill>
            <a:srgbClr val="FFFFFF"/>
          </a:solidFill>
          <a:ln w="9525">
            <a:solidFill>
              <a:srgbClr val="D5DAE1"/>
            </a:solidFill>
            <a:prstDash val="solid"/>
          </a:ln>
        </p:spPr>
      </p:sp>
      <p:pic>
        <p:nvPicPr>
          <p:cNvPr id="6" name="Image 0" descr="D:/Downloads/Projects/OS/procura/docs/screenshots/06_scheduler_sjf.png">    </p:cNvPr>
          <p:cNvPicPr>
            <a:picLocks noChangeAspect="1"/>
          </p:cNvPicPr>
          <p:nvPr/>
        </p:nvPicPr>
        <p:blipFill>
          <a:blip r:embed="rId1"/>
          <a:stretch>
            <a:fillRect/>
          </a:stretch>
        </p:blipFill>
        <p:spPr>
          <a:xfrm>
            <a:off x="548640" y="1463040"/>
            <a:ext cx="5486400" cy="3723640"/>
          </a:xfrm>
          <a:prstGeom prst="rect">
            <a:avLst/>
          </a:prstGeom>
        </p:spPr>
      </p:pic>
      <p:sp>
        <p:nvSpPr>
          <p:cNvPr id="7" name="Shape 3"/>
          <p:cNvSpPr/>
          <p:nvPr/>
        </p:nvSpPr>
        <p:spPr>
          <a:xfrm>
            <a:off x="6309360" y="1463040"/>
            <a:ext cx="5394960" cy="3661579"/>
          </a:xfrm>
          <a:prstGeom prst="rect">
            <a:avLst/>
          </a:prstGeom>
          <a:solidFill>
            <a:srgbClr val="FFFFFF"/>
          </a:solidFill>
          <a:ln w="9525">
            <a:solidFill>
              <a:srgbClr val="D5DAE1"/>
            </a:solidFill>
            <a:prstDash val="solid"/>
          </a:ln>
        </p:spPr>
      </p:sp>
      <p:pic>
        <p:nvPicPr>
          <p:cNvPr id="8" name="Image 1" descr="D:/Downloads/Projects/OS/procura/docs/screenshots/08_scheduler_round_robin.png">    </p:cNvPr>
          <p:cNvPicPr>
            <a:picLocks noChangeAspect="1"/>
          </p:cNvPicPr>
          <p:nvPr/>
        </p:nvPicPr>
        <p:blipFill>
          <a:blip r:embed="rId2"/>
          <a:stretch>
            <a:fillRect/>
          </a:stretch>
        </p:blipFill>
        <p:spPr>
          <a:xfrm>
            <a:off x="6309360" y="1463040"/>
            <a:ext cx="5394960" cy="3661579"/>
          </a:xfrm>
          <a:prstGeom prst="rect">
            <a:avLst/>
          </a:prstGeom>
        </p:spPr>
      </p:pic>
      <p:sp>
        <p:nvSpPr>
          <p:cNvPr id="9" name="Text 4"/>
          <p:cNvSpPr/>
          <p:nvPr/>
        </p:nvSpPr>
        <p:spPr>
          <a:xfrm>
            <a:off x="548640" y="5278120"/>
            <a:ext cx="548640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SJF: shortest first. Lowest average wait, long tasks wait longest.</a:t>
            </a:r>
            <a:endParaRPr lang="en-US" sz="1100" dirty="0"/>
          </a:p>
        </p:txBody>
      </p:sp>
      <p:sp>
        <p:nvSpPr>
          <p:cNvPr id="10" name="Text 5"/>
          <p:cNvSpPr/>
          <p:nvPr/>
        </p:nvSpPr>
        <p:spPr>
          <a:xfrm>
            <a:off x="6309360" y="5278120"/>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Round Robin: every task gets a turn, so each starts early.</a:t>
            </a:r>
            <a:endParaRPr lang="en-US" sz="1100" dirty="0"/>
          </a:p>
        </p:txBody>
      </p:sp>
      <p:sp>
        <p:nvSpPr>
          <p:cNvPr id="11" name="Text 6"/>
          <p:cNvSpPr/>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Functions: get_schedule, run_schedule, sjf, round_robin, _build_metrics</a:t>
            </a:r>
            <a:endParaRPr lang="en-US" sz="11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3: memory contention, detected and recovered</a:t>
            </a:r>
            <a:endParaRPr lang="en-US" sz="2800" dirty="0"/>
          </a:p>
        </p:txBody>
      </p:sp>
      <p:sp>
        <p:nvSpPr>
          <p:cNvPr id="5" name="Shape 2"/>
          <p:cNvSpPr/>
          <p:nvPr/>
        </p:nvSpPr>
        <p:spPr>
          <a:xfrm>
            <a:off x="548640" y="1463040"/>
            <a:ext cx="5486400" cy="3429000"/>
          </a:xfrm>
          <a:prstGeom prst="rect">
            <a:avLst/>
          </a:prstGeom>
          <a:solidFill>
            <a:srgbClr val="FFFFFF"/>
          </a:solidFill>
          <a:ln w="9525">
            <a:solidFill>
              <a:srgbClr val="D5DAE1"/>
            </a:solidFill>
            <a:prstDash val="solid"/>
          </a:ln>
        </p:spPr>
      </p:sp>
      <p:pic>
        <p:nvPicPr>
          <p:cNvPr id="6" name="Image 0" descr="D:/Downloads/Projects/OS/procura/docs/screenshots/11_dashboard_contention.png">    </p:cNvPr>
          <p:cNvPicPr>
            <a:picLocks noChangeAspect="1"/>
          </p:cNvPicPr>
          <p:nvPr/>
        </p:nvPicPr>
        <p:blipFill>
          <a:blip r:embed="rId1"/>
          <a:stretch>
            <a:fillRect/>
          </a:stretch>
        </p:blipFill>
        <p:spPr>
          <a:xfrm>
            <a:off x="548640" y="1463040"/>
            <a:ext cx="5486400" cy="3429000"/>
          </a:xfrm>
          <a:prstGeom prst="rect">
            <a:avLst/>
          </a:prstGeom>
        </p:spPr>
      </p:pic>
      <p:sp>
        <p:nvSpPr>
          <p:cNvPr id="7" name="Shape 3"/>
          <p:cNvSpPr/>
          <p:nvPr/>
        </p:nvSpPr>
        <p:spPr>
          <a:xfrm>
            <a:off x="6309360" y="1463040"/>
            <a:ext cx="5394960" cy="3371850"/>
          </a:xfrm>
          <a:prstGeom prst="rect">
            <a:avLst/>
          </a:prstGeom>
          <a:solidFill>
            <a:srgbClr val="FFFFFF"/>
          </a:solidFill>
          <a:ln w="9525">
            <a:solidFill>
              <a:srgbClr val="D5DAE1"/>
            </a:solidFill>
            <a:prstDash val="solid"/>
          </a:ln>
        </p:spPr>
      </p:sp>
      <p:pic>
        <p:nvPicPr>
          <p:cNvPr id="8" name="Image 1" descr="D:/Downloads/Projects/OS/procura/docs/screenshots/13_errors_after_detect.png">    </p:cNvPr>
          <p:cNvPicPr>
            <a:picLocks noChangeAspect="1"/>
          </p:cNvPicPr>
          <p:nvPr/>
        </p:nvPicPr>
        <p:blipFill>
          <a:blip r:embed="rId2"/>
          <a:stretch>
            <a:fillRect/>
          </a:stretch>
        </p:blipFill>
        <p:spPr>
          <a:xfrm>
            <a:off x="6309360" y="1463040"/>
            <a:ext cx="5394960" cy="3371850"/>
          </a:xfrm>
          <a:prstGeom prst="rect">
            <a:avLst/>
          </a:prstGeom>
        </p:spPr>
      </p:pic>
      <p:sp>
        <p:nvSpPr>
          <p:cNvPr id="9" name="Text 4"/>
          <p:cNvSpPr/>
          <p:nvPr/>
        </p:nvSpPr>
        <p:spPr>
          <a:xfrm>
            <a:off x="548640" y="4983480"/>
            <a:ext cx="548640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Before: P3 holds 1200 MB and P1 600 MB; 248 MB of 2048 MB is free.</a:t>
            </a:r>
            <a:endParaRPr lang="en-US" sz="1100" dirty="0"/>
          </a:p>
        </p:txBody>
      </p:sp>
      <p:sp>
        <p:nvSpPr>
          <p:cNvPr id="10" name="Text 5"/>
          <p:cNvSpPr/>
          <p:nvPr/>
        </p:nvSpPr>
        <p:spPr>
          <a:xfrm>
            <a:off x="6309360" y="4983480"/>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After one detection pass: suspend_and_retry, retry, and memory_failure_no_victim.</a:t>
            </a:r>
            <a:endParaRPr lang="en-US" sz="1100" dirty="0"/>
          </a:p>
        </p:txBody>
      </p:sp>
      <p:sp>
        <p:nvSpPr>
          <p:cNvPr id="11" name="Text 6"/>
          <p:cNvSpPr/>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Functions: detect_memory_failure, diagnose, recover_memory_failure, _lowest_priority_pid</a:t>
            </a:r>
            <a:endParaRPr lang="en-US" sz="11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4, step 1: build a deadlock with four API calls</a:t>
            </a:r>
            <a:endParaRPr lang="en-US" sz="2800" dirty="0"/>
          </a:p>
        </p:txBody>
      </p:sp>
      <p:sp>
        <p:nvSpPr>
          <p:cNvPr id="5" name="Shape 2"/>
          <p:cNvSpPr/>
          <p:nvPr/>
        </p:nvSpPr>
        <p:spPr>
          <a:xfrm>
            <a:off x="548640" y="1463040"/>
            <a:ext cx="11064240" cy="1600200"/>
          </a:xfrm>
          <a:prstGeom prst="rect">
            <a:avLst/>
          </a:prstGeom>
          <a:solidFill>
            <a:srgbClr val="F3F5F8"/>
          </a:solidFill>
          <a:ln w="9525">
            <a:solidFill>
              <a:srgbClr val="D5DAE1"/>
            </a:solidFill>
            <a:prstDash val="solid"/>
          </a:ln>
        </p:spPr>
      </p:sp>
      <p:sp>
        <p:nvSpPr>
          <p:cNvPr id="6" name="Text 3"/>
          <p:cNvSpPr/>
          <p:nvPr/>
        </p:nvSpPr>
        <p:spPr>
          <a:xfrm>
            <a:off x="658368" y="1517904"/>
            <a:ext cx="10844784" cy="1490472"/>
          </a:xfrm>
          <a:prstGeom prst="rect">
            <a:avLst/>
          </a:prstGeom>
          <a:noFill/>
          <a:ln/>
        </p:spPr>
        <p:txBody>
          <a:bodyPr wrap="square" lIns="0" tIns="0" rIns="0" bIns="0" rtlCol="0" anchor="t"/>
          <a:lstStyle/>
          <a:p>
            <a:pPr indent="0" marL="0">
              <a:buNone/>
            </a:pPr>
            <a:r>
              <a:rPr lang="en-US" sz="1050" dirty="0">
                <a:solidFill>
                  <a:srgbClr val="1B2430"/>
                </a:solidFill>
                <a:latin typeface="Consolas" pitchFamily="34" charset="0"/>
                <a:ea typeface="Consolas" pitchFamily="34" charset="-122"/>
                <a:cs typeface="Consolas" pitchFamily="34" charset="-120"/>
              </a:rPr>
              <a:t>A=http://localhost:8010; J="Content-Type: application/json"</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curl -X POST $A/resources/allocate -H "$J" -d '{"pid":1,"resource":"file","amount":64}'</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curl -X POST $A/resources/allocate -H "$J" -d '{"pid":3,"resource":"database","amount":20}'</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curl -X POST $A/resources/allocate -H "$J" -d '{"pid":1,"resource":"database","amount":5}'   # fails</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curl -X POST $A/resources/allocate -H "$J" -d '{"pid":3,"resource":"file","amount":5}'       # fails</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curl $A/resources          # waiting_for_graph: {1:[3], 3:[1]}</a:t>
            </a:r>
            <a:endParaRPr lang="en-US" sz="10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486400" cy="914400"/>
        </p:xfrm>
        <a:graphic>
          <a:graphicData uri="http://schemas.openxmlformats.org/drawingml/2006/table">
            <a:tbl>
              <a:tblPr/>
              <a:tblGrid>
                <a:gridCol w="3017520"/>
                <a:gridCol w="24688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Call</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329184">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P1 takes 64 file handles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success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P3 takes 20 database connections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success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P1 asks for 5 connections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fails: P1 waits for P3</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P3 asks for 5 file handles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200" dirty="0">
                          <a:solidFill>
                            <a:srgbClr val="1B2430"/>
                          </a:solidFill>
                          <a:latin typeface="Calibri" pitchFamily="34" charset="0"/>
                          <a:ea typeface="Calibri" pitchFamily="34" charset="-122"/>
                          <a:cs typeface="Calibri" pitchFamily="34" charset="-120"/>
                        </a:rPr>
                        <a:t>fails: P3 waits for P1</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8" name="Shape 4"/>
          <p:cNvSpPr/>
          <p:nvPr/>
        </p:nvSpPr>
        <p:spPr>
          <a:xfrm>
            <a:off x="6309360" y="3200400"/>
            <a:ext cx="5394960" cy="1414678"/>
          </a:xfrm>
          <a:prstGeom prst="rect">
            <a:avLst/>
          </a:prstGeom>
          <a:solidFill>
            <a:srgbClr val="FFFFFF"/>
          </a:solidFill>
          <a:ln w="9525">
            <a:solidFill>
              <a:srgbClr val="D5DAE1"/>
            </a:solidFill>
            <a:prstDash val="solid"/>
          </a:ln>
        </p:spPr>
      </p:sp>
      <p:pic>
        <p:nvPicPr>
          <p:cNvPr id="9" name="Image 0" descr="C:/Users/HARSHIT/AppData/Local/Temp/claude/d--Downloads-Projects-OS/effadfc7-8abf-4dfd-9648-ceb1d407b67d/scratchpad/procura_paper/crops/d07c.png">    </p:cNvPr>
          <p:cNvPicPr>
            <a:picLocks noChangeAspect="1"/>
          </p:cNvPicPr>
          <p:nvPr/>
        </p:nvPicPr>
        <p:blipFill>
          <a:blip r:embed="rId1"/>
          <a:stretch>
            <a:fillRect/>
          </a:stretch>
        </p:blipFill>
        <p:spPr>
          <a:xfrm>
            <a:off x="6309360" y="3200400"/>
            <a:ext cx="5394960" cy="1414678"/>
          </a:xfrm>
          <a:prstGeom prst="rect">
            <a:avLst/>
          </a:prstGeom>
        </p:spPr>
      </p:pic>
      <p:sp>
        <p:nvSpPr>
          <p:cNvPr id="10" name="Text 5"/>
          <p:cNvSpPr/>
          <p:nvPr/>
        </p:nvSpPr>
        <p:spPr>
          <a:xfrm>
            <a:off x="6309360" y="4846320"/>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procura_top while deadlocked: both pools full, WAIT-FOR GRAPH 1 to [3], 3 to [1].</a:t>
            </a:r>
            <a:endParaRPr lang="en-US" sz="1100" dirty="0"/>
          </a:p>
        </p:txBody>
      </p:sp>
      <p:sp>
        <p:nvSpPr>
          <p:cNvPr id="11" name="Text 6"/>
          <p:cNvSpPr/>
          <p:nvPr/>
        </p:nvSpPr>
        <p:spPr>
          <a:xfrm>
            <a:off x="548640" y="5120640"/>
            <a:ext cx="548640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Functions: allocate, _record_wait, wait_graph</a:t>
            </a:r>
            <a:endParaRPr lang="en-US" sz="1100" dirty="0"/>
          </a:p>
        </p:txBody>
      </p:sp>
      <p:sp>
        <p:nvSpPr>
          <p:cNvPr id="12" name="Shape 7"/>
          <p:cNvSpPr/>
          <p:nvPr/>
        </p:nvSpPr>
        <p:spPr>
          <a:xfrm>
            <a:off x="548640" y="5532120"/>
            <a:ext cx="5486400" cy="640080"/>
          </a:xfrm>
          <a:prstGeom prst="rect">
            <a:avLst/>
          </a:prstGeom>
          <a:solidFill>
            <a:srgbClr val="FBEBD9"/>
          </a:solidFill>
          <a:ln w="12700">
            <a:solidFill>
              <a:srgbClr val="FBEBD9"/>
            </a:solidFill>
            <a:prstDash val="solid"/>
          </a:ln>
        </p:spPr>
      </p:sp>
      <p:sp>
        <p:nvSpPr>
          <p:cNvPr id="13" name="Shape 8"/>
          <p:cNvSpPr/>
          <p:nvPr/>
        </p:nvSpPr>
        <p:spPr>
          <a:xfrm>
            <a:off x="548640" y="5532120"/>
            <a:ext cx="64008" cy="640080"/>
          </a:xfrm>
          <a:prstGeom prst="rect">
            <a:avLst/>
          </a:prstGeom>
          <a:solidFill>
            <a:srgbClr val="9A4A00"/>
          </a:solidFill>
          <a:ln w="12700">
            <a:solidFill>
              <a:srgbClr val="9A4A00"/>
            </a:solidFill>
            <a:prstDash val="solid"/>
          </a:ln>
        </p:spPr>
      </p:sp>
      <p:sp>
        <p:nvSpPr>
          <p:cNvPr id="14" name="Text 9"/>
          <p:cNvSpPr/>
          <p:nvPr/>
        </p:nvSpPr>
        <p:spPr>
          <a:xfrm>
            <a:off x="749808" y="5532120"/>
            <a:ext cx="5166360" cy="64008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Both pools are at 100% and each task waits for the other: hold and wait, plus circular wait.</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4, step 2: one detection pass finds and resolves it</a:t>
            </a:r>
            <a:endParaRPr lang="en-US" sz="2800" dirty="0"/>
          </a:p>
        </p:txBody>
      </p:sp>
      <p:sp>
        <p:nvSpPr>
          <p:cNvPr id="5" name="Shape 2"/>
          <p:cNvSpPr/>
          <p:nvPr/>
        </p:nvSpPr>
        <p:spPr>
          <a:xfrm>
            <a:off x="2282483" y="1417320"/>
            <a:ext cx="7596554" cy="1828800"/>
          </a:xfrm>
          <a:prstGeom prst="rect">
            <a:avLst/>
          </a:prstGeom>
          <a:solidFill>
            <a:srgbClr val="FFFFFF"/>
          </a:solidFill>
          <a:ln w="9525">
            <a:solidFill>
              <a:srgbClr val="D5DAE1"/>
            </a:solidFill>
            <a:prstDash val="solid"/>
          </a:ln>
        </p:spPr>
      </p:sp>
      <p:pic>
        <p:nvPicPr>
          <p:cNvPr id="6" name="Image 0" descr="C:/Users/HARSHIT/AppData/Local/Temp/claude/d--Downloads-Projects-OS/effadfc7-8abf-4dfd-9648-ceb1d407b67d/scratchpad/procura_paper/crops/d03c.png">    </p:cNvPr>
          <p:cNvPicPr>
            <a:picLocks noChangeAspect="1"/>
          </p:cNvPicPr>
          <p:nvPr/>
        </p:nvPicPr>
        <p:blipFill>
          <a:blip r:embed="rId1"/>
          <a:stretch>
            <a:fillRect/>
          </a:stretch>
        </p:blipFill>
        <p:spPr>
          <a:xfrm>
            <a:off x="2282483" y="1417320"/>
            <a:ext cx="7596554" cy="1828800"/>
          </a:xfrm>
          <a:prstGeom prst="rect">
            <a:avLst/>
          </a:prstGeom>
        </p:spPr>
      </p:pic>
      <p:sp>
        <p:nvSpPr>
          <p:cNvPr id="7" name="Text 3"/>
          <p:cNvSpPr/>
          <p:nvPr/>
        </p:nvSpPr>
        <p:spPr>
          <a:xfrm>
            <a:off x="548640" y="3291840"/>
            <a:ext cx="1106424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Error Monitor after one detection pass: the cycle, each member's name and priority, and the action terminate_and_resume (target P3).</a:t>
            </a:r>
            <a:endParaRPr lang="en-US" sz="1100" dirty="0"/>
          </a:p>
        </p:txBody>
      </p:sp>
      <p:sp>
        <p:nvSpPr>
          <p:cNvPr id="8" name="Shape 4"/>
          <p:cNvSpPr/>
          <p:nvPr/>
        </p:nvSpPr>
        <p:spPr>
          <a:xfrm>
            <a:off x="572494" y="3794760"/>
            <a:ext cx="5438692" cy="1737360"/>
          </a:xfrm>
          <a:prstGeom prst="rect">
            <a:avLst/>
          </a:prstGeom>
          <a:solidFill>
            <a:srgbClr val="FFFFFF"/>
          </a:solidFill>
          <a:ln w="9525">
            <a:solidFill>
              <a:srgbClr val="D5DAE1"/>
            </a:solidFill>
            <a:prstDash val="solid"/>
          </a:ln>
        </p:spPr>
      </p:sp>
      <p:pic>
        <p:nvPicPr>
          <p:cNvPr id="9" name="Image 1" descr="C:/Users/HARSHIT/AppData/Local/Temp/claude/d--Downloads-Projects-OS/effadfc7-8abf-4dfd-9648-ceb1d407b67d/scratchpad/procura_paper/crops/d05c.png">    </p:cNvPr>
          <p:cNvPicPr>
            <a:picLocks noChangeAspect="1"/>
          </p:cNvPicPr>
          <p:nvPr/>
        </p:nvPicPr>
        <p:blipFill>
          <a:blip r:embed="rId2"/>
          <a:stretch>
            <a:fillRect/>
          </a:stretch>
        </p:blipFill>
        <p:spPr>
          <a:xfrm>
            <a:off x="572494" y="3794760"/>
            <a:ext cx="5438692" cy="1737360"/>
          </a:xfrm>
          <a:prstGeom prst="rect">
            <a:avLst/>
          </a:prstGeom>
        </p:spPr>
      </p:pic>
      <p:sp>
        <p:nvSpPr>
          <p:cNvPr id="10" name="Shape 5"/>
          <p:cNvSpPr/>
          <p:nvPr/>
        </p:nvSpPr>
        <p:spPr>
          <a:xfrm>
            <a:off x="6309360" y="3794760"/>
            <a:ext cx="5394960" cy="1414678"/>
          </a:xfrm>
          <a:prstGeom prst="rect">
            <a:avLst/>
          </a:prstGeom>
          <a:solidFill>
            <a:srgbClr val="FFFFFF"/>
          </a:solidFill>
          <a:ln w="9525">
            <a:solidFill>
              <a:srgbClr val="D5DAE1"/>
            </a:solidFill>
            <a:prstDash val="solid"/>
          </a:ln>
        </p:spPr>
      </p:sp>
      <p:pic>
        <p:nvPicPr>
          <p:cNvPr id="11" name="Image 2" descr="C:/Users/HARSHIT/AppData/Local/Temp/claude/d--Downloads-Projects-OS/effadfc7-8abf-4dfd-9648-ceb1d407b67d/scratchpad/procura_paper/crops/d08c.png">    </p:cNvPr>
          <p:cNvPicPr>
            <a:picLocks noChangeAspect="1"/>
          </p:cNvPicPr>
          <p:nvPr/>
        </p:nvPicPr>
        <p:blipFill>
          <a:blip r:embed="rId3"/>
          <a:stretch>
            <a:fillRect/>
          </a:stretch>
        </p:blipFill>
        <p:spPr>
          <a:xfrm>
            <a:off x="6309360" y="3794760"/>
            <a:ext cx="5394960" cy="1414678"/>
          </a:xfrm>
          <a:prstGeom prst="rect">
            <a:avLst/>
          </a:prstGeom>
        </p:spPr>
      </p:pic>
      <p:sp>
        <p:nvSpPr>
          <p:cNvPr id="12" name="Text 6"/>
          <p:cNvSpPr/>
          <p:nvPr/>
        </p:nvSpPr>
        <p:spPr>
          <a:xfrm>
            <a:off x="548640" y="5577840"/>
            <a:ext cx="548640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Dashboard afterwards: P3 TERMINATED, connections released, P1 READY.</a:t>
            </a:r>
            <a:endParaRPr lang="en-US" sz="1100" dirty="0"/>
          </a:p>
        </p:txBody>
      </p:sp>
      <p:sp>
        <p:nvSpPr>
          <p:cNvPr id="13" name="Text 7"/>
          <p:cNvSpPr/>
          <p:nvPr/>
        </p:nvSpPr>
        <p:spPr>
          <a:xfrm>
            <a:off x="6309360" y="5577840"/>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procura_top afterwards: wait-for graph empty, event in the feed.</a:t>
            </a:r>
            <a:endParaRPr lang="en-US" sz="1100" dirty="0"/>
          </a:p>
        </p:txBody>
      </p:sp>
      <p:sp>
        <p:nvSpPr>
          <p:cNvPr id="14" name="Text 8"/>
          <p:cNvSpPr/>
          <p:nvPr/>
        </p:nvSpPr>
        <p:spPr>
          <a:xfrm>
            <a:off x="548640" y="5943600"/>
            <a:ext cx="1106424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detect_deadlock &gt; detect_cycle &gt; diagnose &gt; recover_deadlock &gt; release_all_for_pid &gt; log_recovery_action</a:t>
            </a:r>
            <a:endParaRPr lang="en-US" sz="11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4, step 3: the AI explains what happened and why</a:t>
            </a:r>
            <a:endParaRPr lang="en-US" sz="2800" dirty="0"/>
          </a:p>
        </p:txBody>
      </p:sp>
      <p:sp>
        <p:nvSpPr>
          <p:cNvPr id="5" name="Shape 2"/>
          <p:cNvSpPr/>
          <p:nvPr/>
        </p:nvSpPr>
        <p:spPr>
          <a:xfrm>
            <a:off x="548640" y="1463040"/>
            <a:ext cx="5486400" cy="3429000"/>
          </a:xfrm>
          <a:prstGeom prst="rect">
            <a:avLst/>
          </a:prstGeom>
          <a:solidFill>
            <a:srgbClr val="FFFFFF"/>
          </a:solidFill>
          <a:ln w="9525">
            <a:solidFill>
              <a:srgbClr val="D5DAE1"/>
            </a:solidFill>
            <a:prstDash val="solid"/>
          </a:ln>
        </p:spPr>
      </p:sp>
      <p:pic>
        <p:nvPicPr>
          <p:cNvPr id="6" name="Image 0" descr="D:/Downloads/Projects/OS/procura/docs/demo_deadlock/d04_errors_deadlock_diagnosis.png">    </p:cNvPr>
          <p:cNvPicPr>
            <a:picLocks noChangeAspect="1"/>
          </p:cNvPicPr>
          <p:nvPr/>
        </p:nvPicPr>
        <p:blipFill>
          <a:blip r:embed="rId1"/>
          <a:stretch>
            <a:fillRect/>
          </a:stretch>
        </p:blipFill>
        <p:spPr>
          <a:xfrm>
            <a:off x="548640" y="1463040"/>
            <a:ext cx="5486400" cy="3429000"/>
          </a:xfrm>
          <a:prstGeom prst="rect">
            <a:avLst/>
          </a:prstGeom>
        </p:spPr>
      </p:pic>
      <p:sp>
        <p:nvSpPr>
          <p:cNvPr id="7" name="Shape 3"/>
          <p:cNvSpPr/>
          <p:nvPr/>
        </p:nvSpPr>
        <p:spPr>
          <a:xfrm>
            <a:off x="6309360" y="1463040"/>
            <a:ext cx="5394960" cy="2322830"/>
          </a:xfrm>
          <a:prstGeom prst="rect">
            <a:avLst/>
          </a:prstGeom>
          <a:solidFill>
            <a:srgbClr val="FFFFFF"/>
          </a:solidFill>
          <a:ln w="9525">
            <a:solidFill>
              <a:srgbClr val="D5DAE1"/>
            </a:solidFill>
            <a:prstDash val="solid"/>
          </a:ln>
        </p:spPr>
      </p:sp>
      <p:pic>
        <p:nvPicPr>
          <p:cNvPr id="8" name="Image 1" descr="C:/Users/HARSHIT/AppData/Local/Temp/claude/d--Downloads-Projects-OS/effadfc7-8abf-4dfd-9648-ceb1d407b67d/scratchpad/procura_paper/crops/d06c.png">    </p:cNvPr>
          <p:cNvPicPr>
            <a:picLocks noChangeAspect="1"/>
          </p:cNvPicPr>
          <p:nvPr/>
        </p:nvPicPr>
        <p:blipFill>
          <a:blip r:embed="rId2"/>
          <a:stretch>
            <a:fillRect/>
          </a:stretch>
        </p:blipFill>
        <p:spPr>
          <a:xfrm>
            <a:off x="6309360" y="1463040"/>
            <a:ext cx="5394960" cy="2322830"/>
          </a:xfrm>
          <a:prstGeom prst="rect">
            <a:avLst/>
          </a:prstGeom>
        </p:spPr>
      </p:pic>
      <p:sp>
        <p:nvSpPr>
          <p:cNvPr id="9" name="Text 4"/>
          <p:cNvSpPr/>
          <p:nvPr/>
        </p:nvSpPr>
        <p:spPr>
          <a:xfrm>
            <a:off x="548640" y="4983480"/>
            <a:ext cx="548640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Diagnosis written from the recorded cycle, priorities and the fixed rule.</a:t>
            </a:r>
            <a:endParaRPr lang="en-US" sz="1100" dirty="0"/>
          </a:p>
        </p:txBody>
      </p:sp>
      <p:sp>
        <p:nvSpPr>
          <p:cNvPr id="10" name="Text 5"/>
          <p:cNvSpPr/>
          <p:nvPr/>
        </p:nvSpPr>
        <p:spPr>
          <a:xfrm>
            <a:off x="6309360" y="4983480"/>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Asking afterwards: why was P3 terminated, and was that right?</a:t>
            </a:r>
            <a:endParaRPr lang="en-US" sz="1100" dirty="0"/>
          </a:p>
        </p:txBody>
      </p:sp>
      <p:sp>
        <p:nvSpPr>
          <p:cNvPr id="11" name="Text 6"/>
          <p:cNvSpPr/>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Functions: _incident_facts_for, answer_question, _build_prompt, _call_groq</a:t>
            </a:r>
            <a:endParaRPr lang="en-US" sz="11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Why the explanation can be trusted: what the model is given</a:t>
            </a:r>
            <a:endParaRPr 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108960"/>
                <a:gridCol w="795528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Given to the model</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Example from this demo</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The recorded incident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Circular wait among pids 1, 3, 1. pid 1 (Finish OS term paper, High priority) holds 64 file handles and waits for pid 3; pid 3 (Weekly grocery run, Low priority) holds 20 database connections and waits for pid 1.</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The fixed policy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Terminate the process with the lowest effective priority in the cycle, release its resources, return the others to READY.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Passages from the knowledge base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Deadlocks and Error_Recovery documents (Coffman conditions, detection, runbooks).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4297680"/>
          <a:ext cx="11064240" cy="914400"/>
        </p:xfrm>
        <a:graphic>
          <a:graphicData uri="http://schemas.openxmlformats.org/drawingml/2006/table">
            <a:tbl>
              <a:tblPr/>
              <a:tblGrid>
                <a:gridCol w="5486400"/>
                <a:gridCol w="557784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Before the fix</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9A4A0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After the fix</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9A4A00"/>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"pid 3's priority isn't specified ... if it is lower, Procura will terminate pid 3."</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"pid 3 (Weekly grocery run, Low priority) has the lower priority, so it is terminated. Its 20 database connections are released."</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7" name="Shape 2"/>
          <p:cNvSpPr/>
          <p:nvPr/>
        </p:nvSpPr>
        <p:spPr>
          <a:xfrm>
            <a:off x="548640" y="5669280"/>
            <a:ext cx="11064240" cy="594360"/>
          </a:xfrm>
          <a:prstGeom prst="rect">
            <a:avLst/>
          </a:prstGeom>
          <a:solidFill>
            <a:srgbClr val="DCE8F3"/>
          </a:solidFill>
          <a:ln w="12700">
            <a:solidFill>
              <a:srgbClr val="DCE8F3"/>
            </a:solidFill>
            <a:prstDash val="solid"/>
          </a:ln>
        </p:spPr>
      </p:sp>
      <p:sp>
        <p:nvSpPr>
          <p:cNvPr id="8" name="Shape 3"/>
          <p:cNvSpPr/>
          <p:nvPr/>
        </p:nvSpPr>
        <p:spPr>
          <a:xfrm>
            <a:off x="548640" y="5669280"/>
            <a:ext cx="64008" cy="594360"/>
          </a:xfrm>
          <a:prstGeom prst="rect">
            <a:avLst/>
          </a:prstGeom>
          <a:solidFill>
            <a:srgbClr val="1F4E79"/>
          </a:solidFill>
          <a:ln w="12700">
            <a:solidFill>
              <a:srgbClr val="1F4E79"/>
            </a:solidFill>
            <a:prstDash val="solid"/>
          </a:ln>
        </p:spPr>
      </p:sp>
      <p:sp>
        <p:nvSpPr>
          <p:cNvPr id="9" name="Text 4"/>
          <p:cNvSpPr/>
          <p:nvPr/>
        </p:nvSpPr>
        <p:spPr>
          <a:xfrm>
            <a:off x="749808" y="5669280"/>
            <a:ext cx="10744200" cy="5943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Found while capturing this demo. Fixed by recording names and priorities in the incident and passing the policy as a fact; two tests added.</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5: the assistant, grounded and general</a:t>
            </a:r>
            <a:endParaRPr lang="en-US" sz="2800" dirty="0"/>
          </a:p>
        </p:txBody>
      </p:sp>
      <p:sp>
        <p:nvSpPr>
          <p:cNvPr id="5" name="Shape 2"/>
          <p:cNvSpPr/>
          <p:nvPr/>
        </p:nvSpPr>
        <p:spPr>
          <a:xfrm>
            <a:off x="548640" y="1463040"/>
            <a:ext cx="5486400" cy="3429000"/>
          </a:xfrm>
          <a:prstGeom prst="rect">
            <a:avLst/>
          </a:prstGeom>
          <a:solidFill>
            <a:srgbClr val="FFFFFF"/>
          </a:solidFill>
          <a:ln w="9525">
            <a:solidFill>
              <a:srgbClr val="D5DAE1"/>
            </a:solidFill>
            <a:prstDash val="solid"/>
          </a:ln>
        </p:spPr>
      </p:sp>
      <p:pic>
        <p:nvPicPr>
          <p:cNvPr id="6" name="Image 0" descr="D:/Downloads/Projects/OS/procura/docs/screenshots/15_assistant_grounded.png">    </p:cNvPr>
          <p:cNvPicPr>
            <a:picLocks noChangeAspect="1"/>
          </p:cNvPicPr>
          <p:nvPr/>
        </p:nvPicPr>
        <p:blipFill>
          <a:blip r:embed="rId1"/>
          <a:stretch>
            <a:fillRect/>
          </a:stretch>
        </p:blipFill>
        <p:spPr>
          <a:xfrm>
            <a:off x="548640" y="1463040"/>
            <a:ext cx="5486400" cy="3429000"/>
          </a:xfrm>
          <a:prstGeom prst="rect">
            <a:avLst/>
          </a:prstGeom>
        </p:spPr>
      </p:pic>
      <p:sp>
        <p:nvSpPr>
          <p:cNvPr id="7" name="Shape 3"/>
          <p:cNvSpPr/>
          <p:nvPr/>
        </p:nvSpPr>
        <p:spPr>
          <a:xfrm>
            <a:off x="6309360" y="1463040"/>
            <a:ext cx="5394960" cy="3371850"/>
          </a:xfrm>
          <a:prstGeom prst="rect">
            <a:avLst/>
          </a:prstGeom>
          <a:solidFill>
            <a:srgbClr val="FFFFFF"/>
          </a:solidFill>
          <a:ln w="9525">
            <a:solidFill>
              <a:srgbClr val="D5DAE1"/>
            </a:solidFill>
            <a:prstDash val="solid"/>
          </a:ln>
        </p:spPr>
      </p:sp>
      <p:pic>
        <p:nvPicPr>
          <p:cNvPr id="8" name="Image 1" descr="D:/Downloads/Projects/OS/procura/docs/screenshots/16_assistant_concept.png">    </p:cNvPr>
          <p:cNvPicPr>
            <a:picLocks noChangeAspect="1"/>
          </p:cNvPicPr>
          <p:nvPr/>
        </p:nvPicPr>
        <p:blipFill>
          <a:blip r:embed="rId2"/>
          <a:stretch>
            <a:fillRect/>
          </a:stretch>
        </p:blipFill>
        <p:spPr>
          <a:xfrm>
            <a:off x="6309360" y="1463040"/>
            <a:ext cx="5394960" cy="3371850"/>
          </a:xfrm>
          <a:prstGeom prst="rect">
            <a:avLst/>
          </a:prstGeom>
        </p:spPr>
      </p:pic>
      <p:sp>
        <p:nvSpPr>
          <p:cNvPr id="9" name="Text 4"/>
          <p:cNvSpPr/>
          <p:nvPr/>
        </p:nvSpPr>
        <p:spPr>
          <a:xfrm>
            <a:off x="548640" y="4983480"/>
            <a:ext cx="548640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Selected process (P5): the answer uses the recorded facts.</a:t>
            </a:r>
            <a:endParaRPr lang="en-US" sz="1100" dirty="0"/>
          </a:p>
        </p:txBody>
      </p:sp>
      <p:sp>
        <p:nvSpPr>
          <p:cNvPr id="10" name="Text 5"/>
          <p:cNvSpPr/>
          <p:nvPr/>
        </p:nvSpPr>
        <p:spPr>
          <a:xfrm>
            <a:off x="6309360" y="4983480"/>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No process selected: a concept question answered from the knowledge base.</a:t>
            </a:r>
            <a:endParaRPr lang="en-US" sz="1100" dirty="0"/>
          </a:p>
        </p:txBody>
      </p:sp>
      <p:sp>
        <p:nvSpPr>
          <p:cNvPr id="11" name="Text 6"/>
          <p:cNvSpPr/>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Functions: ask, _incident_facts_for, search, answer_question</a:t>
            </a:r>
            <a:endParaRPr lang="en-US" sz="11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3  LIVE DEMO</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Demo 6: the terminal dashboard and the benchmark</a:t>
            </a:r>
            <a:endParaRPr lang="en-US" sz="2800" dirty="0"/>
          </a:p>
        </p:txBody>
      </p:sp>
      <p:sp>
        <p:nvSpPr>
          <p:cNvPr id="5" name="Shape 2"/>
          <p:cNvSpPr/>
          <p:nvPr/>
        </p:nvSpPr>
        <p:spPr>
          <a:xfrm>
            <a:off x="548640" y="1463040"/>
            <a:ext cx="5486400" cy="3208181"/>
          </a:xfrm>
          <a:prstGeom prst="rect">
            <a:avLst/>
          </a:prstGeom>
          <a:solidFill>
            <a:srgbClr val="FFFFFF"/>
          </a:solidFill>
          <a:ln w="9525">
            <a:solidFill>
              <a:srgbClr val="D5DAE1"/>
            </a:solidFill>
            <a:prstDash val="solid"/>
          </a:ln>
        </p:spPr>
      </p:sp>
      <p:pic>
        <p:nvPicPr>
          <p:cNvPr id="6" name="Image 0" descr="D:/Downloads/Projects/OS/procura/docs/screenshots/18_cli_procura_top.png">    </p:cNvPr>
          <p:cNvPicPr>
            <a:picLocks noChangeAspect="1"/>
          </p:cNvPicPr>
          <p:nvPr/>
        </p:nvPicPr>
        <p:blipFill>
          <a:blip r:embed="rId1"/>
          <a:stretch>
            <a:fillRect/>
          </a:stretch>
        </p:blipFill>
        <p:spPr>
          <a:xfrm>
            <a:off x="548640" y="1463040"/>
            <a:ext cx="5486400" cy="3208181"/>
          </a:xfrm>
          <a:prstGeom prst="rect">
            <a:avLst/>
          </a:prstGeom>
        </p:spPr>
      </p:pic>
      <p:sp>
        <p:nvSpPr>
          <p:cNvPr id="7" name="Shape 3"/>
          <p:cNvSpPr/>
          <p:nvPr/>
        </p:nvSpPr>
        <p:spPr>
          <a:xfrm>
            <a:off x="6309360" y="1463040"/>
            <a:ext cx="5394960" cy="1177040"/>
          </a:xfrm>
          <a:prstGeom prst="rect">
            <a:avLst/>
          </a:prstGeom>
          <a:solidFill>
            <a:srgbClr val="FFFFFF"/>
          </a:solidFill>
          <a:ln w="9525">
            <a:solidFill>
              <a:srgbClr val="D5DAE1"/>
            </a:solidFill>
            <a:prstDash val="solid"/>
          </a:ln>
        </p:spPr>
      </p:sp>
      <p:pic>
        <p:nvPicPr>
          <p:cNvPr id="8" name="Image 1" descr="D:/Downloads/Projects/OS/procura/docs/screenshots/19_cli_benchmark.png">    </p:cNvPr>
          <p:cNvPicPr>
            <a:picLocks noChangeAspect="1"/>
          </p:cNvPicPr>
          <p:nvPr/>
        </p:nvPicPr>
        <p:blipFill>
          <a:blip r:embed="rId2"/>
          <a:stretch>
            <a:fillRect/>
          </a:stretch>
        </p:blipFill>
        <p:spPr>
          <a:xfrm>
            <a:off x="6309360" y="1463040"/>
            <a:ext cx="5394960" cy="1177040"/>
          </a:xfrm>
          <a:prstGeom prst="rect">
            <a:avLst/>
          </a:prstGeom>
        </p:spPr>
      </p:pic>
      <p:sp>
        <p:nvSpPr>
          <p:cNvPr id="9" name="Text 4"/>
          <p:cNvSpPr/>
          <p:nvPr/>
        </p:nvSpPr>
        <p:spPr>
          <a:xfrm>
            <a:off x="548640" y="4762661"/>
            <a:ext cx="548640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python -m cli.procura_top: process table, resource bars, wait-for graph, AI feed.</a:t>
            </a:r>
            <a:endParaRPr lang="en-US" sz="1100" dirty="0"/>
          </a:p>
        </p:txBody>
      </p:sp>
      <p:sp>
        <p:nvSpPr>
          <p:cNvPr id="10" name="Text 5"/>
          <p:cNvSpPr/>
          <p:nvPr/>
        </p:nvSpPr>
        <p:spPr>
          <a:xfrm>
            <a:off x="6309360" y="4762661"/>
            <a:ext cx="5394960" cy="457200"/>
          </a:xfrm>
          <a:prstGeom prst="rect">
            <a:avLst/>
          </a:prstGeom>
          <a:noFill/>
          <a:ln/>
        </p:spPr>
        <p:txBody>
          <a:bodyPr wrap="square" lIns="0" tIns="0" rIns="0" bIns="0" rtlCol="0" anchor="t"/>
          <a:lstStyle/>
          <a:p>
            <a:pPr indent="0" marL="0">
              <a:buNone/>
            </a:pPr>
            <a:r>
              <a:rPr lang="en-US" sz="1100" i="1" dirty="0">
                <a:solidFill>
                  <a:srgbClr val="5B6675"/>
                </a:solidFill>
                <a:latin typeface="Calibri" pitchFamily="34" charset="0"/>
                <a:ea typeface="Calibri" pitchFamily="34" charset="-122"/>
                <a:cs typeface="Calibri" pitchFamily="34" charset="-120"/>
              </a:rPr>
              <a:t>python -m benchmark.run_benchmark: all six policies on one workload.</a:t>
            </a:r>
            <a:endParaRPr lang="en-US" sz="1100" dirty="0"/>
          </a:p>
        </p:txBody>
      </p:sp>
      <p:sp>
        <p:nvSpPr>
          <p:cNvPr id="11" name="Text 6"/>
          <p:cNvSpPr/>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5B6675"/>
                </a:solidFill>
                <a:latin typeface="Consolas" pitchFamily="34" charset="0"/>
                <a:ea typeface="Consolas" pitchFamily="34" charset="-122"/>
                <a:cs typeface="Consolas" pitchFamily="34" charset="-120"/>
              </a:rPr>
              <a:t>Functions: build_process_table, build_resource_panel, build_ai_feed, render, run_all, print_table</a:t>
            </a:r>
            <a:endParaRPr lang="en-US" sz="11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4  EVIDENCE</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One workload: SJF wins on average wait, loses on worst case</a:t>
            </a:r>
            <a:endParaRPr 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920240"/>
                <a:gridCol w="1371600"/>
                <a:gridCol w="1371600"/>
                <a:gridCol w="1371600"/>
                <a:gridCol w="2103120"/>
                <a:gridCol w="1371600"/>
                <a:gridCol w="1554480"/>
              </a:tblGrid>
              <a:tr h="3108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Policy</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Makespan</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Avg wait</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Max wait</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Waited over 30 min</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Jain (CPU)</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Jain (delay)</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50292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FCFS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228.67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61.56</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133.50</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0.6711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0.39</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400" b="1" dirty="0">
                          <a:solidFill>
                            <a:srgbClr val="1B2430"/>
                          </a:solidFill>
                          <a:latin typeface="Calibri" pitchFamily="34" charset="0"/>
                          <a:ea typeface="Calibri" pitchFamily="34" charset="-122"/>
                          <a:cs typeface="Calibri" pitchFamily="34" charset="-120"/>
                        </a:rPr>
                        <a:t>SJF</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228.67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b="1" dirty="0">
                          <a:solidFill>
                            <a:srgbClr val="2F6B3A"/>
                          </a:solidFill>
                          <a:latin typeface="Calibri" pitchFamily="34" charset="0"/>
                          <a:ea typeface="Calibri" pitchFamily="34" charset="-122"/>
                          <a:cs typeface="Calibri" pitchFamily="34" charset="-120"/>
                        </a:rPr>
                        <a:t>34.03</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b="1" dirty="0">
                          <a:solidFill>
                            <a:srgbClr val="9B2C2C"/>
                          </a:solidFill>
                          <a:latin typeface="Calibri" pitchFamily="34" charset="0"/>
                          <a:ea typeface="Calibri" pitchFamily="34" charset="-122"/>
                          <a:cs typeface="Calibri" pitchFamily="34" charset="-120"/>
                        </a:rPr>
                        <a:t>163.10</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b="1" dirty="0">
                          <a:solidFill>
                            <a:srgbClr val="2F6B3A"/>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0.6711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b="1" dirty="0">
                          <a:solidFill>
                            <a:srgbClr val="2F6B3A"/>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0292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Priority</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228.67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61.12</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214.83</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0.6711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0.51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Round Robin</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228.67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75.09</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161.05</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0.6711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0292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EEVDF</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228.67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72.56</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204.51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0.6711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0.47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MLFQ</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228.67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80.38</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175.10</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0.6711</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0.35</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6" name="Shape 2"/>
          <p:cNvSpPr/>
          <p:nvPr/>
        </p:nvSpPr>
        <p:spPr>
          <a:xfrm>
            <a:off x="548640" y="5120640"/>
            <a:ext cx="11064240" cy="822960"/>
          </a:xfrm>
          <a:prstGeom prst="rect">
            <a:avLst/>
          </a:prstGeom>
          <a:solidFill>
            <a:srgbClr val="DCE8F3"/>
          </a:solidFill>
          <a:ln w="12700">
            <a:solidFill>
              <a:srgbClr val="DCE8F3"/>
            </a:solidFill>
            <a:prstDash val="solid"/>
          </a:ln>
        </p:spPr>
      </p:sp>
      <p:sp>
        <p:nvSpPr>
          <p:cNvPr id="7" name="Shape 3"/>
          <p:cNvSpPr/>
          <p:nvPr/>
        </p:nvSpPr>
        <p:spPr>
          <a:xfrm>
            <a:off x="548640" y="5120640"/>
            <a:ext cx="64008" cy="822960"/>
          </a:xfrm>
          <a:prstGeom prst="rect">
            <a:avLst/>
          </a:prstGeom>
          <a:solidFill>
            <a:srgbClr val="1F4E79"/>
          </a:solidFill>
          <a:ln w="12700">
            <a:solidFill>
              <a:srgbClr val="1F4E79"/>
            </a:solidFill>
            <a:prstDash val="solid"/>
          </a:ln>
        </p:spPr>
      </p:sp>
      <p:sp>
        <p:nvSpPr>
          <p:cNvPr id="8" name="Text 4"/>
          <p:cNvSpPr/>
          <p:nvPr/>
        </p:nvSpPr>
        <p:spPr>
          <a:xfrm>
            <a:off x="749808" y="5120640"/>
            <a:ext cx="10744200" cy="822960"/>
          </a:xfrm>
          <a:prstGeom prst="rect">
            <a:avLst/>
          </a:prstGeom>
          <a:noFill/>
          <a:ln/>
        </p:spPr>
        <p:txBody>
          <a:bodyPr wrap="square" lIns="0" tIns="0" rIns="0" bIns="0" rtlCol="0" anchor="ctr"/>
          <a:lstStyle/>
          <a:p>
            <a:pPr indent="0" marL="0">
              <a:buNone/>
            </a:pPr>
            <a:r>
              <a:rPr lang="en-US" sz="1400" dirty="0">
                <a:solidFill>
                  <a:srgbClr val="1B2430"/>
                </a:solidFill>
                <a:latin typeface="Calibri" pitchFamily="34" charset="0"/>
                <a:ea typeface="Calibri" pitchFamily="34" charset="-122"/>
                <a:cs typeface="Calibri" pitchFamily="34" charset="-120"/>
              </a:rPr>
              <a:t>Reproduce:  python -m benchmark.run_benchmark --n 30 --arrival-rate 0.3 --seed 42.  One run is one workload, so the next slides test whether it holds in general.</a:t>
            </a:r>
            <a:endParaRPr lang="en-US" sz="14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4  EVIDENCE</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The study: 495 workloads with confidence intervals</a:t>
            </a:r>
            <a:endParaRPr lang="en-US" sz="2800" dirty="0"/>
          </a:p>
        </p:txBody>
      </p:sp>
      <p:sp>
        <p:nvSpPr>
          <p:cNvPr id="5" name="Shape 2"/>
          <p:cNvSpPr/>
          <p:nvPr/>
        </p:nvSpPr>
        <p:spPr>
          <a:xfrm>
            <a:off x="956669" y="1463040"/>
            <a:ext cx="10248181" cy="4114800"/>
          </a:xfrm>
          <a:prstGeom prst="rect">
            <a:avLst/>
          </a:prstGeom>
          <a:solidFill>
            <a:srgbClr val="FFFFFF"/>
          </a:solidFill>
          <a:ln w="9525">
            <a:solidFill>
              <a:srgbClr val="D5DAE1"/>
            </a:solidFill>
            <a:prstDash val="solid"/>
          </a:ln>
        </p:spPr>
      </p:sp>
      <p:pic>
        <p:nvPicPr>
          <p:cNvPr id="6" name="Image 0" descr="D:/Downloads/Projects/OS/procura/docs/figures/fig_study.png">    </p:cNvPr>
          <p:cNvPicPr>
            <a:picLocks noChangeAspect="1"/>
          </p:cNvPicPr>
          <p:nvPr/>
        </p:nvPicPr>
        <p:blipFill>
          <a:blip r:embed="rId1"/>
          <a:stretch>
            <a:fillRect/>
          </a:stretch>
        </p:blipFill>
        <p:spPr>
          <a:xfrm>
            <a:off x="956669" y="1463040"/>
            <a:ext cx="10248181" cy="4114800"/>
          </a:xfrm>
          <a:prstGeom prst="rect">
            <a:avLst/>
          </a:prstGeom>
        </p:spPr>
      </p:pic>
      <p:sp>
        <p:nvSpPr>
          <p:cNvPr id="7" name="Text 3"/>
          <p:cNvSpPr/>
          <p:nvPr/>
        </p:nvSpPr>
        <p:spPr>
          <a:xfrm>
            <a:off x="548640" y="5669280"/>
            <a:ext cx="11064240" cy="457200"/>
          </a:xfrm>
          <a:prstGeom prst="rect">
            <a:avLst/>
          </a:prstGeom>
          <a:noFill/>
          <a:ln/>
        </p:spPr>
        <p:txBody>
          <a:bodyPr wrap="square" lIns="0" tIns="0" rIns="0" bIns="0" rtlCol="0" anchor="ctr"/>
          <a:lstStyle/>
          <a:p>
            <a:pPr indent="0" marL="0">
              <a:buNone/>
            </a:pPr>
            <a:r>
              <a:rPr lang="en-US" sz="1200" i="1" dirty="0">
                <a:solidFill>
                  <a:srgbClr val="5B6675"/>
                </a:solidFill>
                <a:latin typeface="Calibri" pitchFamily="34" charset="0"/>
                <a:ea typeface="Calibri" pitchFamily="34" charset="-122"/>
                <a:cs typeface="Calibri" pitchFamily="34" charset="-120"/>
              </a:rPr>
              <a:t>Left: average waiting time. Right: average response time. 100 jobs, load 0.9, 50 workloads per shape, error bars are 95% confidence intervals.</a:t>
            </a:r>
            <a:endParaRPr lang="en-US" sz="12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4  EVIDENCE</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Each policy against FCFS, across 9 settings</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103120"/>
                <a:gridCol w="2377440"/>
                <a:gridCol w="2194560"/>
                <a:gridCol w="2194560"/>
                <a:gridCol w="2194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vs FCFS (9 settings)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Average wait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Maximum wait</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Average response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Delay fairness</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566928">
                <a:tc>
                  <a:txBody>
                    <a:bodyPr/>
                    <a:lstStyle/>
                    <a:p>
                      <a:pPr algn="l" indent="0" marL="0">
                        <a:buNone/>
                      </a:pPr>
                      <a:r>
                        <a:rPr lang="en-US" sz="1200" b="1" dirty="0">
                          <a:solidFill>
                            <a:srgbClr val="1B2430"/>
                          </a:solidFill>
                          <a:latin typeface="Calibri" pitchFamily="34" charset="0"/>
                          <a:ea typeface="Calibri" pitchFamily="34" charset="-122"/>
                          <a:cs typeface="Calibri" pitchFamily="34" charset="-120"/>
                        </a:rPr>
                        <a:t>SJF</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c>
                  <a:txBody>
                    <a:bodyPr/>
                    <a:lstStyle/>
                    <a:p>
                      <a:pPr algn="ctr" indent="0" marL="0">
                        <a:buNone/>
                      </a:pPr>
                      <a:r>
                        <a:rPr lang="en-US" sz="1200" b="1" dirty="0">
                          <a:solidFill>
                            <a:srgbClr val="9B2C2C"/>
                          </a:solidFill>
                          <a:latin typeface="Calibri" pitchFamily="34" charset="0"/>
                          <a:ea typeface="Calibri" pitchFamily="34" charset="-122"/>
                          <a:cs typeface="Calibri" pitchFamily="34" charset="-120"/>
                        </a:rPr>
                        <a:t>worse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8E1E1"/>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r>
              <a:tr h="566928">
                <a:tc>
                  <a:txBody>
                    <a:bodyPr/>
                    <a:lstStyle/>
                    <a:p>
                      <a:pPr algn="l" indent="0" marL="0">
                        <a:buNone/>
                      </a:pPr>
                      <a:r>
                        <a:rPr lang="en-US" sz="1200" b="1" dirty="0">
                          <a:solidFill>
                            <a:srgbClr val="1B2430"/>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675"/>
                          </a:solidFill>
                          <a:latin typeface="Calibri" pitchFamily="34" charset="0"/>
                          <a:ea typeface="Calibri" pitchFamily="34" charset="-122"/>
                          <a:cs typeface="Calibri" pitchFamily="34" charset="-120"/>
                        </a:rPr>
                        <a:t>no difference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200" b="1" dirty="0">
                          <a:solidFill>
                            <a:srgbClr val="9B2C2C"/>
                          </a:solidFill>
                          <a:latin typeface="Calibri" pitchFamily="34" charset="0"/>
                          <a:ea typeface="Calibri" pitchFamily="34" charset="-122"/>
                          <a:cs typeface="Calibri" pitchFamily="34" charset="-120"/>
                        </a:rPr>
                        <a:t>worse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8E1E1"/>
                    </a:solidFill>
                  </a:tcPr>
                </a:tc>
                <a:tc>
                  <a:txBody>
                    <a:bodyPr/>
                    <a:lstStyle/>
                    <a:p>
                      <a:pPr algn="ctr" indent="0" marL="0">
                        <a:buNone/>
                      </a:pPr>
                      <a:r>
                        <a:rPr lang="en-US" sz="1200" dirty="0">
                          <a:solidFill>
                            <a:srgbClr val="5B6675"/>
                          </a:solidFill>
                          <a:latin typeface="Calibri" pitchFamily="34" charset="0"/>
                          <a:ea typeface="Calibri" pitchFamily="34" charset="-122"/>
                          <a:cs typeface="Calibri" pitchFamily="34" charset="-120"/>
                        </a:rPr>
                        <a:t>no difference</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r>
              <a:tr h="566928">
                <a:tc>
                  <a:txBody>
                    <a:bodyPr/>
                    <a:lstStyle/>
                    <a:p>
                      <a:pPr algn="l" indent="0" marL="0">
                        <a:buNone/>
                      </a:pPr>
                      <a:r>
                        <a:rPr lang="en-US" sz="1200" b="1" dirty="0">
                          <a:solidFill>
                            <a:srgbClr val="1B2430"/>
                          </a:solidFill>
                          <a:latin typeface="Calibri" pitchFamily="34" charset="0"/>
                          <a:ea typeface="Calibri" pitchFamily="34" charset="-122"/>
                          <a:cs typeface="Calibri" pitchFamily="34" charset="-120"/>
                        </a:rPr>
                        <a:t>Round Robin</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9A4A00"/>
                          </a:solidFill>
                          <a:latin typeface="Calibri" pitchFamily="34" charset="0"/>
                          <a:ea typeface="Calibri" pitchFamily="34" charset="-122"/>
                          <a:cs typeface="Calibri" pitchFamily="34" charset="-120"/>
                        </a:rPr>
                        <a:t>better 3, worse 6</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BEBD9"/>
                    </a:solidFill>
                  </a:tcPr>
                </a:tc>
                <a:tc>
                  <a:txBody>
                    <a:bodyPr/>
                    <a:lstStyle/>
                    <a:p>
                      <a:pPr algn="ctr" indent="0" marL="0">
                        <a:buNone/>
                      </a:pPr>
                      <a:r>
                        <a:rPr lang="en-US" sz="1200" b="1" dirty="0">
                          <a:solidFill>
                            <a:srgbClr val="9B2C2C"/>
                          </a:solidFill>
                          <a:latin typeface="Calibri" pitchFamily="34" charset="0"/>
                          <a:ea typeface="Calibri" pitchFamily="34" charset="-122"/>
                          <a:cs typeface="Calibri" pitchFamily="34" charset="-120"/>
                        </a:rPr>
                        <a:t>worse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8E1E1"/>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c>
                  <a:txBody>
                    <a:bodyPr/>
                    <a:lstStyle/>
                    <a:p>
                      <a:pPr algn="ctr" indent="0" marL="0">
                        <a:buNone/>
                      </a:pPr>
                      <a:r>
                        <a:rPr lang="en-US" sz="1200" b="1" dirty="0">
                          <a:solidFill>
                            <a:srgbClr val="9A4A00"/>
                          </a:solidFill>
                          <a:latin typeface="Calibri" pitchFamily="34" charset="0"/>
                          <a:ea typeface="Calibri" pitchFamily="34" charset="-122"/>
                          <a:cs typeface="Calibri" pitchFamily="34" charset="-120"/>
                        </a:rPr>
                        <a:t>better 6, worse 0, n.s. 3</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BEBD9"/>
                    </a:solidFill>
                  </a:tcPr>
                </a:tc>
              </a:tr>
              <a:tr h="566928">
                <a:tc>
                  <a:txBody>
                    <a:bodyPr/>
                    <a:lstStyle/>
                    <a:p>
                      <a:pPr algn="l" indent="0" marL="0">
                        <a:buNone/>
                      </a:pPr>
                      <a:r>
                        <a:rPr lang="en-US" sz="1200" b="1" dirty="0">
                          <a:solidFill>
                            <a:srgbClr val="1B2430"/>
                          </a:solidFill>
                          <a:latin typeface="Calibri" pitchFamily="34" charset="0"/>
                          <a:ea typeface="Calibri" pitchFamily="34" charset="-122"/>
                          <a:cs typeface="Calibri" pitchFamily="34" charset="-120"/>
                        </a:rPr>
                        <a:t>EEVDF</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9A4A00"/>
                          </a:solidFill>
                          <a:latin typeface="Calibri" pitchFamily="34" charset="0"/>
                          <a:ea typeface="Calibri" pitchFamily="34" charset="-122"/>
                          <a:cs typeface="Calibri" pitchFamily="34" charset="-120"/>
                        </a:rPr>
                        <a:t>better 2, worse 6, n.s. 1</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BEBD9"/>
                    </a:solidFill>
                  </a:tcPr>
                </a:tc>
                <a:tc>
                  <a:txBody>
                    <a:bodyPr/>
                    <a:lstStyle/>
                    <a:p>
                      <a:pPr algn="ctr" indent="0" marL="0">
                        <a:buNone/>
                      </a:pPr>
                      <a:r>
                        <a:rPr lang="en-US" sz="1200" b="1" dirty="0">
                          <a:solidFill>
                            <a:srgbClr val="9B2C2C"/>
                          </a:solidFill>
                          <a:latin typeface="Calibri" pitchFamily="34" charset="0"/>
                          <a:ea typeface="Calibri" pitchFamily="34" charset="-122"/>
                          <a:cs typeface="Calibri" pitchFamily="34" charset="-120"/>
                        </a:rPr>
                        <a:t>worse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8E1E1"/>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r>
              <a:tr h="566928">
                <a:tc>
                  <a:txBody>
                    <a:bodyPr/>
                    <a:lstStyle/>
                    <a:p>
                      <a:pPr algn="l" indent="0" marL="0">
                        <a:buNone/>
                      </a:pPr>
                      <a:r>
                        <a:rPr lang="en-US" sz="1200" b="1" dirty="0">
                          <a:solidFill>
                            <a:srgbClr val="1B2430"/>
                          </a:solidFill>
                          <a:latin typeface="Calibri" pitchFamily="34" charset="0"/>
                          <a:ea typeface="Calibri" pitchFamily="34" charset="-122"/>
                          <a:cs typeface="Calibri" pitchFamily="34" charset="-120"/>
                        </a:rPr>
                        <a:t>MLFQ</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9A4A00"/>
                          </a:solidFill>
                          <a:latin typeface="Calibri" pitchFamily="34" charset="0"/>
                          <a:ea typeface="Calibri" pitchFamily="34" charset="-122"/>
                          <a:cs typeface="Calibri" pitchFamily="34" charset="-120"/>
                        </a:rPr>
                        <a:t>better 2, worse 6, n.s. 1</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BEBD9"/>
                    </a:solidFill>
                  </a:tcPr>
                </a:tc>
                <a:tc>
                  <a:txBody>
                    <a:bodyPr/>
                    <a:lstStyle/>
                    <a:p>
                      <a:pPr algn="ctr" indent="0" marL="0">
                        <a:buNone/>
                      </a:pPr>
                      <a:r>
                        <a:rPr lang="en-US" sz="1200" b="1" dirty="0">
                          <a:solidFill>
                            <a:srgbClr val="9B2C2C"/>
                          </a:solidFill>
                          <a:latin typeface="Calibri" pitchFamily="34" charset="0"/>
                          <a:ea typeface="Calibri" pitchFamily="34" charset="-122"/>
                          <a:cs typeface="Calibri" pitchFamily="34" charset="-120"/>
                        </a:rPr>
                        <a:t>worse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8E1E1"/>
                    </a:solidFill>
                  </a:tcPr>
                </a:tc>
                <a:tc>
                  <a:txBody>
                    <a:bodyPr/>
                    <a:lstStyle/>
                    <a:p>
                      <a:pPr algn="ctr" indent="0" marL="0">
                        <a:buNone/>
                      </a:pPr>
                      <a:r>
                        <a:rPr lang="en-US" sz="1200" b="1" dirty="0">
                          <a:solidFill>
                            <a:srgbClr val="2F6B3A"/>
                          </a:solidFill>
                          <a:latin typeface="Calibri" pitchFamily="34" charset="0"/>
                          <a:ea typeface="Calibri" pitchFamily="34" charset="-122"/>
                          <a:cs typeface="Calibri" pitchFamily="34" charset="-120"/>
                        </a:rPr>
                        <a:t>better in 9</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E1F0E4"/>
                    </a:solidFill>
                  </a:tcPr>
                </a:tc>
                <a:tc>
                  <a:txBody>
                    <a:bodyPr/>
                    <a:lstStyle/>
                    <a:p>
                      <a:pPr algn="ctr" indent="0" marL="0">
                        <a:buNone/>
                      </a:pPr>
                      <a:r>
                        <a:rPr lang="en-US" sz="1200" b="1" dirty="0">
                          <a:solidFill>
                            <a:srgbClr val="9A4A00"/>
                          </a:solidFill>
                          <a:latin typeface="Calibri" pitchFamily="34" charset="0"/>
                          <a:ea typeface="Calibri" pitchFamily="34" charset="-122"/>
                          <a:cs typeface="Calibri" pitchFamily="34" charset="-120"/>
                        </a:rPr>
                        <a:t>better 8, worse 0, n.s. 1</a:t>
                      </a:r>
                      <a:endParaRPr lang="en-US" sz="12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BEBD9"/>
                    </a:solidFill>
                  </a:tcPr>
                </a:tc>
              </a:tr>
            </a:tbl>
          </a:graphicData>
        </a:graphic>
      </p:graphicFrame>
      <p:sp>
        <p:nvSpPr>
          <p:cNvPr id="6" name="Text 2"/>
          <p:cNvSpPr/>
          <p:nvPr/>
        </p:nvSpPr>
        <p:spPr>
          <a:xfrm>
            <a:off x="548640" y="5074920"/>
            <a:ext cx="11064240" cy="118872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rgbClr val="1B2430"/>
                </a:solidFill>
                <a:latin typeface="Calibri" pitchFamily="34" charset="0"/>
                <a:ea typeface="Calibri" pitchFamily="34" charset="-122"/>
                <a:cs typeface="Calibri" pitchFamily="34" charset="-120"/>
              </a:rPr>
              <a:t>SJF </a:t>
            </a:r>
            <a:pPr indent="0" marL="0">
              <a:spcAft>
                <a:spcPts val="600"/>
              </a:spcAft>
              <a:buNone/>
            </a:pPr>
            <a:r>
              <a:rPr lang="en-US" sz="1400" dirty="0">
                <a:solidFill>
                  <a:srgbClr val="1B2430"/>
                </a:solidFill>
                <a:latin typeface="Calibri" pitchFamily="34" charset="0"/>
                <a:ea typeface="Calibri" pitchFamily="34" charset="-122"/>
                <a:cs typeface="Calibri" pitchFamily="34" charset="-120"/>
              </a:rPr>
              <a:t>wins on average wait everywhere and loses on worst case everywhere. At load 1.2: 38.5 against 82.7 minutes.</a:t>
            </a:r>
            <a:endParaRPr lang="en-US" sz="1400" dirty="0"/>
          </a:p>
          <a:p>
            <a:pPr marL="203200" indent="-203200">
              <a:spcAft>
                <a:spcPts val="600"/>
              </a:spcAft>
              <a:buSzPct val="100000"/>
              <a:buChar char="•"/>
            </a:pPr>
            <a:r>
              <a:rPr lang="en-US" sz="1400" b="1" dirty="0">
                <a:solidFill>
                  <a:srgbClr val="1B2430"/>
                </a:solidFill>
                <a:latin typeface="Calibri" pitchFamily="34" charset="0"/>
                <a:ea typeface="Calibri" pitchFamily="34" charset="-122"/>
                <a:cs typeface="Calibri" pitchFamily="34" charset="-120"/>
              </a:rPr>
              <a:t>Preemption </a:t>
            </a:r>
            <a:pPr indent="0" marL="0">
              <a:spcAft>
                <a:spcPts val="600"/>
              </a:spcAft>
              <a:buNone/>
            </a:pPr>
            <a:r>
              <a:rPr lang="en-US" sz="1400" dirty="0">
                <a:solidFill>
                  <a:srgbClr val="1B2430"/>
                </a:solidFill>
                <a:latin typeface="Calibri" pitchFamily="34" charset="0"/>
                <a:ea typeface="Calibri" pitchFamily="34" charset="-122"/>
                <a:cs typeface="Calibri" pitchFamily="34" charset="-120"/>
              </a:rPr>
              <a:t>wins on response time everywhere, but lowers average wait only on heavy-tailed jobs.</a:t>
            </a:r>
            <a:endParaRPr lang="en-US" sz="1400" dirty="0"/>
          </a:p>
          <a:p>
            <a:pPr marL="203200" indent="-203200">
              <a:spcAft>
                <a:spcPts val="600"/>
              </a:spcAft>
              <a:buSzPct val="100000"/>
              <a:buChar char="•"/>
            </a:pPr>
            <a:r>
              <a:rPr lang="en-US" sz="1400" b="1" dirty="0">
                <a:solidFill>
                  <a:srgbClr val="1B2430"/>
                </a:solidFill>
                <a:latin typeface="Calibri" pitchFamily="34" charset="0"/>
                <a:ea typeface="Calibri" pitchFamily="34" charset="-122"/>
                <a:cs typeface="Calibri" pitchFamily="34" charset="-120"/>
              </a:rPr>
              <a:t>Priority </a:t>
            </a:r>
            <a:pPr indent="0" marL="0">
              <a:spcAft>
                <a:spcPts val="600"/>
              </a:spcAft>
              <a:buNone/>
            </a:pPr>
            <a:r>
              <a:rPr lang="en-US" sz="1400" dirty="0">
                <a:solidFill>
                  <a:srgbClr val="1B2430"/>
                </a:solidFill>
                <a:latin typeface="Calibri" pitchFamily="34" charset="0"/>
                <a:ea typeface="Calibri" pitchFamily="34" charset="-122"/>
                <a:cs typeface="Calibri" pitchFamily="34" charset="-120"/>
              </a:rPr>
              <a:t>as configured is indistinguishable from FCFS.</a:t>
            </a:r>
            <a:endParaRPr lang="en-US" sz="14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4  EVIDENCE</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Two fairness measures, two different answers</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926080"/>
                <a:gridCol w="3840480"/>
                <a:gridCol w="4297680"/>
              </a:tblGrid>
              <a:tr h="31089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shows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77724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Jain over CPU received</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Did each task get its share of CPU?</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Identical for every policy (0.6711 on the seeded run)</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77724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Jain over 1 / slowdown</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Was every task slowed down by a similar factor?</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FCFS least fair, SJF fairest (0.71 to 0.78 against 0.45 to 0.60 at 100 jobs)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777240">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Maximum wait</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How long did the unluckiest task wait?</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430"/>
                          </a:solidFill>
                          <a:latin typeface="Calibri" pitchFamily="34" charset="0"/>
                          <a:ea typeface="Calibri" pitchFamily="34" charset="-122"/>
                          <a:cs typeface="Calibri" pitchFamily="34" charset="-120"/>
                        </a:rPr>
                        <a:t>FCFS best; all five others worse in 9 of 9 settings</a:t>
                      </a:r>
                      <a:endParaRPr lang="en-US" sz="14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572000"/>
            <a:ext cx="11064240" cy="868680"/>
          </a:xfrm>
          <a:prstGeom prst="rect">
            <a:avLst/>
          </a:prstGeom>
          <a:solidFill>
            <a:srgbClr val="FBEBD9"/>
          </a:solidFill>
          <a:ln w="12700">
            <a:solidFill>
              <a:srgbClr val="FBEBD9"/>
            </a:solidFill>
            <a:prstDash val="solid"/>
          </a:ln>
        </p:spPr>
      </p:sp>
      <p:sp>
        <p:nvSpPr>
          <p:cNvPr id="7" name="Shape 3"/>
          <p:cNvSpPr/>
          <p:nvPr/>
        </p:nvSpPr>
        <p:spPr>
          <a:xfrm>
            <a:off x="548640" y="4572000"/>
            <a:ext cx="64008" cy="868680"/>
          </a:xfrm>
          <a:prstGeom prst="rect">
            <a:avLst/>
          </a:prstGeom>
          <a:solidFill>
            <a:srgbClr val="9A4A00"/>
          </a:solidFill>
          <a:ln w="12700">
            <a:solidFill>
              <a:srgbClr val="9A4A00"/>
            </a:solidFill>
            <a:prstDash val="solid"/>
          </a:ln>
        </p:spPr>
      </p:sp>
      <p:sp>
        <p:nvSpPr>
          <p:cNvPr id="8" name="Text 4"/>
          <p:cNvSpPr/>
          <p:nvPr/>
        </p:nvSpPr>
        <p:spPr>
          <a:xfrm>
            <a:off x="749808" y="4572000"/>
            <a:ext cx="10744200" cy="868680"/>
          </a:xfrm>
          <a:prstGeom prst="rect">
            <a:avLst/>
          </a:prstGeom>
          <a:noFill/>
          <a:ln/>
        </p:spPr>
        <p:txBody>
          <a:bodyPr wrap="square" lIns="0" tIns="0" rIns="0" bIns="0" rtlCol="0" anchor="ctr"/>
          <a:lstStyle/>
          <a:p>
            <a:pPr indent="0" marL="0">
              <a:buNone/>
            </a:pPr>
            <a:r>
              <a:rPr lang="en-US" sz="1400" dirty="0">
                <a:solidFill>
                  <a:srgbClr val="1B2430"/>
                </a:solidFill>
                <a:latin typeface="Calibri" pitchFamily="34" charset="0"/>
                <a:ea typeface="Calibri" pitchFamily="34" charset="-122"/>
                <a:cs typeface="Calibri" pitchFamily="34" charset="-120"/>
              </a:rPr>
              <a:t>The delay-fairness index is my own construction (Jain's index applied to 1/bounded slowdown, bound = 1 minute, fixed before the study). It is documented but it is not a standard metric.</a:t>
            </a:r>
            <a:endParaRPr lang="en-US" sz="14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4  EVIDENCE</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AI answers scored with and without the recorded facts</a:t>
            </a:r>
            <a:endParaRPr lang="en-US" sz="2800" dirty="0"/>
          </a:p>
        </p:txBody>
      </p:sp>
      <p:graphicFrame>
        <p:nvGraphicFramePr>
          <p:cNvPr id="5" name="Chart 0" descr=""/>
          <p:cNvGraphicFramePr/>
          <p:nvPr/>
        </p:nvGraphicFramePr>
        <p:xfrm>
          <a:off x="548640" y="1463040"/>
          <a:ext cx="69494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645920"/>
          <a:ext cx="3931920" cy="914400"/>
        </p:xfrm>
        <a:graphic>
          <a:graphicData uri="http://schemas.openxmlformats.org/drawingml/2006/table">
            <a:tbl>
              <a:tblPr/>
              <a:tblGrid>
                <a:gridCol w="2377440"/>
                <a:gridCol w="155448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Condition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1148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Incident, with facts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2F6B3A"/>
                          </a:solidFill>
                          <a:latin typeface="Calibri" pitchFamily="34" charset="0"/>
                          <a:ea typeface="Calibri" pitchFamily="34" charset="-122"/>
                          <a:cs typeface="Calibri" pitchFamily="34" charset="-120"/>
                        </a:rPr>
                        <a:t>18 of 18</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Incident, facts removed</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b="1" dirty="0">
                          <a:solidFill>
                            <a:srgbClr val="9B2C2C"/>
                          </a:solidFill>
                          <a:latin typeface="Calibri" pitchFamily="34" charset="0"/>
                          <a:ea typeface="Calibri" pitchFamily="34" charset="-122"/>
                          <a:cs typeface="Calibri" pitchFamily="34" charset="-120"/>
                        </a:rPr>
                        <a:t>2 of 18</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Concept questions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13 of 15</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7" name="Text 2"/>
          <p:cNvSpPr/>
          <p:nvPr/>
        </p:nvSpPr>
        <p:spPr>
          <a:xfrm>
            <a:off x="7772400" y="3749040"/>
            <a:ext cx="3931920" cy="246888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Without the facts the model cannot know P5 asked for 1600 MB or that P3 was the victim.</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Concept misses: Jain's index stated as running from 0 to 1 (it is 1/n to 1).</a:t>
            </a:r>
            <a:endParaRPr lang="en-US" sz="1300" dirty="0"/>
          </a:p>
          <a:p>
            <a:pPr marL="203200" indent="-2032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Small: 11 questions, 3 trials, one model, pattern-based checks.</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4  EVIDENCE</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The search tokenizer, measured on held-out questions</a:t>
            </a:r>
            <a:endParaRPr 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9692640" cy="914400"/>
        </p:xfrm>
        <a:graphic>
          <a:graphicData uri="http://schemas.openxmlformats.org/drawingml/2006/table">
            <a:tbl>
              <a:tblPr/>
              <a:tblGrid>
                <a:gridCol w="2743200"/>
                <a:gridCol w="2011680"/>
                <a:gridCol w="1645920"/>
                <a:gridCol w="1645920"/>
                <a:gridCol w="164592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 set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Tokenizer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Top-1</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Top-3</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MRR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41148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Development (36)</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original</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77.8%</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97.2%</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0.873</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Development (36)</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revised</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88.9%</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0.940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Held-out (20)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original</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90.0%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0.950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Held-out (20)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revised</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95.0%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0.967</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6" name="Text 2"/>
          <p:cNvSpPr/>
          <p:nvPr/>
        </p:nvSpPr>
        <p:spPr>
          <a:xfrm>
            <a:off x="548640" y="3785616"/>
            <a:ext cx="11064240" cy="2194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The development set shaped the revision, so its 11-point gain flatters it.</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On the held-out set the gain is one question of 20, within noise. No claim beyond that.</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Two stopwords added after seeing a development miss were removed again (that was tuning to the test).</a:t>
            </a:r>
            <a:endParaRPr lang="en-US" sz="1500" dirty="0"/>
          </a:p>
          <a:p>
            <a:pPr marL="203200" indent="-203200">
              <a:spcAft>
                <a:spcPts val="600"/>
              </a:spcAft>
              <a:buSzPct val="100000"/>
              <a:buChar char="•"/>
            </a:pPr>
            <a:r>
              <a:rPr lang="en-US" sz="1500" dirty="0">
                <a:solidFill>
                  <a:srgbClr val="1B2430"/>
                </a:solidFill>
                <a:latin typeface="Calibri" pitchFamily="34" charset="0"/>
                <a:ea typeface="Calibri" pitchFamily="34" charset="-122"/>
                <a:cs typeface="Calibri" pitchFamily="34" charset="-120"/>
              </a:rPr>
              <a:t>The search is still lexical: it cannot match different words for the same idea.</a:t>
            </a:r>
            <a:endParaRPr lang="en-US" sz="15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4  EVIDENCE</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Fifteen defects found by running the system</a:t>
            </a:r>
            <a:endParaRPr lang="en-US" sz="2800" dirty="0"/>
          </a:p>
        </p:txBody>
      </p:sp>
      <p:sp>
        <p:nvSpPr>
          <p:cNvPr id="5" name="Text 2"/>
          <p:cNvSpPr/>
          <p:nvPr/>
        </p:nvSpPr>
        <p:spPr>
          <a:xfrm>
            <a:off x="548640" y="1508760"/>
            <a:ext cx="5486400" cy="42062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1  SJF and Priority idled the CPU waiting for late arrivals; the test encoded it</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2  Gantt chart had about 190 near-empty rows</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3  AI blamed fragmentation; the log showed 1600 MB requested, 248 MB free</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4  AI invented a meaning for EEVDF; knowledge base predated it</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5  Two tasks evicted each other repeatedly</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6  A task was suspended without freeing enough to help</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7  Failures handled after memory had already been freed</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8  Tasks flagged although they already held their memory</a:t>
            </a:r>
            <a:endParaRPr lang="en-US" sz="1350" dirty="0"/>
          </a:p>
        </p:txBody>
      </p:sp>
      <p:sp>
        <p:nvSpPr>
          <p:cNvPr id="6" name="Text 3"/>
          <p:cNvSpPr/>
          <p:nvPr/>
        </p:nvSpPr>
        <p:spPr>
          <a:xfrm>
            <a:off x="6309360" y="1508760"/>
            <a:ext cx="5394960" cy="338328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9  Finished tasks could be flagged and recovered</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10  Error count stayed 0 after memory failures</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11  Test suite made live model calls</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12  App unusable when port 8000 was taken</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13  Silent offline answers when the model was rate limited</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14  File handles called megabytes in AI answers</a:t>
            </a:r>
            <a:endParaRPr lang="en-US" sz="1350" dirty="0"/>
          </a:p>
          <a:p>
            <a:pPr marL="203200" indent="-203200">
              <a:spcAft>
                <a:spcPts val="600"/>
              </a:spcAft>
              <a:buSzPct val="100000"/>
              <a:buChar char="•"/>
            </a:pPr>
            <a:r>
              <a:rPr lang="en-US" sz="1350" dirty="0">
                <a:solidFill>
                  <a:srgbClr val="1B2430"/>
                </a:solidFill>
                <a:latin typeface="Calibri" pitchFamily="34" charset="0"/>
                <a:ea typeface="Calibri" pitchFamily="34" charset="-122"/>
                <a:cs typeface="Calibri" pitchFamily="34" charset="-120"/>
              </a:rPr>
              <a:t>15  My evaluation graded correct answers wrong (no-break spaces)</a:t>
            </a:r>
            <a:endParaRPr lang="en-US" sz="1350" dirty="0"/>
          </a:p>
        </p:txBody>
      </p:sp>
      <p:sp>
        <p:nvSpPr>
          <p:cNvPr id="7" name="Shape 4"/>
          <p:cNvSpPr/>
          <p:nvPr/>
        </p:nvSpPr>
        <p:spPr>
          <a:xfrm>
            <a:off x="6309360" y="4983480"/>
            <a:ext cx="5394960" cy="868680"/>
          </a:xfrm>
          <a:prstGeom prst="rect">
            <a:avLst/>
          </a:prstGeom>
          <a:solidFill>
            <a:srgbClr val="DCE8F3"/>
          </a:solidFill>
          <a:ln w="12700">
            <a:solidFill>
              <a:srgbClr val="DCE8F3"/>
            </a:solidFill>
            <a:prstDash val="solid"/>
          </a:ln>
        </p:spPr>
      </p:sp>
      <p:sp>
        <p:nvSpPr>
          <p:cNvPr id="8" name="Shape 5"/>
          <p:cNvSpPr/>
          <p:nvPr/>
        </p:nvSpPr>
        <p:spPr>
          <a:xfrm>
            <a:off x="6309360" y="4983480"/>
            <a:ext cx="64008" cy="868680"/>
          </a:xfrm>
          <a:prstGeom prst="rect">
            <a:avLst/>
          </a:prstGeom>
          <a:solidFill>
            <a:srgbClr val="1F4E79"/>
          </a:solidFill>
          <a:ln w="12700">
            <a:solidFill>
              <a:srgbClr val="1F4E79"/>
            </a:solidFill>
            <a:prstDash val="solid"/>
          </a:ln>
        </p:spPr>
      </p:sp>
      <p:sp>
        <p:nvSpPr>
          <p:cNvPr id="9" name="Text 6"/>
          <p:cNvSpPr/>
          <p:nvPr/>
        </p:nvSpPr>
        <p:spPr>
          <a:xfrm>
            <a:off x="6510528" y="4983480"/>
            <a:ext cx="5074920" cy="86868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Two of the fifteen were faults in the measurement itself. All are fixed and, where possible, covered by a regression test.</a:t>
            </a:r>
            <a:endParaRPr lang="en-US" sz="13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5  LIMITS AND QUESTIONS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What this does not claim</a:t>
            </a:r>
            <a:endParaRPr lang="en-US" sz="28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754880"/>
                <a:gridCol w="630936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Limitation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Consequence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 simulation on one abstract CPU</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It shows policy behaviour, not kernel behaviour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Synthetic workloads only; real archive trace not obtained</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Rankings are known to depend on the workload; real-trace results are future work</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Results confirm known theory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The contribution is the measured dependence on workload shape, the delay-fairness index and the grounding evidence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AI evaluation is small and pattern-graded</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It shows grounding matters; it is not a general quality score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Search is lexical TF-IDF</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Held-out gain is one question; embeddings could do better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Anomaly detector flags abrupt changes only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A steady overrun raises no alarm</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Suspension releases memory but leaves the task READY</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Documented; not a true suspended state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No authentication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Single local user; do not expose on a shared network</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5  LIMITS AND QUESTIONS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What comes next</a:t>
            </a:r>
            <a:endParaRPr lang="en-US" sz="2800" dirty="0"/>
          </a:p>
        </p:txBody>
      </p:sp>
      <p:sp>
        <p:nvSpPr>
          <p:cNvPr id="5" name="Text 2"/>
          <p:cNvSpPr/>
          <p:nvPr/>
        </p:nvSpPr>
        <p:spPr>
          <a:xfrm>
            <a:off x="548640" y="1554480"/>
            <a:ext cx="11064240" cy="4389120"/>
          </a:xfrm>
          <a:prstGeom prst="rect">
            <a:avLst/>
          </a:prstGeom>
          <a:noFill/>
          <a:ln/>
        </p:spPr>
        <p:txBody>
          <a:bodyPr wrap="square" lIns="0" tIns="0" rIns="0" bIns="0" rtlCol="0" anchor="t"/>
          <a:lstStyle/>
          <a:p>
            <a:pPr marL="203200" indent="-203200">
              <a:spcAft>
                <a:spcPts val="600"/>
              </a:spcAft>
              <a:buSzPct val="100000"/>
              <a:buChar char="•"/>
            </a:pPr>
            <a:r>
              <a:rPr lang="en-US" sz="1700" dirty="0">
                <a:solidFill>
                  <a:srgbClr val="1B2430"/>
                </a:solidFill>
                <a:latin typeface="Calibri" pitchFamily="34" charset="0"/>
                <a:ea typeface="Calibri" pitchFamily="34" charset="-122"/>
                <a:cs typeface="Calibri" pitchFamily="34" charset="-120"/>
              </a:rPr>
              <a:t>Replay a real Parallel Workloads Archive trace and implement the calibrated Lublin-Feitelson generator.</a:t>
            </a:r>
            <a:endParaRPr lang="en-US" sz="1700" dirty="0"/>
          </a:p>
          <a:p>
            <a:pPr marL="203200" indent="-203200">
              <a:spcAft>
                <a:spcPts val="600"/>
              </a:spcAft>
              <a:buSzPct val="100000"/>
              <a:buChar char="•"/>
            </a:pPr>
            <a:r>
              <a:rPr lang="en-US" sz="1700" dirty="0">
                <a:solidFill>
                  <a:srgbClr val="1B2430"/>
                </a:solidFill>
                <a:latin typeface="Calibri" pitchFamily="34" charset="0"/>
                <a:ea typeface="Calibri" pitchFamily="34" charset="-122"/>
                <a:cs typeface="Calibri" pitchFamily="34" charset="-120"/>
              </a:rPr>
              <a:t>Sweep the quantum, boost interval and slice length; extend the simulator to several CPUs.</a:t>
            </a:r>
            <a:endParaRPr lang="en-US" sz="1700" dirty="0"/>
          </a:p>
          <a:p>
            <a:pPr marL="203200" indent="-203200">
              <a:spcAft>
                <a:spcPts val="600"/>
              </a:spcAft>
              <a:buSzPct val="100000"/>
              <a:buChar char="•"/>
            </a:pPr>
            <a:r>
              <a:rPr lang="en-US" sz="1700" dirty="0">
                <a:solidFill>
                  <a:srgbClr val="1B2430"/>
                </a:solidFill>
                <a:latin typeface="Calibri" pitchFamily="34" charset="0"/>
                <a:ea typeface="Calibri" pitchFamily="34" charset="-122"/>
                <a:cs typeface="Calibri" pitchFamily="34" charset="-120"/>
              </a:rPr>
              <a:t>A larger question set with human grading; compare embedding retrieval with TF-IDF and keep the offline path.</a:t>
            </a:r>
            <a:endParaRPr lang="en-US" sz="1700" dirty="0"/>
          </a:p>
          <a:p>
            <a:pPr marL="203200" indent="-203200">
              <a:spcAft>
                <a:spcPts val="600"/>
              </a:spcAft>
              <a:buSzPct val="100000"/>
              <a:buChar char="•"/>
            </a:pPr>
            <a:r>
              <a:rPr lang="en-US" sz="1700" dirty="0">
                <a:solidFill>
                  <a:srgbClr val="1B2430"/>
                </a:solidFill>
                <a:latin typeface="Calibri" pitchFamily="34" charset="0"/>
                <a:ea typeface="Calibri" pitchFamily="34" charset="-122"/>
                <a:cs typeface="Calibri" pitchFamily="34" charset="-120"/>
              </a:rPr>
              <a:t>Multi-user operation with authentication, so fair-share applies across real users.</a:t>
            </a:r>
            <a:endParaRPr lang="en-US" sz="1700" dirty="0"/>
          </a:p>
          <a:p>
            <a:pPr marL="203200" indent="-203200">
              <a:spcAft>
                <a:spcPts val="600"/>
              </a:spcAft>
              <a:buSzPct val="100000"/>
              <a:buChar char="•"/>
            </a:pPr>
            <a:r>
              <a:rPr lang="en-US" sz="1700" dirty="0">
                <a:solidFill>
                  <a:srgbClr val="1B2430"/>
                </a:solidFill>
                <a:latin typeface="Calibri" pitchFamily="34" charset="0"/>
                <a:ea typeface="Calibri" pitchFamily="34" charset="-122"/>
                <a:cs typeface="Calibri" pitchFamily="34" charset="-120"/>
              </a:rPr>
              <a:t>A baseline from completed tasks for the anomaly detector; make suspension a real state.</a:t>
            </a:r>
            <a:endParaRPr lang="en-US" sz="1700" dirty="0"/>
          </a:p>
          <a:p>
            <a:pPr marL="203200" indent="-203200">
              <a:spcAft>
                <a:spcPts val="600"/>
              </a:spcAft>
              <a:buSzPct val="100000"/>
              <a:buChar char="•"/>
            </a:pPr>
            <a:r>
              <a:rPr lang="en-US" sz="1700" dirty="0">
                <a:solidFill>
                  <a:srgbClr val="1B2430"/>
                </a:solidFill>
                <a:latin typeface="Calibri" pitchFamily="34" charset="0"/>
                <a:ea typeface="Calibri" pitchFamily="34" charset="-122"/>
                <a:cs typeface="Calibri" pitchFamily="34" charset="-120"/>
              </a:rPr>
              <a:t>Enforce lock ordering instead of only logging violations; add a distributed detector (Chandy-Misra-Haas) as an option.</a:t>
            </a:r>
            <a:endParaRPr lang="en-US" sz="170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5  LIMITS AND QUESTIONS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Likely questions (1 of 2)</a:t>
            </a:r>
            <a:endParaRPr lang="en-US" sz="28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108960"/>
                <a:gridCol w="795528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Answer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897128">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Is this novel?</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The algorithms are not: EEVDF, MLFQ, fair-share and the NIST detectors are published. What is new is the combination in one local system, the delay-fairness index, the measured dependence of preemption's benefit on workload shape, and a verification record that includes an ablation of the AI's grounding.</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Why trust the numbers?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Each table comes from a command in the README with a fixed seed. Comparisons with FCFS are paired with 95% intervals. Fifteen defects were found by running it, fixed and given tests; two were faults in the measurement itself.</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Why is Round Robin's average wait higher than FCFS?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Time-slicing makes most jobs finish later than running them straight through, and average wait rewards finishing early. It wins only when a few very long jobs block many short ones (heavy-tailed workloads). Its benefit is response time, lower in all nine settings.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PART 5  LIMITS AND QUESTIONS</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Likely questions (2 of 2)</a:t>
            </a:r>
            <a:endParaRPr lang="en-US" sz="2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108960"/>
                <a:gridCol w="795528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Answer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4E79"/>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If SJF is best on average wait, why not always use it?</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It needs burst times in advance, which a user only estimates, and it starves long jobs: its maximum wait is above FCFS's in all nine settings. Procura shows the worst case beside the average.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Does the AI choose the recovery action?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No. The model explains in words; fixed scripts act, following Kubernetes-style preemption rules. A wrong explanation cannot cause a wrong action.</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Where is the lexer and the parser?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There is no compiler. The lexer-like part is tokenize_v2 in rag/ingestion.py; the parser is parse_swf in benchmark/workload.py. Both can be run alone (next slide).</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822960">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What is the point of a deadlock demo in a task manager?</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300" dirty="0">
                          <a:solidFill>
                            <a:srgbClr val="1B2430"/>
                          </a:solidFill>
                          <a:latin typeface="Calibri" pitchFamily="34" charset="0"/>
                          <a:ea typeface="Calibri" pitchFamily="34" charset="-122"/>
                          <a:cs typeface="Calibri" pitchFamily="34" charset="-120"/>
                        </a:rPr>
                        <a:t>It shows the full detect, diagnose, recover loop on a classic OS problem, with a precise cycle, a fixed resolution rule, and an explanation that cites the recorded facts.</a:t>
                      </a:r>
                      <a:endParaRPr lang="en-US" sz="1300" dirty="0">
                        <a:latin typeface="Calibri" charset="0"/>
                        <a:ea typeface="Calibri" charset="0"/>
                        <a:cs typeface="Calibri" charset="0"/>
                      </a:endParaRPr>
                    </a:p>
                  </a:txBody>
                  <a:tcPr marL="73152" marR="73152" marT="27432" marB="27432"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3F5F8"/>
                    </a:solidFill>
                  </a:tcPr>
                </a:tc>
              </a:tr>
            </a:tbl>
          </a:graphicData>
        </a:graphic>
      </p:graphicFrame>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48640" y="292608"/>
            <a:ext cx="8229600" cy="256032"/>
          </a:xfrm>
          <a:prstGeom prst="rect">
            <a:avLst/>
          </a:prstGeom>
          <a:noFill/>
          <a:ln/>
        </p:spPr>
        <p:txBody>
          <a:bodyPr wrap="square" lIns="0" tIns="0" rIns="0" bIns="0" rtlCol="0" anchor="ctr"/>
          <a:lstStyle/>
          <a:p>
            <a:pPr indent="0" marL="0">
              <a:buNone/>
            </a:pPr>
            <a:r>
              <a:rPr lang="en-US" sz="1100" b="1" spc="200" kern="0" dirty="0">
                <a:solidFill>
                  <a:srgbClr val="1F4E79"/>
                </a:solidFill>
                <a:latin typeface="Calibri" pitchFamily="34" charset="0"/>
                <a:ea typeface="Calibri" pitchFamily="34" charset="-122"/>
                <a:cs typeface="Calibri" pitchFamily="34" charset="-120"/>
              </a:rPr>
              <a:t>APPENDIX</a:t>
            </a:r>
            <a:endParaRPr lang="en-US" sz="1100" dirty="0"/>
          </a:p>
        </p:txBody>
      </p:sp>
      <p:sp>
        <p:nvSpPr>
          <p:cNvPr id="3" name="Text 1"/>
          <p:cNvSpPr/>
          <p:nvPr/>
        </p:nvSpPr>
        <p:spPr>
          <a:xfrm>
            <a:off x="548640" y="548640"/>
            <a:ext cx="11094415" cy="777240"/>
          </a:xfrm>
          <a:prstGeom prst="rect">
            <a:avLst/>
          </a:prstGeom>
          <a:noFill/>
          <a:ln/>
        </p:spPr>
        <p:txBody>
          <a:bodyPr wrap="square" lIns="0" tIns="0" rIns="0" bIns="0" rtlCol="0" anchor="t">
            <a:normAutofit/>
          </a:bodyPr>
          <a:lstStyle/>
          <a:p>
            <a:pPr indent="0" marL="0">
              <a:buNone/>
            </a:pPr>
            <a:r>
              <a:rPr lang="en-US" sz="2800" b="1" dirty="0">
                <a:solidFill>
                  <a:srgbClr val="1B2430"/>
                </a:solidFill>
                <a:latin typeface="Georgia" pitchFamily="34" charset="0"/>
                <a:ea typeface="Georgia" pitchFamily="34" charset="-122"/>
                <a:cs typeface="Georgia" pitchFamily="34" charset="-120"/>
              </a:rPr>
              <a:t>Appendix: run each part on its own</a:t>
            </a:r>
            <a:endParaRPr lang="en-US" sz="2800" dirty="0"/>
          </a:p>
        </p:txBody>
      </p:sp>
      <p:sp>
        <p:nvSpPr>
          <p:cNvPr id="5" name="Shape 2"/>
          <p:cNvSpPr/>
          <p:nvPr/>
        </p:nvSpPr>
        <p:spPr>
          <a:xfrm>
            <a:off x="548640" y="1508760"/>
            <a:ext cx="11064240" cy="3840480"/>
          </a:xfrm>
          <a:prstGeom prst="rect">
            <a:avLst/>
          </a:prstGeom>
          <a:solidFill>
            <a:srgbClr val="F3F5F8"/>
          </a:solidFill>
          <a:ln w="9525">
            <a:solidFill>
              <a:srgbClr val="D5DAE1"/>
            </a:solidFill>
            <a:prstDash val="solid"/>
          </a:ln>
        </p:spPr>
      </p:sp>
      <p:sp>
        <p:nvSpPr>
          <p:cNvPr id="6" name="Text 3"/>
          <p:cNvSpPr/>
          <p:nvPr/>
        </p:nvSpPr>
        <p:spPr>
          <a:xfrm>
            <a:off x="658368" y="1563624"/>
            <a:ext cx="10844784" cy="3730752"/>
          </a:xfrm>
          <a:prstGeom prst="rect">
            <a:avLst/>
          </a:prstGeom>
          <a:noFill/>
          <a:ln/>
        </p:spPr>
        <p:txBody>
          <a:bodyPr wrap="square" lIns="0" tIns="0" rIns="0" bIns="0" rtlCol="0" anchor="t"/>
          <a:lstStyle/>
          <a:p>
            <a:pPr indent="0" marL="0">
              <a:buNone/>
            </a:pPr>
            <a:r>
              <a:rPr lang="en-US" sz="1050" dirty="0">
                <a:solidFill>
                  <a:srgbClr val="1B2430"/>
                </a:solidFill>
                <a:latin typeface="Consolas" pitchFamily="34" charset="0"/>
                <a:ea typeface="Consolas" pitchFamily="34" charset="-122"/>
                <a:cs typeface="Consolas" pitchFamily="34" charset="-120"/>
              </a:rPr>
              <a:t># tokenizer (the lexer-like part)</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-c "from rag.ingestion import tokenize; print(tokenize('Why did the Render-video task hit a memory failure on kernel 6.6?'))"</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 search</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-c "from rag.retrieval import search; [print(round(r.score,3), r.chunk.source) for r in search('How is EEVDF different from Round Robin?')]"</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 SWF parser (the parser-like part)</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-c "from benchmark.workload import parse_swf; j = parse_swf('benchmark/sample_traces/sample.swf'); print(len(j), j[0])"</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 schedulers and benchmark</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-m benchmark.run_benchmark --n 30 --arrival-rate 0.3 --seed 42</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-m benchmark.run_benchmark --swf benchmark/sample_traces/sample.swf</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-m benchmark.study                 # 495 workloads; writes benchmark/results/</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 evaluations and tests</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-m rag.eval_retrieval              # search accuracy, development and held-out</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-m rag.eval_grounding              # live model; needs a key in backend/.env</a:t>
            </a:r>
            <a:endParaRPr lang="en-US" sz="1050" dirty="0"/>
          </a:p>
          <a:p>
            <a:pPr indent="0" marL="0">
              <a:buNone/>
            </a:pPr>
            <a:r>
              <a:rPr lang="en-US" sz="1050" dirty="0">
                <a:solidFill>
                  <a:srgbClr val="1B2430"/>
                </a:solidFill>
                <a:latin typeface="Consolas" pitchFamily="34" charset="0"/>
                <a:ea typeface="Consolas" pitchFamily="34" charset="-122"/>
                <a:cs typeface="Consolas" pitchFamily="34" charset="-120"/>
              </a:rPr>
              <a:t>python -m pytest tests -q                 # 101 tests</a:t>
            </a:r>
            <a:endParaRPr lang="en-US" sz="1050" dirty="0"/>
          </a:p>
        </p:txBody>
      </p:sp>
      <p:sp>
        <p:nvSpPr>
          <p:cNvPr id="25" name="Slide Number Placeholder 0"/>
          <p:cNvSpPr>
            <a:spLocks noGrp="1"/>
          </p:cNvSpPr>
          <p:nvPr>
            <p:ph type="sldNum" sz="quarter" idx="4294967295"/>
          </p:nvPr>
        </p:nvSpPr>
        <p:spPr>
          <a:xfrm>
            <a:off x="10911535" y="644652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Procura: review presentation</dc:title>
  <dc:subject>PptxGenJS Presentation</dc:subject>
  <dc:creator>Harshit Chhabi</dc:creator>
  <cp:lastModifiedBy>Harshit Chhabi</cp:lastModifiedBy>
  <cp:revision>1</cp:revision>
  <dcterms:created xsi:type="dcterms:W3CDTF">2026-10-26T16:32:13Z</dcterms:created>
  <dcterms:modified xsi:type="dcterms:W3CDTF">2026-10-26T16:32:13Z</dcterms:modified>
</cp:coreProperties>
</file>